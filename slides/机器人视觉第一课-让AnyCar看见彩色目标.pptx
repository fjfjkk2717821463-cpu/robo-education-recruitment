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e5545818c04be0" /><Relationship Type="http://schemas.openxmlformats.org/officeDocument/2006/relationships/extended-properties" Target="/docProps/app.xml" Id="R52ebe25ec9904dd2" /><Relationship Type="http://schemas.openxmlformats.org/officeDocument/2006/relationships/officeDocument" Target="/ppt/presentation.xml" Id="R93bb79948d4e4e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e79ead2e4049d6"/>
  </p:sldMasterIdLst>
  <p:notesMasterIdLst>
    <p:notesMasterId xmlns:r="http://schemas.openxmlformats.org/officeDocument/2006/relationships" r:id="R0163827a4d964afb"/>
  </p:notesMasterIdLst>
  <p:sldIdLst>
    <p:sldId xmlns:r="http://schemas.openxmlformats.org/officeDocument/2006/relationships" id="256" r:id="Rdfddcbe27a2f4fd2"/>
    <p:sldId xmlns:r="http://schemas.openxmlformats.org/officeDocument/2006/relationships" id="257" r:id="R96b1db96aee34b26"/>
    <p:sldId xmlns:r="http://schemas.openxmlformats.org/officeDocument/2006/relationships" id="258" r:id="Rffe5f75bce1249a2"/>
    <p:sldId xmlns:r="http://schemas.openxmlformats.org/officeDocument/2006/relationships" id="259" r:id="Rec97dec684f04f98"/>
    <p:sldId xmlns:r="http://schemas.openxmlformats.org/officeDocument/2006/relationships" id="260" r:id="Rc977f1d981bc4264"/>
    <p:sldId xmlns:r="http://schemas.openxmlformats.org/officeDocument/2006/relationships" id="261" r:id="R7b8dc45ecc214aae"/>
    <p:sldId xmlns:r="http://schemas.openxmlformats.org/officeDocument/2006/relationships" id="262" r:id="Rcf74241c0d944722"/>
    <p:sldId xmlns:r="http://schemas.openxmlformats.org/officeDocument/2006/relationships" id="263" r:id="R67d043bf3a63496a"/>
    <p:sldId xmlns:r="http://schemas.openxmlformats.org/officeDocument/2006/relationships" id="264" r:id="R9a4a907e1f0b45d8"/>
    <p:sldId xmlns:r="http://schemas.openxmlformats.org/officeDocument/2006/relationships" id="265" r:id="R9656d989e4754c72"/>
    <p:sldId xmlns:r="http://schemas.openxmlformats.org/officeDocument/2006/relationships" id="266" r:id="R3d522eb2481b4429"/>
    <p:sldId xmlns:r="http://schemas.openxmlformats.org/officeDocument/2006/relationships" id="267" r:id="R691ab817674742fa"/>
    <p:sldId xmlns:r="http://schemas.openxmlformats.org/officeDocument/2006/relationships" id="268" r:id="R652ff3c36e9b4939"/>
    <p:sldId xmlns:r="http://schemas.openxmlformats.org/officeDocument/2006/relationships" id="269" r:id="R0795c412291646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033ee39a7944ac" /><Relationship Type="http://schemas.openxmlformats.org/officeDocument/2006/relationships/slideMaster" Target="/ppt/slideMasters/slideMaster1.xml" Id="R79e79ead2e4049d6" /><Relationship Type="http://schemas.openxmlformats.org/officeDocument/2006/relationships/notesMaster" Target="/ppt/notesMasters/notesMaster1.xml" Id="R0163827a4d964afb" /><Relationship Type="http://schemas.openxmlformats.org/officeDocument/2006/relationships/presProps" Target="/ppt/presProps.xml" Id="Raeea2fdd33f44d07" /><Relationship Type="http://schemas.openxmlformats.org/officeDocument/2006/relationships/tableStyles" Target="/ppt/tableStyles.xml" Id="Rb200ddefbf3740b8" /><Relationship Type="http://schemas.openxmlformats.org/officeDocument/2006/relationships/slide" Target="/ppt/slides/slide1.xml" Id="Rdfddcbe27a2f4fd2" /><Relationship Type="http://schemas.openxmlformats.org/officeDocument/2006/relationships/slide" Target="/ppt/slides/slide2.xml" Id="R96b1db96aee34b26" /><Relationship Type="http://schemas.openxmlformats.org/officeDocument/2006/relationships/slide" Target="/ppt/slides/slide3.xml" Id="Rffe5f75bce1249a2" /><Relationship Type="http://schemas.openxmlformats.org/officeDocument/2006/relationships/slide" Target="/ppt/slides/slide4.xml" Id="Rec97dec684f04f98" /><Relationship Type="http://schemas.openxmlformats.org/officeDocument/2006/relationships/slide" Target="/ppt/slides/slide5.xml" Id="Rc977f1d981bc4264" /><Relationship Type="http://schemas.openxmlformats.org/officeDocument/2006/relationships/slide" Target="/ppt/slides/slide6.xml" Id="R7b8dc45ecc214aae" /><Relationship Type="http://schemas.openxmlformats.org/officeDocument/2006/relationships/slide" Target="/ppt/slides/slide7.xml" Id="Rcf74241c0d944722" /><Relationship Type="http://schemas.openxmlformats.org/officeDocument/2006/relationships/slide" Target="/ppt/slides/slide8.xml" Id="R67d043bf3a63496a" /><Relationship Type="http://schemas.openxmlformats.org/officeDocument/2006/relationships/slide" Target="/ppt/slides/slide9.xml" Id="R9a4a907e1f0b45d8" /><Relationship Type="http://schemas.openxmlformats.org/officeDocument/2006/relationships/slide" Target="/ppt/slides/slide10.xml" Id="R9656d989e4754c72" /><Relationship Type="http://schemas.openxmlformats.org/officeDocument/2006/relationships/slide" Target="/ppt/slides/slide11.xml" Id="R3d522eb2481b4429" /><Relationship Type="http://schemas.openxmlformats.org/officeDocument/2006/relationships/slide" Target="/ppt/slides/slide12.xml" Id="R691ab817674742fa" /><Relationship Type="http://schemas.openxmlformats.org/officeDocument/2006/relationships/slide" Target="/ppt/slides/slide13.xml" Id="R652ff3c36e9b4939" /><Relationship Type="http://schemas.openxmlformats.org/officeDocument/2006/relationships/slide" Target="/ppt/slides/slide14.xml" Id="R0795c412291646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407e967d2c4a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cdaf3126d948db" /><Relationship Type="http://schemas.openxmlformats.org/officeDocument/2006/relationships/notesMaster" Target="/ppt/notesMasters/notesMaster1.xml" Id="R79fb0ab010264d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593ba2ef144aaa" /><Relationship Type="http://schemas.openxmlformats.org/officeDocument/2006/relationships/notesMaster" Target="/ppt/notesMasters/notesMaster1.xml" Id="R58bbfec752254a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d19e2483b7482b" /><Relationship Type="http://schemas.openxmlformats.org/officeDocument/2006/relationships/notesMaster" Target="/ppt/notesMasters/notesMaster1.xml" Id="Rd3617b423a5d40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6323b0725b4b40" /><Relationship Type="http://schemas.openxmlformats.org/officeDocument/2006/relationships/notesMaster" Target="/ppt/notesMasters/notesMaster1.xml" Id="R87bfd6b755db45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71bf3b1568473d" /><Relationship Type="http://schemas.openxmlformats.org/officeDocument/2006/relationships/notesMaster" Target="/ppt/notesMasters/notesMaster1.xml" Id="R71615ba54c324a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dd041f520348d3" /><Relationship Type="http://schemas.openxmlformats.org/officeDocument/2006/relationships/notesMaster" Target="/ppt/notesMasters/notesMaster1.xml" Id="R2c92fcc07a344d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4314c46de3450a" /><Relationship Type="http://schemas.openxmlformats.org/officeDocument/2006/relationships/notesMaster" Target="/ppt/notesMasters/notesMaster1.xml" Id="Rc2cc67da909641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6e6fa1ca394155" /><Relationship Type="http://schemas.openxmlformats.org/officeDocument/2006/relationships/notesMaster" Target="/ppt/notesMasters/notesMaster1.xml" Id="Rf1c67469dbb545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cb9ec3edbe42f6" /><Relationship Type="http://schemas.openxmlformats.org/officeDocument/2006/relationships/notesMaster" Target="/ppt/notesMasters/notesMaster1.xml" Id="Ra5d42cd1c1b841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8883f29cb740b8" /><Relationship Type="http://schemas.openxmlformats.org/officeDocument/2006/relationships/notesMaster" Target="/ppt/notesMasters/notesMaster1.xml" Id="Ref768c1537f644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2f08ba4e554feb" /><Relationship Type="http://schemas.openxmlformats.org/officeDocument/2006/relationships/notesMaster" Target="/ppt/notesMasters/notesMaster1.xml" Id="Rcad8436902f04a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66939134314601" /><Relationship Type="http://schemas.openxmlformats.org/officeDocument/2006/relationships/notesMaster" Target="/ppt/notesMasters/notesMaster1.xml" Id="R452a5ba1efd24a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5ba67e89044ae1" /><Relationship Type="http://schemas.openxmlformats.org/officeDocument/2006/relationships/notesMaster" Target="/ppt/notesMasters/notesMaster1.xml" Id="Ra4a9dfccdbe240f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2bae317e584d4a" /><Relationship Type="http://schemas.openxmlformats.org/officeDocument/2006/relationships/notesMaster" Target="/ppt/notesMasters/notesMaster1.xml" Id="R5943bd68b24c40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封面用一张真实跑出来的检测结果，先让学生看到这节课的终点：画面上标出目标位置和偏差。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先建立整体框架：感知、决策、执行是循环，不是流水线。强调这节课的主战场是决策里的目标定位。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把流水线写在黑板上，后面每讲一步都回来指一下。强调「每步可单独检查」是这套方法对初学者最友好的地方。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现场打印 frame.shape 给学生看。让他们自己说出 360、640、3 分别代表什么，再引出通道顺序是 BGR 不是 RGB。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三张图来自同一帧画面。让学生观察：红色球在 H 图上是一块深色，在 S 图上很亮，在 V 图上有明暗变化。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强调掩膜是二值图，不是彩色图。红色跨 0 度，是最容易被忽略的一个坑，现场用 0 到 10 加 170 到 180 两段演示。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不要让学生背这张表，而是带他们用 cv2.cvtColor 打印出目标中心一个像素的 HSV 值，再围着它上下取范围。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这一页的关键词是「先缩小再长回来」。核越大，能抹掉的杂点越大，但目标也被削得越狠，现场让学生自己换核大小试。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指出右上角那片红色干扰物：开运算去不掉它，因为它不小。这类问题只能靠面积或位置约束解决。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公式不要求背，但要能说出「中心就是所有目标像素坐标的平均」。图中数据来自 assets/make_figures.py 的真实计算结果。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只讲比例控制的直觉：偏得越多，修得越狠。可以现场把 k_p 调大到失真，让学生看到震荡是怎么来的。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这段代码在现场一起敲，不要求一次写对。重点讲 err 的正负号和 k_p 的单位：像素乘以系数得到角速度。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提醒学生：调试视觉问题时，先分类再动手。同一现象可能对应完全不同的原因，盲目调阈值效率最低。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课下任务刻意留了一个必须记录的失败清单，目的是让学生养成「先观察再改代码」的习惯。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5cba63681b4e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6929bc303040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fcd3b7564946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45ee72c87457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3c296bae0a40d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fc4459b1694b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6DC94D-E613-4347-B270-7F218BD685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8A1519B-05F8-4560-9BBC-65A29CE525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7ACC405-85EB-4643-B6B7-C442D7ACA9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1BF01A-0E34-4069-B537-8FA055D7B2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59E71F1-8CCB-45C9-951A-4DA2FC367F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F3E31EA-ACFE-4F43-BFD3-81B4B04D16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05B3E6A-0DC0-415D-9EE8-978BFE55CA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F01C16C-5522-4CBA-B7F9-9600DA8F4DD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DDFF38-16DD-4822-89D5-8320AF1A94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C8F291D-BB3E-4C99-8125-7297B05085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80e935ddd543b1" /><Relationship Type="http://schemas.openxmlformats.org/officeDocument/2006/relationships/slideLayout" Target="/ppt/slideLayouts/slideLayout1.xml" Id="R1031f57c81a64825" /><Relationship Type="http://schemas.openxmlformats.org/officeDocument/2006/relationships/slideLayout" Target="/ppt/slideLayouts/slideLayout2.xml" Id="R0db9b15142e840db" /><Relationship Type="http://schemas.openxmlformats.org/officeDocument/2006/relationships/slideLayout" Target="/ppt/slideLayouts/slideLayout3.xml" Id="R94c3e78b01b64ba1" /><Relationship Type="http://schemas.openxmlformats.org/officeDocument/2006/relationships/slideLayout" Target="/ppt/slideLayouts/slideLayout4.xml" Id="Ra0a6cbf036cc4900" /><Relationship Type="http://schemas.openxmlformats.org/officeDocument/2006/relationships/slideLayout" Target="/ppt/slideLayouts/slideLayout5.xml" Id="R2e1d4e9ce7224763" /><Relationship Type="http://schemas.openxmlformats.org/officeDocument/2006/relationships/slideLayout" Target="/ppt/slideLayouts/slideLayout6.xml" Id="R45dcfa3c0b4e46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31f57c81a64825"/>
    <p:sldLayoutId xmlns:r="http://schemas.openxmlformats.org/officeDocument/2006/relationships" id="2147483650" r:id="R0db9b15142e840db"/>
    <p:sldLayoutId xmlns:r="http://schemas.openxmlformats.org/officeDocument/2006/relationships" id="2147483651" r:id="R94c3e78b01b64ba1"/>
    <p:sldLayoutId xmlns:r="http://schemas.openxmlformats.org/officeDocument/2006/relationships" id="2147483652" r:id="Ra0a6cbf036cc4900"/>
    <p:sldLayoutId xmlns:r="http://schemas.openxmlformats.org/officeDocument/2006/relationships" id="2147483653" r:id="R2e1d4e9ce7224763"/>
    <p:sldLayoutId xmlns:r="http://schemas.openxmlformats.org/officeDocument/2006/relationships" id="2147483654" r:id="R45dcfa3c0b4e46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503b9559c64948" /><Relationship Type="http://schemas.openxmlformats.org/officeDocument/2006/relationships/image" Target="/ppt/media/image.png" Id="R4f4ed261cdfc4969" /><Relationship Type="http://schemas.openxmlformats.org/officeDocument/2006/relationships/notesSlide" Target="/ppt/notesSlides/notesSlide1.xml" Id="R0c0f6eb2441b42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21636bf08e48e3" /><Relationship Type="http://schemas.openxmlformats.org/officeDocument/2006/relationships/notesSlide" Target="/ppt/notesSlides/notesSlide2.xml" Id="R26e0b4581cf14e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a22774a2a34f16" /><Relationship Type="http://schemas.openxmlformats.org/officeDocument/2006/relationships/notesSlide" Target="/ppt/notesSlides/notesSlide3.xml" Id="R49564561a7204c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f013eb3c3945a9" /><Relationship Type="http://schemas.openxmlformats.org/officeDocument/2006/relationships/image" Target="/ppt/media/image2.png" Id="R48a78d793da048b0" /><Relationship Type="http://schemas.openxmlformats.org/officeDocument/2006/relationships/notesSlide" Target="/ppt/notesSlides/notesSlide4.xml" Id="R104c9fdeea0045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11a5f1906b4ac0" /><Relationship Type="http://schemas.openxmlformats.org/officeDocument/2006/relationships/image" Target="/ppt/media/image3.png" Id="R17e09dbfb88e45e2" /><Relationship Type="http://schemas.openxmlformats.org/officeDocument/2006/relationships/notesSlide" Target="/ppt/notesSlides/notesSlide5.xml" Id="R33a97ab64a3645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cfb6fc102e479a" /><Relationship Type="http://schemas.openxmlformats.org/officeDocument/2006/relationships/image" Target="/ppt/media/image4.png" Id="Rac98110872274e97" /><Relationship Type="http://schemas.openxmlformats.org/officeDocument/2006/relationships/notesSlide" Target="/ppt/notesSlides/notesSlide6.xml" Id="R724b217bd6734a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0c77f97dc746ae" /><Relationship Type="http://schemas.openxmlformats.org/officeDocument/2006/relationships/notesSlide" Target="/ppt/notesSlides/notesSlide7.xml" Id="R9f66a98a286249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51e72452db430f" /><Relationship Type="http://schemas.openxmlformats.org/officeDocument/2006/relationships/image" Target="/ppt/media/image5.png" Id="Rf5845feb409b4ddb" /><Relationship Type="http://schemas.openxmlformats.org/officeDocument/2006/relationships/notesSlide" Target="/ppt/notesSlides/notesSlide8.xml" Id="Rb6e7ab9ae6314e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844546cca24f80" /><Relationship Type="http://schemas.openxmlformats.org/officeDocument/2006/relationships/image" Target="/ppt/media/image6.png" Id="Rb5ce982ddddd4f69" /><Relationship Type="http://schemas.openxmlformats.org/officeDocument/2006/relationships/notesSlide" Target="/ppt/notesSlides/notesSlide9.xml" Id="R8769f7b98b6f4a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b61357c1224dbf" /><Relationship Type="http://schemas.openxmlformats.org/officeDocument/2006/relationships/image" Target="/ppt/media/image7.png" Id="R3f0b09827deb4ca5" /><Relationship Type="http://schemas.openxmlformats.org/officeDocument/2006/relationships/notesSlide" Target="/ppt/notesSlides/notesSlide10.xml" Id="R6c85de642bd54d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019d15f05943a6" /><Relationship Type="http://schemas.openxmlformats.org/officeDocument/2006/relationships/notesSlide" Target="/ppt/notesSlides/notesSlide11.xml" Id="Rc8f28bc9453842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23f979d61b435d" /><Relationship Type="http://schemas.openxmlformats.org/officeDocument/2006/relationships/notesSlide" Target="/ppt/notesSlides/notesSlide12.xml" Id="Rb0a9df2e1bc241f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ad8f8582734dc0" /><Relationship Type="http://schemas.openxmlformats.org/officeDocument/2006/relationships/notesSlide" Target="/ppt/notesSlides/notesSlide13.xml" Id="R1193952de3e647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c1a9538e8642cd" /><Relationship Type="http://schemas.openxmlformats.org/officeDocument/2006/relationships/notesSlide" Target="/ppt/notesSlides/notesSlide14.xml" Id="Rb2f3b41c186743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421D1-5033-41EA-A234-8BB3B7DC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机器人视觉第一课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17D3F-BA69-41A9-9D34-5962207F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让 AnyCar「看见」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彩色目标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E60E4-5A8E-4D4A-B900-728000B1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45342-024D-4443-A7A2-A656B7C5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76700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传统视觉与 OpenCV 初步｜预计授课 10 分钟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675BE-E92B-44CE-9C33-71559B3C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浙江大学生机器人协会 · 教学部内训选题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36503-553F-4EF7-A665-E70D82825A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ed261cdfc4969"/>
          <a:stretch xmlns:a="http://schemas.openxmlformats.org/drawingml/2006/main"/>
        </p:blipFill>
        <p:spPr>
          <a:xfrm xmlns:a="http://schemas.openxmlformats.org/drawingml/2006/main">
            <a:off x="6286500" y="1972722"/>
            <a:ext cx="5143500" cy="276015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5340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4544CF-F2A8-49CA-941B-9DBC3D32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感知、决策与执行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A2A55-4721-4645-98B6-1E47E1E4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7209B-E240-47C0-A324-4B072C46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EBC04-52F7-481E-844F-BB9F31BC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57400"/>
            <a:ext cx="28575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D5C35-3605-425F-B34B-7D617385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21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感知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DDFFC-BC12-4039-B898-5B62182B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19400"/>
            <a:ext cx="2552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42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摄像头给出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42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一帧画面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0DD2A-5937-4D7A-9D14-93E74FB3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432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B9D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206F8-12C3-479D-9575-98E0A6DF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57400"/>
            <a:ext cx="28575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2000D-4FF1-4645-AB11-BB3DC4D3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241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21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决策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20725-922E-4843-9F33-9F1ACDD8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19400"/>
            <a:ext cx="2552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42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算出目标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42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在画面里的位置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7B7FB-7EA5-4384-8CFC-0265651B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432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B9D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C8B12-6D59-4B17-BDA7-5C670B8C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57400"/>
            <a:ext cx="28575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22595-E8D5-4FCD-A50A-240E11AB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241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21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5955DB-81A5-47FC-8A17-8647AEFC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19400"/>
            <a:ext cx="2552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5000"/>
              </a:lnSpc>
              <a:buNone/>
              <a:defRPr sz="142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把位置偏差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42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变成转向指令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AC44A3-0F70-40EF-9578-DCE74032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5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对初学者来说，难点几乎都集中在中间那一步：画面里的东西很多，程序怎么知道哪一堆像素才是目标。这节课把这一步拆成四个可以单独检查的小步骤。</a:t>
            </a:r>
          </a:p>
        </p:txBody>
      </p:sp>
    </p:spTree>
    <p:extLst>
      <p:ext uri="{BB962C8B-B14F-4D97-AF65-F5344CB8AC3E}">
        <p14:creationId xmlns:p14="http://schemas.microsoft.com/office/powerpoint/2010/main" val="14239260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A73186-7D98-4DDE-8187-87C1009E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处理一帧画面的六个步骤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DFC24-671F-46B9-81ED-C2A645EC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A97F6-2266-4AC8-B096-970308F6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1E62D-9A60-483E-8932-58711332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16002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C3707-DD2B-441D-B306-21B3EE4E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3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BBE7A-F246-4D0C-99A5-A04C3E17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144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25000"/>
              </a:lnSpc>
              <a:buNone/>
              <a:defRPr sz="127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读入一帧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5CC0E-B29A-411C-B84F-B36D4CFC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99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图像数组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3C0D1-0649-4B86-9142-5D1D3A9D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67000"/>
            <a:ext cx="1333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B9D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4E10C-1032-463B-83DD-E945E70E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09800"/>
            <a:ext cx="16002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67E21-D97B-459C-85D5-D9997A37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622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3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45FBD-D292-43C0-8820-7CF18126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86050"/>
            <a:ext cx="144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25000"/>
              </a:lnSpc>
              <a:buNone/>
              <a:defRPr sz="127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HSV 颜色分割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DF1A25-466F-46C2-84E3-0F4220A8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099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二值掩膜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E3461-E296-4367-81F6-138FEF25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667000"/>
            <a:ext cx="1333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B9D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6421B7-4B4B-49D5-9766-3F60E170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09800"/>
            <a:ext cx="16002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E5C2B-B083-4A79-B329-97036B88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3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2E9B40-B998-4980-B103-E206EC49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86050"/>
            <a:ext cx="144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25000"/>
              </a:lnSpc>
              <a:buNone/>
              <a:defRPr sz="127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形态学去噪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EE8A1B-DBC9-4906-8884-4CAEAF08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099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干净掩膜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DF54AC-0C7A-4A95-8956-11574449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667000"/>
            <a:ext cx="1333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B9D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3EF61C-C6CE-4CB0-8E98-5A4B4787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16002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8AA78B-3937-466F-802E-4A647FD7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622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3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006148-8DBB-488F-9064-A264E918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86050"/>
            <a:ext cx="144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25000"/>
              </a:lnSpc>
              <a:buNone/>
              <a:defRPr sz="127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轮廓与面积筛选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CFD24D-CE69-44DF-BFA2-4D0A4D64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99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目标轮廓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BADFC4-BFC3-4EA2-8D77-94B29BD8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667000"/>
            <a:ext cx="1333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B9D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B0260E-2675-4442-87DD-9838B07E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09800"/>
            <a:ext cx="16002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9721F5-02EB-4868-AA28-B5FA3729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622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3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9D2F0D-676F-4F81-90C6-388C7BB4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86050"/>
            <a:ext cx="144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25000"/>
              </a:lnSpc>
              <a:buNone/>
              <a:defRPr sz="127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求目标中心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DBE9C0-9990-41E9-9763-4C25A571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099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中心坐标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E7BB25-B541-4F7D-A1D3-5B30A52F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667000"/>
            <a:ext cx="1333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DB9D3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B75508-CF63-494A-8B6E-6F495E75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09800"/>
            <a:ext cx="16002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B0C511-AF84-47CE-83CA-741AC01D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622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3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3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5C2E12-2ED1-497E-86C4-F16B20EC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686050"/>
            <a:ext cx="1447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7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25000"/>
              </a:lnSpc>
              <a:buNone/>
              <a:defRPr sz="127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输出转向量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3C478E-F963-44B0-8BD3-5B97B014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099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转向量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314F5A-D002-4CAA-A8F8-1CAC40E5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10363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5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每一步都留下可以直接看到的中间结果：掩膜、去噪后的掩膜、轮廓、中心点。程序出错时，先看是哪一步的产物不对，再回头改那一步。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9C6DCC-69DF-4CCE-BDD1-D2FCD311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1036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本节课重点演示前三步到第五步，第六步只做到能打印出转向量。</a:t>
            </a:r>
          </a:p>
        </p:txBody>
      </p:sp>
    </p:spTree>
    <p:extLst>
      <p:ext uri="{BB962C8B-B14F-4D97-AF65-F5344CB8AC3E}">
        <p14:creationId xmlns:p14="http://schemas.microsoft.com/office/powerpoint/2010/main" val="19152737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75036-D1E5-4F59-9297-1A57A369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一帧画面在内存里就是一个矩阵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9748A-159D-40C3-BFFC-9B95B869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361CD-E367-4E5A-8E6E-11CE6F04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F342F-B2AA-4C7E-8A8D-28BD8591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marL="254000" indent="-139700">
              <a:lnSpc>
                <a:spcPct val="125000"/>
              </a:lnSpc>
              <a:spcAft>
                <a:spcPts val="1400"/>
              </a:spcAft>
              <a:buNone/>
              <a:defRPr sz="15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frame 是「高 × 宽 × 3」的数组</a:t>
            </a:r>
          </a:p>
          <a:p xmlns:a="http://schemas.openxmlformats.org/drawingml/2006/main">
            <a:pPr marL="254000" indent="-139700">
              <a:lnSpc>
                <a:spcPct val="125000"/>
              </a:lnSpc>
              <a:spcAft>
                <a:spcPts val="1400"/>
              </a:spcAft>
              <a:buNone/>
              <a:defRPr sz="15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三个通道分别存放蓝、绿、红的亮度</a:t>
            </a:r>
          </a:p>
          <a:p xmlns:a="http://schemas.openxmlformats.org/drawingml/2006/main">
            <a:pPr marL="254000" indent="-139700">
              <a:lnSpc>
                <a:spcPct val="125000"/>
              </a:lnSpc>
              <a:spcAft>
                <a:spcPts val="1400"/>
              </a:spcAft>
              <a:buNone/>
              <a:defRPr sz="15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所谓图像处理，就是对这些数字做运算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BB6AC-9130-4F25-9EEB-EF788826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数组的形状决定了后面所有操作：行是高度，列是宽度，第三个维度才是颜色。取一个像素就是取三个数字。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DA7DF-134E-4D7A-BADF-820C3176B2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a78d793da048b0"/>
          <a:stretch xmlns:a="http://schemas.openxmlformats.org/drawingml/2006/main"/>
        </p:blipFill>
        <p:spPr>
          <a:xfrm xmlns:a="http://schemas.openxmlformats.org/drawingml/2006/main">
            <a:off x="5200650" y="1688272"/>
            <a:ext cx="6305550" cy="37576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7255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7B63F-81F0-4496-ACC9-478EFB29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HSV 把颜色和亮度分开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9CC4A-377F-4FA9-9F00-D1E88FF5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97AF9-7AC2-442D-B084-D45CE723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4EBBF-3D3F-4E96-9E7E-CFA0934251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09dbfb88e45e2"/>
          <a:stretch xmlns:a="http://schemas.openxmlformats.org/drawingml/2006/main"/>
        </p:blipFill>
        <p:spPr>
          <a:xfrm xmlns:a="http://schemas.openxmlformats.org/drawingml/2006/main">
            <a:off x="1238250" y="1678534"/>
            <a:ext cx="9715500" cy="242460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3C954-C120-4F31-8E5B-00FC234B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marL="254000" indent="-139700">
              <a:lnSpc>
                <a:spcPct val="125000"/>
              </a:lnSpc>
              <a:spcAft>
                <a:spcPts val="1600"/>
              </a:spcAft>
              <a:buNone/>
              <a:defRPr sz="15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H 表示是什么颜色，S 表示颜色有多纯，V 表示有多亮</a:t>
            </a:r>
          </a:p>
          <a:p xmlns:a="http://schemas.openxmlformats.org/drawingml/2006/main">
            <a:pPr marL="254000" indent="-139700">
              <a:lnSpc>
                <a:spcPct val="125000"/>
              </a:lnSpc>
              <a:spcAft>
                <a:spcPts val="1600"/>
              </a:spcAft>
              <a:buNone/>
              <a:defRPr sz="15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光照变强时，RGB 的三个通道一起变，阈值很容易失效；HSV 里亮度主要影响 V，颜色范围更稳</a:t>
            </a:r>
          </a:p>
        </p:txBody>
      </p:sp>
    </p:spTree>
    <p:extLst>
      <p:ext uri="{BB962C8B-B14F-4D97-AF65-F5344CB8AC3E}">
        <p14:creationId xmlns:p14="http://schemas.microsoft.com/office/powerpoint/2010/main" val="3418053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BD477E-E7E5-4D0A-B3FC-65A4C510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颜色阈值：把想要的像素留下来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01234-0030-4DD6-9006-0B87A991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AAAF0-25B0-4EAC-A6AB-EE18CE60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07C6F8-1636-4B4F-8361-67874A06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476750" cy="2781300"/>
          </a:xfrm>
          <a:prstGeom xmlns:a="http://schemas.openxmlformats.org/drawingml/2006/main" prst="roundRect">
            <a:avLst>
              <a:gd name="adj" fmla="val 479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DF9BD-03ED-4814-8491-8F23FD7F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40195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hsv = cv2.cvtColor(frame,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              cv2.COLOR_BGR2HSV)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lower = np.array([  0, 120,  90])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upper = np.array([ 10, 255, 255])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mask = cv2.inRange(hsv, lower, upper)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C5B60-67C0-48B9-99D7-A56AF504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45000"/>
              </a:lnSpc>
              <a:buNone/>
              <a:defRPr sz="135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范围内的像素写成 255，范围外写成 0。得到的二值图就是掩膜，白色保留目标，黑色丢掉。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08BA5-EC64-4F1A-BDCA-015F62F860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8110872274e97"/>
          <a:stretch xmlns:a="http://schemas.openxmlformats.org/drawingml/2006/main"/>
        </p:blipFill>
        <p:spPr>
          <a:xfrm xmlns:a="http://schemas.openxmlformats.org/drawingml/2006/main">
            <a:off x="5553842" y="1905000"/>
            <a:ext cx="5999216" cy="2057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38947-6485-43D3-B9E7-FAF7A890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10050"/>
            <a:ext cx="6057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红色在 HSV 色环的两端，所以 H 的上界和下界要各取一段，两段结果再合并。</a:t>
            </a:r>
          </a:p>
        </p:txBody>
      </p:sp>
    </p:spTree>
    <p:extLst>
      <p:ext uri="{BB962C8B-B14F-4D97-AF65-F5344CB8AC3E}">
        <p14:creationId xmlns:p14="http://schemas.microsoft.com/office/powerpoint/2010/main" val="11786235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5F44F-F2F1-41BD-BF5B-5864FE33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常见颜色的 HSV 起点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1D742-D332-4587-89A6-67CD4254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72FE2-27C6-4157-A516-D890E308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3712D-A0CC-4DE6-9548-E77C56097455}"/>
              </a:ext>
            </a:extLst>
          </p:cNvPr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38703"/>
                <a:gridCol w="3731172"/>
                <a:gridCol w="2425262"/>
                <a:gridCol w="2425262"/>
              </a:tblGrid>
              <a:tr h="5905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85E8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颜色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85E8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H（色调）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85E8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S（饱和度）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85E8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V（明度）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红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0-10 或 170-179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120-255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90-255</a:t>
                      </a:r>
                    </a:p>
                  </a:txBody>
                  <a:tcPr marL="91440" marR="91440" marT="45720" marB="45720" anchor="ctr"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绿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40-80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80-255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60-255</a:t>
                      </a:r>
                    </a:p>
                  </a:txBody>
                  <a:tcPr marL="91440" marR="91440" marT="45720" marB="45720" anchor="ctr"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蓝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100-130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120-255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70-255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E068B-FEE6-4B4B-BF54-15F53EC7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marL="254000" indent="-139700">
              <a:lnSpc>
                <a:spcPct val="125000"/>
              </a:lnSpc>
              <a:spcAft>
                <a:spcPts val="1400"/>
              </a:spcAft>
              <a:buNone/>
              <a:defRPr sz="1425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OpenCV 的 H 取值是 0 到 179，不是常见的 0 到 360，写阈值前先想清楚这一点</a:t>
            </a:r>
          </a:p>
          <a:p xmlns:a="http://schemas.openxmlformats.org/drawingml/2006/main">
            <a:pPr marL="254000" indent="-139700">
              <a:lnSpc>
                <a:spcPct val="125000"/>
              </a:lnSpc>
              <a:spcAft>
                <a:spcPts val="1400"/>
              </a:spcAft>
              <a:buNone/>
              <a:defRPr sz="1425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这张表只是起点。同一块红色在灯光下和在阴影里，V 的下界可能差很多，必须对着现场微调</a:t>
            </a:r>
          </a:p>
        </p:txBody>
      </p:sp>
    </p:spTree>
    <p:extLst>
      <p:ext uri="{BB962C8B-B14F-4D97-AF65-F5344CB8AC3E}">
        <p14:creationId xmlns:p14="http://schemas.microsoft.com/office/powerpoint/2010/main" val="20847102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E152B-B03D-42F1-9987-89324E97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形态学：先腐蚀，再膨胀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9405D-AD85-4353-A588-7BDC783A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41F7D-55E4-4A5B-92E5-C7815771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31844-E167-4E0B-A83E-C25320D9CF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45feb409b4ddb"/>
          <a:stretch xmlns:a="http://schemas.openxmlformats.org/drawingml/2006/main"/>
        </p:blipFill>
        <p:spPr>
          <a:xfrm xmlns:a="http://schemas.openxmlformats.org/drawingml/2006/main">
            <a:off x="1066800" y="1611302"/>
            <a:ext cx="10058400" cy="250192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56857-84F0-4CCC-85EB-A9F05C98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47625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8F3F3-1620-4B47-9F8A-30953BAC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67250"/>
            <a:ext cx="4305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kernel = np.ones((7, 7), np.uint8)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mask = cv2.morphologyEx(mask,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    cv2.MORPH_OPEN, kernel)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143EC8-7DE3-4643-8E7D-8B433E9F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767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marL="254000" indent="-139700">
              <a:lnSpc>
                <a:spcPct val="125000"/>
              </a:lnSpc>
              <a:spcAft>
                <a:spcPts val="1400"/>
              </a:spcAft>
              <a:buNone/>
              <a:defRPr sz="1425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腐蚀让目标缩一圈，比核还小的杂点直接消失</a:t>
            </a:r>
          </a:p>
          <a:p xmlns:a="http://schemas.openxmlformats.org/drawingml/2006/main">
            <a:pPr marL="254000" indent="-139700">
              <a:lnSpc>
                <a:spcPct val="125000"/>
              </a:lnSpc>
              <a:spcAft>
                <a:spcPts val="1400"/>
              </a:spcAft>
              <a:buNone/>
              <a:defRPr sz="1425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膨胀再让目标长回来，但杂点不会复活</a:t>
            </a:r>
          </a:p>
        </p:txBody>
      </p:sp>
    </p:spTree>
    <p:extLst>
      <p:ext uri="{BB962C8B-B14F-4D97-AF65-F5344CB8AC3E}">
        <p14:creationId xmlns:p14="http://schemas.microsoft.com/office/powerpoint/2010/main" val="20592710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B0C84-991C-4A20-A41E-497BA972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轮廓与面积筛选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67316-74F5-4EEF-B146-270FC12C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54802-5DC3-4ABD-BD9D-0DC5B535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B80FA-C650-4DC3-B635-EB536437BE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e982ddddd4f69"/>
          <a:stretch xmlns:a="http://schemas.openxmlformats.org/drawingml/2006/main"/>
        </p:blipFill>
        <p:spPr>
          <a:xfrm xmlns:a="http://schemas.openxmlformats.org/drawingml/2006/main">
            <a:off x="1812664" y="1428750"/>
            <a:ext cx="8566673" cy="2914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06F5D-10EE-4BF8-A93C-6904D10F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59055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F7340-2925-4A1A-9894-E567E5D8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54483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cnts, _ = cv2.findContours(mask,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    cv2.RETR_EXTERNAL,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    cv2.CHAIN_APPROX_SIMPLE)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C5A86-CE8D-4C40-A7A3-2AEEE199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29150"/>
            <a:ext cx="4610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marL="254000" indent="-139700">
              <a:lnSpc>
                <a:spcPct val="125000"/>
              </a:lnSpc>
              <a:spcAft>
                <a:spcPts val="1200"/>
              </a:spcAft>
              <a:buNone/>
              <a:defRPr sz="13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findContours 把白色区域连成一圈一圈的边界</a:t>
            </a:r>
          </a:p>
          <a:p xmlns:a="http://schemas.openxmlformats.org/drawingml/2006/main">
            <a:pPr marL="254000" indent="-139700">
              <a:lnSpc>
                <a:spcPct val="125000"/>
              </a:lnSpc>
              <a:spcAft>
                <a:spcPts val="1200"/>
              </a:spcAft>
              <a:buNone/>
              <a:defRPr sz="13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再用 contourArea 按面积筛掉太小的轮廓</a:t>
            </a:r>
          </a:p>
        </p:txBody>
      </p:sp>
    </p:spTree>
    <p:extLst>
      <p:ext uri="{BB962C8B-B14F-4D97-AF65-F5344CB8AC3E}">
        <p14:creationId xmlns:p14="http://schemas.microsoft.com/office/powerpoint/2010/main" val="6845668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65386-DDA1-41B7-8296-2D31DE56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求目标中心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507CC-B8FF-4B80-86CC-D80D11B6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AC838-A748-4B9A-8CC1-F0CE8BD6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F1861-E625-4683-B597-5B7031A67A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b09827deb4ca5"/>
          <a:stretch xmlns:a="http://schemas.openxmlformats.org/drawingml/2006/main"/>
        </p:blipFill>
        <p:spPr>
          <a:xfrm xmlns:a="http://schemas.openxmlformats.org/drawingml/2006/main">
            <a:off x="5753100" y="1666282"/>
            <a:ext cx="5753100" cy="308728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6E741-0427-432B-8E72-E91BEC6D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7244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F3F8B-2641-41C6-A961-DA512DDF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7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x̄ = (1 / A) · Σ 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016E0-8ADC-4FF7-990F-3A29B1EC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7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ȳ = (1 / A) · Σ 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98EF6-8A58-45C1-B518-834D77B4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11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11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A 是区域面积，(u, v) 是区域内每个像素的坐标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919D9-80DA-47C1-AD6D-01E7D702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724400" cy="1409700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4DD38-5EB9-44B8-AF4D-9F8FFB1D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267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>
                <a:solidFill>
                  <a:srgbClr val="1F2A37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200">
                <a:solidFill>
                  <a:srgbClr val="1F2A37"/>
                </a:solidFill>
                <a:latin typeface="Menlo"/>
                <a:ea typeface="Menlo"/>
                <a:cs typeface="Menlo"/>
              </a:rPr>
              <a:t>M = cv2.moments(c)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200">
                <a:solidFill>
                  <a:srgbClr val="1F2A37"/>
                </a:solidFill>
                <a:latin typeface="Menlo"/>
                <a:ea typeface="Menlo"/>
                <a:cs typeface="Menlo"/>
              </a:rPr>
              <a:t>cx = int(M['m10'] / M['m00'])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200">
                <a:solidFill>
                  <a:srgbClr val="1F2A37"/>
                </a:solidFill>
                <a:latin typeface="Menlo"/>
                <a:ea typeface="Menlo"/>
                <a:cs typeface="Menlo"/>
              </a:rPr>
              <a:t>cy = int(M['m11'] / M['m00'])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491124-F5C6-40BB-84C4-064816E9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4724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2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图像矩就是把上面两个求和写成紧凑形式。这一帧里目标面积 6621 像素，算出的中心是 (415, 150)。</a:t>
            </a:r>
          </a:p>
        </p:txBody>
      </p:sp>
    </p:spTree>
    <p:extLst>
      <p:ext uri="{BB962C8B-B14F-4D97-AF65-F5344CB8AC3E}">
        <p14:creationId xmlns:p14="http://schemas.microsoft.com/office/powerpoint/2010/main" val="18626550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04FFD-6E78-4BD7-8066-C996A9DF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把位置偏差变成转向量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E0B99-380F-4C8E-982A-0EED35CD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39A4A-11CE-431C-8B71-98A34948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38D4F-49CF-4A29-9A0F-CFC7B452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35AEA-A40F-4E4A-AEAA-C1354188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36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ctr">
              <a:defRPr sz="22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ctr">
              <a:lnSpc>
                <a:spcPct val="130000"/>
              </a:lnSpc>
              <a:buNone/>
              <a:defRPr sz="22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ω = k_p · ( x_target - x_center 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EC218-DF79-4717-94DF-53E9E4F2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590550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AE667-4065-4AF5-B8BE-C9741A1D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162300"/>
            <a:ext cx="190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517BD1-5980-411A-8436-FDE906A9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320" y="3543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74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FABE6-5ED8-4D1D-A898-8EF61776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10050"/>
            <a:ext cx="1303020" cy="190500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D92D2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3BF81-ED39-477A-A6CF-245ED52E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19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200" b="0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画面中心 x_center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D1FB1B-9676-4F2A-81C6-0887DECB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870" y="3162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54708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200" b="0">
                <a:solidFill>
                  <a:srgbClr val="B5470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B54708"/>
                </a:solidFill>
                <a:latin typeface="Hiragino Sans GB"/>
                <a:ea typeface="Hiragino Sans GB"/>
                <a:cs typeface="Hiragino Sans GB"/>
              </a:rPr>
              <a:t>目标中心 x_target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44791-3222-4CD8-8E96-A5933F04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19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D92D2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D92D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D92D20"/>
                </a:solidFill>
                <a:latin typeface="Hiragino Sans GB"/>
                <a:ea typeface="Hiragino Sans GB"/>
                <a:cs typeface="Hiragino Sans GB"/>
              </a:rPr>
              <a:t>水平偏差 Δx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E7A75-5F98-4563-81FD-B3CCD997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9900"/>
            <a:ext cx="3771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marL="254000" indent="-139700">
              <a:lnSpc>
                <a:spcPct val="125000"/>
              </a:lnSpc>
              <a:spcAft>
                <a:spcPts val="1400"/>
              </a:spcAft>
              <a:buNone/>
              <a:defRPr sz="1425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Δx 为正，目标在右侧，就向右转</a:t>
            </a:r>
          </a:p>
          <a:p xmlns:a="http://schemas.openxmlformats.org/drawingml/2006/main">
            <a:pPr marL="254000" indent="-139700">
              <a:lnSpc>
                <a:spcPct val="125000"/>
              </a:lnSpc>
              <a:spcAft>
                <a:spcPts val="1400"/>
              </a:spcAft>
              <a:buNone/>
              <a:defRPr sz="1425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Δx 越大，转得越快，比例由 k_p 决定</a:t>
            </a:r>
          </a:p>
          <a:p xmlns:a="http://schemas.openxmlformats.org/drawingml/2006/main">
            <a:pPr marL="254000" indent="-139700">
              <a:lnSpc>
                <a:spcPct val="125000"/>
              </a:lnSpc>
              <a:spcAft>
                <a:spcPts val="1400"/>
              </a:spcAft>
              <a:buNone/>
              <a:defRPr sz="1425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k_p 调太大，车会在目标两侧来回摆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B2696B-F731-476A-A7CE-FA104E38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这一步不需要完整的控制算法。只要能把偏差换算成一个带正负号的转向量，视觉和运动之间就接上了。</a:t>
            </a:r>
          </a:p>
        </p:txBody>
      </p:sp>
    </p:spTree>
    <p:extLst>
      <p:ext uri="{BB962C8B-B14F-4D97-AF65-F5344CB8AC3E}">
        <p14:creationId xmlns:p14="http://schemas.microsoft.com/office/powerpoint/2010/main" val="20623141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90D0B-709D-43D9-BE0E-3E469CC9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最小可运行脚本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04DBD-E34E-415D-8183-5BA937F2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30836-99FD-49EF-83B8-8B10E02E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A26CF-DD94-4DD0-A596-B6E247D3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5257800" cy="4305300"/>
          </a:xfrm>
          <a:prstGeom xmlns:a="http://schemas.openxmlformats.org/drawingml/2006/main" prst="roundRect">
            <a:avLst>
              <a:gd name="adj" fmla="val 30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7E4C7-D690-4AD9-928C-2FCD31A6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48006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import cv2, numpy as np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cap = cv2.VideoCapture(0)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while True: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ok, frame = cap.read()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if not ok: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    break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hsv = cv2.cvtColor(frame,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    cv2.COLOR_BGR2HSV)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mask = cv2.inRange(hsv,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    np.array([0, 120, 90]),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    np.array([10, 255, 255]))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mask = cv2.morphologyEx(mask,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    cv2.MORPH_OPEN,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    np.ones((7, 7), np.uint8))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9285B-EBDB-4EA5-9499-03E9C8BF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47800"/>
            <a:ext cx="5257800" cy="4305300"/>
          </a:xfrm>
          <a:prstGeom xmlns:a="http://schemas.openxmlformats.org/drawingml/2006/main" prst="roundRect">
            <a:avLst>
              <a:gd name="adj" fmla="val 30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4D39A-CDD1-4A4C-93C7-A72DFB44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48006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cnts, _ = cv2.findContours(mask,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    cv2.RETR_EXTERNAL,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    cv2.CHAIN_APPROX_SIMPLE)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if cnts: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    M = cv2.moments(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        max(cnts, key=cv2.contourArea))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    cx = int(M['m10'] / M['m00'])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    err = cx - frame.shape[1] // 2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    omega = 0.005 * err     # k_p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    print(f'err={err:4d}px'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          f'  {omega:+.3f} rad/s')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cv2.imshow('mask', mask)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if cv2.waitKey(1) == 27:  # ESC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        break</a:t>
            </a:r>
          </a:p>
          <a:p xmlns:a="http://schemas.openxmlformats.org/drawingml/2006/main">
            <a:pPr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1F2A37"/>
                </a:solidFill>
                <a:latin typeface="Menlo"/>
                <a:ea typeface="Menlo"/>
                <a:cs typeface="Menlo"/>
              </a:defRPr>
            </a:pPr>
            <a:r>
              <a:rPr sz="1125">
                <a:solidFill>
                  <a:srgbClr val="1F2A37"/>
                </a:solidFill>
                <a:latin typeface="Menlo"/>
                <a:ea typeface="Menlo"/>
                <a:cs typeface="Menlo"/>
              </a:rPr>
              <a:t>cap.release(); cv2.destroyAllWindows()</a:t>
            </a:r>
          </a:p>
        </p:txBody>
      </p:sp>
    </p:spTree>
    <p:extLst>
      <p:ext uri="{BB962C8B-B14F-4D97-AF65-F5344CB8AC3E}">
        <p14:creationId xmlns:p14="http://schemas.microsoft.com/office/powerpoint/2010/main" val="763371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BDC83-73B5-4317-9992-8F6B70FE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视觉最容易失效的四种情况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1C853-23CA-4E7D-B05B-28F0EE12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8EBDB-98BC-4E02-BAC6-FFD847EB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3185A-D4F8-40A5-A1BE-D1637A08AF0D}"/>
              </a:ext>
            </a:extLst>
          </p:cNvPr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924432"/>
                <a:gridCol w="3947984"/>
                <a:gridCol w="3947984"/>
              </a:tblGrid>
              <a:tr h="6096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85E8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现象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85E8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可能的原因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85E8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先试的办法</a:t>
                      </a:r>
                    </a:p>
                  </a:txBody>
                  <a:tcPr marL="91440" marR="91440" marT="45720" marB="45720" anchor="ctr">
                    <a:solidFill>
                      <a:srgbClr val="EAF1F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掩膜突然变空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光线变了，原来的 H 或 V 范围失效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固定光源，或把 V 的下界调低再试</a:t>
                      </a:r>
                    </a:p>
                  </a:txBody>
                  <a:tcPr marL="91440" marR="91440" marT="45720" marB="45720" anchor="ctr"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目标旁边多出一个框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掩膜里有颜色相近的干扰物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用面积筛选，或只在画面中部找目标</a:t>
                      </a:r>
                    </a:p>
                  </a:txBody>
                  <a:tcPr marL="91440" marR="91440" marT="45720" marB="45720" anchor="ctr"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中心点反复跳动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目标被部分遮挡，轮廓形状在变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连续几帧取平均，丢帧时保持上次结果</a:t>
                      </a:r>
                    </a:p>
                  </a:txBody>
                  <a:tcPr marL="91440" marR="91440" marT="45720" marB="45720" anchor="ctr"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目标贴到边缘就丢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目标跑出了视野范围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427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先原地转动找回目标，再做伺服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CFF91-BEF2-460A-9071-3CECCFF4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把这四条抄下来，自己动手时遇到新问题就往后加一行。这份清单比一段跑得通的代码更值钱。</a:t>
            </a:r>
          </a:p>
        </p:txBody>
      </p:sp>
    </p:spTree>
    <p:extLst>
      <p:ext uri="{BB962C8B-B14F-4D97-AF65-F5344CB8AC3E}">
        <p14:creationId xmlns:p14="http://schemas.microsoft.com/office/powerpoint/2010/main" val="10953086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50D75-2AA7-4653-9EF6-0BB899D4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小结与课下任务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9C15C-DF51-4C5D-86BD-5B6EAFD8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24FD0-8BDA-4FB2-A535-E02FC7C3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24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r">
              <a:lnSpc>
                <a:spcPct val="130000"/>
              </a:lnSpc>
              <a:buNone/>
              <a:def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085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6CEDF-9450-4B55-8B0D-B53A9D75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905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marL="254000" indent="-139700">
              <a:lnSpc>
                <a:spcPct val="125000"/>
              </a:lnSpc>
              <a:spcAft>
                <a:spcPts val="2200"/>
              </a:spcAft>
              <a:buNone/>
              <a:defRPr sz="15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一帧画面是高度 × 宽度 × 3 的数字矩阵</a:t>
            </a:r>
          </a:p>
          <a:p xmlns:a="http://schemas.openxmlformats.org/drawingml/2006/main">
            <a:pPr marL="254000" indent="-139700">
              <a:lnSpc>
                <a:spcPct val="125000"/>
              </a:lnSpc>
              <a:spcAft>
                <a:spcPts val="2200"/>
              </a:spcAft>
              <a:buNone/>
              <a:defRPr sz="15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HSV 把颜色和亮度分开，比 RGB 更适合定阈值</a:t>
            </a:r>
          </a:p>
          <a:p xmlns:a="http://schemas.openxmlformats.org/drawingml/2006/main">
            <a:pPr marL="254000" indent="-139700">
              <a:lnSpc>
                <a:spcPct val="125000"/>
              </a:lnSpc>
              <a:spcAft>
                <a:spcPts val="2200"/>
              </a:spcAft>
              <a:buNone/>
              <a:defRPr sz="15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先腐蚀后膨胀去掉杂点，再用轮廓和面积筛出目标</a:t>
            </a:r>
          </a:p>
          <a:p xmlns:a="http://schemas.openxmlformats.org/drawingml/2006/main">
            <a:pPr marL="254000" indent="-139700">
              <a:lnSpc>
                <a:spcPct val="125000"/>
              </a:lnSpc>
              <a:spcAft>
                <a:spcPts val="2200"/>
              </a:spcAft>
              <a:buNone/>
              <a:defRPr sz="15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目标中心与画面中心的差，就是转向量的来源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477C3-0022-4283-96A4-691B44FA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95450"/>
            <a:ext cx="445770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9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56445-6C81-493D-9871-50DB0582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62150"/>
            <a:ext cx="3848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18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285E8E"/>
                </a:solidFill>
                <a:latin typeface="Hiragino Sans GB"/>
                <a:ea typeface="Hiragino Sans GB"/>
                <a:cs typeface="Hiragino Sans GB"/>
              </a:rPr>
              <a:t>课下任务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CDD72-9F0B-439E-A82A-D982454A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95550"/>
            <a:ext cx="38481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 marL="254000" indent="-139700">
              <a:lnSpc>
                <a:spcPct val="125000"/>
              </a:lnSpc>
              <a:spcAft>
                <a:spcPts val="2000"/>
              </a:spcAft>
              <a:buNone/>
              <a:defRPr sz="13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跑通最小脚本，保存一张分割成功的截图</a:t>
            </a:r>
          </a:p>
          <a:p xmlns:a="http://schemas.openxmlformats.org/drawingml/2006/main">
            <a:pPr marL="254000" indent="-139700">
              <a:lnSpc>
                <a:spcPct val="125000"/>
              </a:lnSpc>
              <a:spcAft>
                <a:spcPts val="2000"/>
              </a:spcAft>
              <a:buNone/>
              <a:defRPr sz="13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记下三条失效现象，写清现象、原因和试过的办法</a:t>
            </a:r>
          </a:p>
          <a:p xmlns:a="http://schemas.openxmlformats.org/drawingml/2006/main">
            <a:pPr marL="254000" indent="-139700">
              <a:lnSpc>
                <a:spcPct val="125000"/>
              </a:lnSpc>
              <a:spcAft>
                <a:spcPts val="2000"/>
              </a:spcAft>
              <a:buNone/>
              <a:defRPr sz="13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475467"/>
                </a:solidFill>
                <a:latin typeface="Hiragino Sans GB"/>
                <a:ea typeface="Hiragino Sans GB"/>
                <a:cs typeface="Hiragino Sans GB"/>
              </a:rPr>
              <a:t>加分项：把转向量接到 AnyCar 或串口上真跑一次</a:t>
            </a:r>
          </a:p>
        </p:txBody>
      </p:sp>
    </p:spTree>
    <p:extLst>
      <p:ext uri="{BB962C8B-B14F-4D97-AF65-F5344CB8AC3E}">
        <p14:creationId xmlns:p14="http://schemas.microsoft.com/office/powerpoint/2010/main" val="18444334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2026-10-07T04:33:22.9970000Z</dcterms:created>
  <dcterms:modified xsi:type="dcterms:W3CDTF">2026-10-07T04:33:22.9970000Z</dcterms:modified>
</coreProperties>
</file>