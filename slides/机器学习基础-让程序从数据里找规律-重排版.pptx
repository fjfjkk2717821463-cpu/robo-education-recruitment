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  <Relationship Id="rId2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【开场地图 1.5 分钟，照念即可】</a:t>
            </a:r>
          </a:p>
          <a:p>
            <a:pPr/>
            <a:endParaRPr lang="zh-CN" dirty="0"/>
          </a:p>
          <a:p>
            <a:pPr/>
            <a:r>
              <a:rPr lang="zh-CN" dirty="0"/>
              <a:t>今天要解决的是：一个写不出判断规则的程序，怎么自己学会判断。</a:t>
            </a:r>
          </a:p>
          <a:p>
            <a:pPr/>
            <a:endParaRPr lang="zh-CN" dirty="0"/>
          </a:p>
          <a:p>
            <a:pPr/>
            <a:r>
              <a:rPr lang="zh-CN" dirty="0"/>
              <a:t>全部 15 分钟，分三块：机器学习在做什么、机器学习有哪些类型、怎么知道它真的学会了。</a:t>
            </a:r>
          </a:p>
          <a:p>
            <a:pPr/>
            <a:endParaRPr lang="zh-CN" dirty="0"/>
          </a:p>
          <a:p>
            <a:pPr/>
            <a:r>
              <a:rPr lang="zh-CN" dirty="0"/>
              <a:t>第一块讲清「用数据编程」这件事和它的四个零件；第二块讲清常见的问题类型；第三块讲清为什么训练得好不等于能用。</a:t>
            </a:r>
          </a:p>
          <a:p>
            <a:pPr/>
            <a:endParaRPr lang="zh-CN" dirty="0"/>
          </a:p>
          <a:p>
            <a:pPr/>
            <a:r>
              <a:rPr lang="zh-CN" dirty="0"/>
              <a:t>封面这张图就是这节课的终点：一组电机标定数据，加上一条自己学出来的直线。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先问：要让小车跑起来，得告诉它 PWM 给多少。反过来——给 1000 到 2000 的 PWM，它到底能跑多快？这个公式写得准吗？影响因素太多：电池电压、地面摩擦、轮子磨损。</a:t>
            </a:r>
          </a:p>
          <a:p>
            <a:pPr/>
            <a:endParaRPr lang="zh-CN" dirty="0"/>
          </a:p>
          <a:p>
            <a:pPr/>
            <a:r>
              <a:rPr lang="zh-CN" dirty="0"/>
              <a:t>再看第二个：左右两个传感器读到这样的数值，现在该往左还是往右？情况组合太多，if-else 根本列不完。</a:t>
            </a:r>
          </a:p>
          <a:p>
            <a:pPr/>
            <a:endParaRPr lang="zh-CN" dirty="0"/>
          </a:p>
          <a:p>
            <a:pPr/>
            <a:r>
              <a:rPr lang="zh-CN" dirty="0"/>
              <a:t>【举手互动 0:40，检查是否分清了规则能写 / 不能写】</a:t>
            </a:r>
          </a:p>
          <a:p>
            <a:pPr/>
            <a:endParaRPr lang="zh-CN" dirty="0"/>
          </a:p>
          <a:p>
            <a:pPr/>
            <a:r>
              <a:rPr lang="zh-CN" dirty="0"/>
              <a:t>我念两件事，大家举手判断属于哪一边。第一件：算小车跑过的平均速度。第二件：判断路口该不该转向。</a:t>
            </a:r>
          </a:p>
          <a:p>
            <a:pPr/>
            <a:endParaRPr lang="zh-CN" dirty="0"/>
          </a:p>
          <a:p>
            <a:pPr/>
            <a:r>
              <a:rPr lang="zh-CN" dirty="0"/>
              <a:t>答案：第一件属于左边——速度除以时间，规则一句话就写完了。第二件属于右边——规则写不出来，但例子要多少有多少。</a:t>
            </a:r>
          </a:p>
          <a:p>
            <a:pPr/>
            <a:endParaRPr lang="zh-CN" dirty="0"/>
          </a:p>
          <a:p>
            <a:pPr/>
            <a:r>
              <a:rPr lang="zh-CN" dirty="0"/>
              <a:t>【边界追问】那如果规则不是写不出来，而是写全要几百条 if-else 呢？仍然属于左边——规则能写，只是维护成本高。这种情况下也可以用数据去学，但要说清楚：不是「写不出来」才用机器学习，而是「规则太复杂或太容易变」时它更划算。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我把今天的目标写成三个可以检验的动作，不写「了解机器学习」这种没法验证的话。</a:t>
            </a:r>
          </a:p>
          <a:p>
            <a:pPr/>
            <a:endParaRPr lang="zh-CN" dirty="0"/>
          </a:p>
          <a:p>
            <a:pPr/>
            <a:r>
              <a:rPr lang="zh-CN" dirty="0"/>
              <a:t>十五分钟结束时，你应该能：一，用自己的话说清机器学习为什么可以不写规则，并说出它的四个关键组件；</a:t>
            </a:r>
          </a:p>
          <a:p>
            <a:pPr/>
            <a:endParaRPr lang="zh-CN" dirty="0"/>
          </a:p>
          <a:p>
            <a:pPr/>
            <a:r>
              <a:rPr lang="zh-CN" dirty="0"/>
              <a:t>二，给一个任务判断它属于监督、无监督还是强化学习；</a:t>
            </a:r>
          </a:p>
          <a:p>
            <a:pPr/>
            <a:endParaRPr lang="zh-CN" dirty="0"/>
          </a:p>
          <a:p>
            <a:pPr/>
            <a:r>
              <a:rPr lang="zh-CN" dirty="0"/>
              <a:t>三，举出一个「训练指标好看、模型其实没用」的具体情形，并指出这时该看哪个指标。</a:t>
            </a:r>
          </a:p>
          <a:p>
            <a:pPr/>
            <a:endParaRPr lang="zh-CN" dirty="0"/>
          </a:p>
          <a:p>
            <a:pPr/>
            <a:r>
              <a:rPr lang="zh-CN" dirty="0"/>
              <a:t>这三个问题后面都会当场问、当场检验，不是听完就算。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【路线图】今天只讲三块。</a:t>
            </a:r>
          </a:p>
          <a:p>
            <a:pPr/>
            <a:endParaRPr lang="zh-CN" dirty="0"/>
          </a:p>
          <a:p>
            <a:pPr/>
            <a:r>
              <a:rPr lang="zh-CN" dirty="0"/>
              <a:t>第一块，机器学习在做什么，四分半：它不写规则，而是用数据把参数定下来，由数据、模型、目标函数、优化算法四个零件组成。</a:t>
            </a:r>
          </a:p>
          <a:p>
            <a:pPr/>
            <a:endParaRPr lang="zh-CN" dirty="0"/>
          </a:p>
          <a:p>
            <a:pPr/>
            <a:r>
              <a:rPr lang="zh-CN" dirty="0"/>
              <a:t>第二块，机器学习有哪些类型，三分半：监督、无监督、强化学习分别在什么情况下用。</a:t>
            </a:r>
          </a:p>
          <a:p>
            <a:pPr/>
            <a:endParaRPr lang="zh-CN" dirty="0"/>
          </a:p>
          <a:p>
            <a:pPr/>
            <a:r>
              <a:rPr lang="zh-CN" dirty="0"/>
              <a:t>第三块，怎么知道真的学会了，四分半：训练误差小不等于泛化好，指标也要按任务选。最后留一分钟总结。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【模块一过渡】这一块只回答两个问题：为什么可以不写规则？不写规则的话，程序靠什么决定行为？</a:t>
            </a:r>
          </a:p>
          <a:p>
            <a:pPr/>
            <a:endParaRPr lang="zh-CN" dirty="0"/>
          </a:p>
          <a:p>
            <a:pPr/>
            <a:r>
              <a:rPr lang="zh-CN" dirty="0"/>
              <a:t>答案是把行为交给一组可以调整的参数，再用数据把这组参数定下来。</a:t>
            </a:r>
          </a:p>
          <a:p>
            <a:pPr/>
            <a:endParaRPr lang="zh-CN" dirty="0"/>
          </a:p>
          <a:p>
            <a:pPr/>
            <a:r>
              <a:rPr lang="zh-CN" dirty="0"/>
              <a:t>听完这一块，你应该能说出这件事的四个关键组件，并说清为什么缺一不可。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【严谨定义，讲的时候口头补全】参数：由训练数据决定的数；模型：一组参数确定下来的输入输出映射；</a:t>
            </a:r>
          </a:p>
          <a:p>
            <a:pPr/>
            <a:endParaRPr lang="zh-CN" dirty="0"/>
          </a:p>
          <a:p>
            <a:pPr/>
            <a:r>
              <a:rPr lang="zh-CN" dirty="0"/>
              <a:t>模型族：调参数能得到的所有映射的集合；学习算法：用数据从模型族里挑参数的算法。</a:t>
            </a:r>
          </a:p>
          <a:p>
            <a:pPr/>
            <a:endParaRPr lang="zh-CN" dirty="0"/>
          </a:p>
          <a:p>
            <a:pPr/>
            <a:r>
              <a:rPr lang="zh-CN" dirty="0"/>
              <a:t>左边是传统编程：规则是人写死的，程序不会因为见了更多情况自己变好。右边是机器学习：我们给的是例子，程序自己定参数。</a:t>
            </a:r>
          </a:p>
          <a:p>
            <a:pPr/>
            <a:endParaRPr lang="zh-CN" dirty="0"/>
          </a:p>
          <a:p>
            <a:pPr/>
            <a:r>
              <a:rPr lang="zh-CN" dirty="0"/>
              <a:t>下面四步就是一次典型训练：初始化参数 → 取一批样本 → 调整参数让表现变好 → 重复。</a:t>
            </a:r>
          </a:p>
          <a:p>
            <a:pPr/>
            <a:endParaRPr lang="zh-CN" dirty="0"/>
          </a:p>
          <a:p>
            <a:pPr/>
            <a:r>
              <a:rPr lang="zh-CN" dirty="0"/>
              <a:t>注意第 3 步之后要回到第 2 步，不是一次算完；这一点学生最容易以为「训练就是一次性求解」。</a:t>
            </a:r>
          </a:p>
          <a:p>
            <a:pPr/>
            <a:endParaRPr lang="zh-CN" dirty="0"/>
          </a:p>
          <a:p>
            <a:pPr/>
            <a:r>
              <a:rPr lang="zh-CN" dirty="0"/>
              <a:t>【类比】参数可以想成机器面板上的旋钮。类比只是帮助理解，不等于定义：旋钮暗示一次就能拧到位，真实训练是一步步试出来的。</a:t>
            </a:r>
          </a:p>
          <a:p>
            <a:pPr/>
            <a:endParaRPr lang="zh-CN" dirty="0"/>
          </a:p>
          <a:p>
            <a:pPr/>
            <a:r>
              <a:rPr lang="zh-CN" dirty="0"/>
              <a:t>【边界】这条路成立的前提是「规则难写」且「例子足够多」。如果规则很清楚、数据又少，老老实实写规则更划算。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【严谨定义】</a:t>
            </a:r>
          </a:p>
          <a:p>
            <a:pPr/>
            <a:endParaRPr lang="zh-CN" dirty="0"/>
          </a:p>
          <a:p>
            <a:pPr/>
            <a:r>
              <a:rPr lang="zh-CN" dirty="0"/>
              <a:t>数据：一批样本，每个样本由特征（输入）和标签（要预测的答案）组成。</a:t>
            </a:r>
          </a:p>
          <a:p>
            <a:pPr/>
            <a:endParaRPr lang="zh-CN" dirty="0"/>
          </a:p>
          <a:p>
            <a:pPr/>
            <a:r>
              <a:rPr lang="zh-CN" dirty="0"/>
              <a:t>模型：把输入映射成输出的函数，函数里带着还没有确定的参数。</a:t>
            </a:r>
          </a:p>
          <a:p>
            <a:pPr/>
            <a:endParaRPr lang="zh-CN" dirty="0"/>
          </a:p>
          <a:p>
            <a:pPr/>
            <a:r>
              <a:rPr lang="zh-CN" dirty="0"/>
              <a:t>目标函数：衡量模型好坏的函数。习惯上取「越小越好」，这时叫损失函数；也可以定义成越大越好，两者只差一个符号。</a:t>
            </a:r>
          </a:p>
          <a:p>
            <a:pPr/>
            <a:endParaRPr lang="zh-CN" dirty="0"/>
          </a:p>
          <a:p>
            <a:pPr/>
            <a:r>
              <a:rPr lang="zh-CN" dirty="0"/>
              <a:t>优化算法：在参数空间里搜索，让目标函数变小的算法。</a:t>
            </a:r>
          </a:p>
          <a:p>
            <a:pPr/>
            <a:endParaRPr lang="zh-CN" dirty="0"/>
          </a:p>
          <a:p>
            <a:pPr/>
            <a:r>
              <a:rPr lang="zh-CN" dirty="0"/>
              <a:t>【为什么是这四个】这是本书第 1 章强调的框架：不论什么问题，都要有经验（数据）、有做出预测的东西（模型）、</a:t>
            </a:r>
          </a:p>
          <a:p>
            <a:pPr/>
            <a:endParaRPr lang="zh-CN" dirty="0"/>
          </a:p>
          <a:p>
            <a:pPr/>
            <a:r>
              <a:rPr lang="zh-CN" dirty="0"/>
              <a:t>有判断好坏的标尺（目标函数）、有调整参数的办法（优化算法）。</a:t>
            </a:r>
          </a:p>
          <a:p>
            <a:pPr/>
            <a:endParaRPr lang="zh-CN" dirty="0"/>
          </a:p>
          <a:p>
            <a:pPr/>
            <a:r>
              <a:rPr lang="zh-CN" dirty="0"/>
              <a:t>【条件边界】目标函数不只有平方误差：预测数值常用平方误差，预测类别更常用错误率；</a:t>
            </a:r>
          </a:p>
          <a:p>
            <a:pPr/>
            <a:endParaRPr lang="zh-CN" dirty="0"/>
          </a:p>
          <a:p>
            <a:pPr/>
            <a:r>
              <a:rPr lang="zh-CN" dirty="0"/>
              <a:t>有些目标（比如错误率）不好直接优化，实际会换成一个更容易优化的替代目标。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【严谨定义】样本：一次观测，表格里的一行；特征 x：用来做预测的输入；标签 y：想要预测的目标。</a:t>
            </a:r>
          </a:p>
          <a:p>
            <a:pPr/>
            <a:endParaRPr lang="zh-CN" dirty="0"/>
          </a:p>
          <a:p>
            <a:pPr/>
            <a:r>
              <a:rPr lang="zh-CN" dirty="0"/>
              <a:t>通常还会假设样本之间「独立同分布」——简单说就是每一个样本都来自同一套规律，而且互不影响。</a:t>
            </a:r>
          </a:p>
          <a:p>
            <a:pPr/>
            <a:endParaRPr lang="zh-CN" dirty="0"/>
          </a:p>
          <a:p>
            <a:pPr/>
            <a:r>
              <a:rPr lang="zh-CN" dirty="0"/>
              <a:t>这组电机标定数据只有 18 个样本，我故意做小的，小到可以在纸上算一遍；屏幕上只放了其中 6 行，完整数据在 assets/pwm_speed.csv。</a:t>
            </a:r>
          </a:p>
          <a:p>
            <a:pPr/>
            <a:endParaRPr lang="zh-CN" dirty="0"/>
          </a:p>
          <a:p>
            <a:pPr/>
            <a:r>
              <a:rPr lang="zh-CN" dirty="0"/>
              <a:t>【数据的两个常见坑，务必说】</a:t>
            </a:r>
          </a:p>
          <a:p>
            <a:pPr/>
            <a:endParaRPr lang="zh-CN" dirty="0"/>
          </a:p>
          <a:p>
            <a:pPr/>
            <a:r>
              <a:rPr lang="zh-CN" dirty="0"/>
              <a:t>一是垃圾进、垃圾出：特征记错了、单位混了，模型学到的就是错的规律。</a:t>
            </a:r>
          </a:p>
          <a:p>
            <a:pPr/>
            <a:endParaRPr lang="zh-CN" dirty="0"/>
          </a:p>
          <a:p>
            <a:pPr/>
            <a:r>
              <a:rPr lang="zh-CN" dirty="0"/>
              <a:t>二是数据不具代表性：如果训练数据里从来没有出现过某种情况（比如只在实验室地板上采过数据、只见过浅色皮肤的训练样本），</a:t>
            </a:r>
          </a:p>
          <a:p>
            <a:pPr/>
            <a:endParaRPr lang="zh-CN" dirty="0"/>
          </a:p>
          <a:p>
            <a:pPr/>
            <a:r>
              <a:rPr lang="zh-CN" dirty="0"/>
              <a:t>模型在真遇到这种情况时会束手无策。类别严重不均衡时，还会把历史上的偏见一起自动化。</a:t>
            </a:r>
          </a:p>
          <a:p>
            <a:pPr/>
            <a:endParaRPr lang="zh-CN" dirty="0"/>
          </a:p>
          <a:p>
            <a:pPr/>
            <a:r>
              <a:rPr lang="zh-CN" dirty="0"/>
              <a:t>这也是机器人上最常见的问题：实验室数据和赛场数据根本不是同一个分布。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【互动 4:50，先猜再讲，检查是否理解目标函数是可比较的数】</a:t>
            </a:r>
          </a:p>
          <a:p>
            <a:pPr/>
            <a:endParaRPr lang="zh-CN" dirty="0"/>
          </a:p>
          <a:p>
            <a:pPr/>
            <a:r>
              <a:rPr lang="zh-CN" dirty="0"/>
              <a:t>图上是同一组数据的两种拟合：A 平一些，B 更贴合。问题：哪一条的 MSE 更小？先举手，再听我说。</a:t>
            </a:r>
          </a:p>
          <a:p>
            <a:pPr/>
            <a:endParaRPr lang="zh-CN" dirty="0"/>
          </a:p>
          <a:p>
            <a:pPr/>
            <a:r>
              <a:rPr lang="zh-CN" dirty="0"/>
              <a:t>答案：B。A 的 MSE 是 16333.5，B 的 MSE 是 92.6，差了 176 倍。</a:t>
            </a:r>
          </a:p>
          <a:p>
            <a:pPr/>
            <a:endParaRPr lang="zh-CN" dirty="0"/>
          </a:p>
          <a:p>
            <a:pPr/>
            <a:r>
              <a:rPr lang="zh-CN" dirty="0"/>
              <a:t>要点不是猜对没猜对，而是：模型好不好，可以压缩成一个数来比。这就是目标函数存在的意义。</a:t>
            </a:r>
          </a:p>
          <a:p>
            <a:pPr/>
            <a:endParaRPr lang="zh-CN" dirty="0"/>
          </a:p>
          <a:p>
            <a:pPr/>
            <a:r>
              <a:rPr lang="zh-CN" dirty="0"/>
              <a:t>【严谨定义】均方误差 MSE = (1/N)·Σ(预测值 − 实测值)²，是回归问题最常见的损失函数之一。</a:t>
            </a:r>
          </a:p>
          <a:p>
            <a:pPr/>
            <a:endParaRPr lang="zh-CN" dirty="0"/>
          </a:p>
          <a:p>
            <a:pPr/>
            <a:r>
              <a:rPr lang="zh-CN" dirty="0"/>
              <a:t>【条件边界】目标函数不等于 MSE：预测类别时更常用「错误率」，也就是预测错的样本比例；</a:t>
            </a:r>
          </a:p>
          <a:p>
            <a:pPr/>
            <a:endParaRPr lang="zh-CN" dirty="0"/>
          </a:p>
          <a:p>
            <a:pPr/>
            <a:r>
              <a:rPr lang="zh-CN" dirty="0"/>
              <a:t>有些目标（如错误率）不好直接优化，实践中会换成一个容易优化的替代目标。</a:t>
            </a:r>
          </a:p>
          <a:p>
            <a:pPr/>
            <a:endParaRPr lang="zh-CN" dirty="0"/>
          </a:p>
          <a:p>
            <a:pPr/>
            <a:r>
              <a:rPr lang="zh-CN" dirty="0"/>
              <a:t>【边界追问】换成「判断该不该转向」这种分类任务，还能用 MSE 吗？不推荐——分类问题更自然是看「错了多少」。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现在问：知道了好坏的标尺，怎么把参数调好？答案就是优化算法，最基本的是梯度下降。</a:t>
            </a:r>
          </a:p>
          <a:p>
            <a:pPr/>
            <a:endParaRPr lang="zh-CN" dirty="0"/>
          </a:p>
          <a:p>
            <a:pPr/>
            <a:r>
              <a:rPr lang="zh-CN" dirty="0"/>
              <a:t>准确的说法：对损失函数求关于参数的梯度，然后沿负梯度方向更新参数。梯度就是「每个参数小幅变动时，损失往哪边动」。</a:t>
            </a:r>
          </a:p>
          <a:p>
            <a:pPr/>
            <a:endParaRPr lang="zh-CN" dirty="0"/>
          </a:p>
          <a:p>
            <a:pPr/>
            <a:r>
              <a:rPr lang="zh-CN" dirty="0"/>
              <a:t>【类比映射】参数是你的位置，损失是海拔，梯度是脚下的坡向，学习率是每一步跨多大，最低点就是拟合最好的那组参数。</a:t>
            </a:r>
          </a:p>
          <a:p>
            <a:pPr/>
            <a:endParaRPr lang="zh-CN" dirty="0"/>
          </a:p>
          <a:p>
            <a:pPr/>
            <a:r>
              <a:rPr lang="zh-CN" dirty="0"/>
              <a:t>【类比说明】下山只是帮助理解，不等于定义。</a:t>
            </a:r>
          </a:p>
          <a:p>
            <a:pPr/>
            <a:endParaRPr lang="zh-CN" dirty="0"/>
          </a:p>
          <a:p>
            <a:pPr/>
            <a:r>
              <a:rPr lang="zh-CN" dirty="0"/>
              <a:t>【条件边界】真实的损失曲面不是一座光滑的山，可能有高原、峡谷和很多个坑；梯度下降只保证在凸的、光滑的面上收敛到全局最低点。</a:t>
            </a:r>
          </a:p>
          <a:p>
            <a:pPr/>
            <a:endParaRPr lang="zh-CN" dirty="0"/>
          </a:p>
          <a:p>
            <a:pPr/>
            <a:r>
              <a:rPr lang="zh-CN" dirty="0"/>
              <a:t>学习率太大，参数会在最低点两侧越跳越远；太小则半天挪不动。这两句话的数学版本（收敛条件 0 &lt; ηc &lt; 2、归一化的作用）都在讲义里。</a:t>
            </a:r>
          </a:p>
          <a:p>
            <a:pPr/>
            <a:endParaRPr lang="zh-CN" dirty="0"/>
          </a:p>
          <a:p>
            <a:pPr/>
            <a:r>
              <a:rPr lang="zh-CN" dirty="0"/>
              <a:t>【范围】这只是优化算法里最基本的一种，不是唯一一种；本课不需要会推导，只要知道它在做什么。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【模块一小结 + 过渡】三句话。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第一，这一块讲的是：机器学习不写规则，而是用数据把模型的参数定下来——这叫用数据编程。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第二，它重要，因为数据、模型、目标函数、优化算法是后面所有内容的共同骨架，深度学习也一样。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第三，和下一块的关系是——四个零件知道了，接下来要问：我要解决的到底是哪一类问题？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【模块二过渡】上一块讲了机器学习的零件，这一块讲它的「题型」。</a:t>
            </a:r>
          </a:p>
          <a:p>
            <a:pPr/>
            <a:endParaRPr lang="zh-CN" dirty="0"/>
          </a:p>
          <a:p>
            <a:pPr/>
            <a:r>
              <a:rPr lang="zh-CN" dirty="0"/>
              <a:t>判断分两步：第一，数据有没有标准答案（标签）？有就是监督学习，没有就是无监督学习。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第二，要不要一边做一边和环境打交道、靠奖励改进？要的话是强化学习。</a:t>
            </a:r>
          </a:p>
          <a:p>
            <a:pPr/>
            <a:endParaRPr lang="zh-CN" dirty="0"/>
          </a:p>
          <a:p>
            <a:pPr/>
            <a:r>
              <a:rPr lang="zh-CN" dirty="0"/>
              <a:t>听完这一块，你拿到一个新任务，应该能先给它贴上类型标签，再去想用什么方法。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【严谨定义】监督学习：训练数据里每个样本都带着正确答案（标签），目标是学一个从输入到标签的映射。</a:t>
            </a:r>
          </a:p>
          <a:p>
            <a:pPr/>
            <a:endParaRPr lang="zh-CN" dirty="0"/>
          </a:p>
          <a:p>
            <a:pPr/>
            <a:r>
              <a:rPr lang="zh-CN" dirty="0"/>
              <a:t>三步：先收集带标签的训练数据（有的本来就有标签，有的要人工标注），再用学习算法训练出模型，最后把没见过的新样本喂给模型拿预测。</a:t>
            </a:r>
          </a:p>
          <a:p>
            <a:pPr/>
            <a:endParaRPr lang="zh-CN" dirty="0"/>
          </a:p>
          <a:p>
            <a:pPr/>
            <a:r>
              <a:rPr lang="zh-CN" dirty="0"/>
              <a:t>回归 vs 分类：输出一个数值是回归（比如预测速度、预测房价）；输出一个类别是分类（比如判断该不该转向、是不是垃圾邮件）。</a:t>
            </a:r>
          </a:p>
          <a:p>
            <a:pPr/>
            <a:endParaRPr lang="zh-CN" dirty="0"/>
          </a:p>
          <a:p>
            <a:pPr/>
            <a:r>
              <a:rPr lang="zh-CN" dirty="0"/>
              <a:t>为什么要在意这个区别：它决定了目标函数和评价指标的选法——回归看误差大小，分类看错了多少。</a:t>
            </a:r>
          </a:p>
          <a:p>
            <a:pPr/>
            <a:endParaRPr lang="zh-CN" dirty="0"/>
          </a:p>
          <a:p>
            <a:pPr/>
            <a:r>
              <a:rPr lang="zh-CN" dirty="0"/>
              <a:t>【延伸，一句话带过】监督学习还有别的形态：一张图里可以同时有多个标签（标记问题）；</a:t>
            </a:r>
          </a:p>
          <a:p>
            <a:pPr/>
            <a:endParaRPr lang="zh-CN" dirty="0"/>
          </a:p>
          <a:p>
            <a:pPr/>
            <a:r>
              <a:rPr lang="zh-CN" dirty="0"/>
              <a:t>搜索结果要排序（搜索）；给用户推荐商品（推荐系统）；输入输出都是变长序列，比如语音和翻译（序列学习）。这些都在讲义里。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【严谨定义】</a:t>
            </a:r>
          </a:p>
          <a:p>
            <a:pPr/>
            <a:endParaRPr lang="zh-CN" dirty="0"/>
          </a:p>
          <a:p>
            <a:pPr/>
            <a:r>
              <a:rPr lang="zh-CN" dirty="0"/>
              <a:t>无监督学习：数据里没有标签，目标是从数据本身找结构。最典型的任务是聚类（把相似的样本归到一起），</a:t>
            </a:r>
          </a:p>
          <a:p>
            <a:pPr/>
            <a:endParaRPr lang="zh-CN" dirty="0"/>
          </a:p>
          <a:p>
            <a:pPr/>
            <a:r>
              <a:rPr lang="zh-CN" dirty="0"/>
              <a:t>还有降维（用少数几个量概括数据的主要变化）。注意：无监督不等于没有目标函数，只是目标不再是「逼近标签」。</a:t>
            </a:r>
          </a:p>
          <a:p>
            <a:pPr/>
            <a:endParaRPr lang="zh-CN" dirty="0"/>
          </a:p>
          <a:p>
            <a:pPr/>
            <a:r>
              <a:rPr lang="zh-CN" dirty="0"/>
              <a:t>强化学习：智能体与环境反复交互，采取动作、得到奖励，目标是让长期累积的奖励最大。</a:t>
            </a:r>
          </a:p>
          <a:p>
            <a:pPr/>
            <a:endParaRPr lang="zh-CN" dirty="0"/>
          </a:p>
          <a:p>
            <a:pPr/>
            <a:r>
              <a:rPr lang="zh-CN" dirty="0"/>
              <a:t>它和监督学习最大的差别是：环境不会告诉你每个观测下的最优动作，只给一个奖励信号，</a:t>
            </a:r>
          </a:p>
          <a:p>
            <a:pPr/>
            <a:endParaRPr lang="zh-CN" dirty="0"/>
          </a:p>
          <a:p>
            <a:pPr/>
            <a:r>
              <a:rPr lang="zh-CN" dirty="0"/>
              <a:t>所以还要解决「credit assignment」——到底是哪一步动作带来了奖励。</a:t>
            </a:r>
          </a:p>
          <a:p>
            <a:pPr/>
            <a:endParaRPr lang="zh-CN" dirty="0"/>
          </a:p>
          <a:p>
            <a:pPr/>
            <a:r>
              <a:rPr lang="zh-CN" dirty="0"/>
              <a:t>【边界与例子】强化学习最好的舞台是「能大量试错」的场景，比如仿真环境里让小车练走迷宫。</a:t>
            </a:r>
          </a:p>
          <a:p>
            <a:pPr/>
            <a:endParaRPr lang="zh-CN" dirty="0"/>
          </a:p>
          <a:p>
            <a:pPr/>
            <a:r>
              <a:rPr lang="zh-CN" dirty="0"/>
              <a:t>真车上试错代价很高，所以一般先在仿真里练，再迁移到真车——这也是「训练分布和现场分布不一致」的一个来源。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【互动 8:30，检查是否抓住了「有没有标签、要不要与环境互动」这条分界线】</a:t>
            </a:r>
          </a:p>
          <a:p>
            <a:pPr/>
            <a:endParaRPr lang="zh-CN" dirty="0"/>
          </a:p>
          <a:p>
            <a:pPr/>
            <a:r>
              <a:rPr lang="zh-CN" dirty="0"/>
              <a:t>念三个任务，请大家举手选择：监督学习、无监督学习、还是强化学习。先给判断，再听答案。</a:t>
            </a:r>
          </a:p>
          <a:p>
            <a:pPr/>
            <a:endParaRPr lang="zh-CN" dirty="0"/>
          </a:p>
          <a:p>
            <a:pPr/>
            <a:r>
              <a:rPr lang="zh-CN" dirty="0"/>
              <a:t>答案：A 是监督学习里的回归——每个 PWM 都有实测速度作为标签，输出是一个数值。</a:t>
            </a:r>
          </a:p>
          <a:p>
            <a:pPr/>
            <a:endParaRPr lang="zh-CN" dirty="0"/>
          </a:p>
          <a:p>
            <a:pPr/>
            <a:r>
              <a:rPr lang="zh-CN" dirty="0"/>
              <a:t>B 是无监督学习——没有标签，目标是把相似的样本归到一起。</a:t>
            </a:r>
          </a:p>
          <a:p>
            <a:pPr/>
            <a:endParaRPr lang="zh-CN" dirty="0"/>
          </a:p>
          <a:p>
            <a:pPr/>
            <a:r>
              <a:rPr lang="zh-CN" dirty="0"/>
              <a:t>C 是强化学习——没有标准答案，只有奖励信号，而且动作会影响后面看到的情况。</a:t>
            </a:r>
          </a:p>
          <a:p>
            <a:pPr/>
            <a:endParaRPr lang="zh-CN" dirty="0"/>
          </a:p>
          <a:p>
            <a:pPr/>
            <a:r>
              <a:rPr lang="zh-CN" dirty="0"/>
              <a:t>【边界追问】同一个任务能不能换一种学习方式？能。比如「永远输出不需要转向」这种模型，</a:t>
            </a:r>
          </a:p>
          <a:p>
            <a:pPr/>
            <a:endParaRPr lang="zh-CN" dirty="0"/>
          </a:p>
          <a:p>
            <a:pPr/>
            <a:r>
              <a:rPr lang="zh-CN" dirty="0"/>
              <a:t>在数据里只有「需要/不需要」两个标签时是分类；如果改成让小车自己上路试错、用碰撞来扣分，它就变成强化学习了。</a:t>
            </a:r>
          </a:p>
          <a:p>
            <a:pPr/>
            <a:endParaRPr lang="zh-CN" dirty="0"/>
          </a:p>
          <a:p>
            <a:pPr/>
            <a:r>
              <a:rPr lang="zh-CN" dirty="0"/>
              <a:t>所以类型不是任务自带的属性，而是取决于你手上有什么数据、允许不允许试错。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【模块二小结 + 过渡】三句话。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第一，这一块讲的是：数据有标签就是监督学习（输出数值是回归，输出类别是分类），没有标签是无监督学习，要和环境互动是强化学习。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第二，它重要，因为任务类型决定了能用什么方法、该看什么指标——拿分类的指标去评价回归模型，结论一定是错的。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第三，和下一块的关系是——类型选对了，还要能判断这个模型是不是真的学会了，而不是把答案背下来了。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【模块三过渡】前面两块讲清了「机器学习是什么」和「有哪些类型」，这一块讲「怎么判断它学得好不好」。</a:t>
            </a:r>
          </a:p>
          <a:p>
            <a:pPr/>
            <a:endParaRPr lang="zh-CN" dirty="0"/>
          </a:p>
          <a:p>
            <a:pPr/>
            <a:r>
              <a:rPr lang="zh-CN" dirty="0"/>
              <a:t>先抛一个问题：如果模型在训练数据上几乎不出错，能不能直接上车？答案是不能。</a:t>
            </a:r>
          </a:p>
          <a:p>
            <a:pPr/>
            <a:endParaRPr lang="zh-CN" dirty="0"/>
          </a:p>
          <a:p>
            <a:pPr/>
            <a:r>
              <a:rPr lang="zh-CN" dirty="0"/>
              <a:t>这一块要给出判断方法：看它在没见过的数据上表现如何，以及指标本身会不会骗人。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【严谨定义】欠拟合：模型复杂度不够，训练误差本身就明显偏高，测试误差也高。</a:t>
            </a:r>
          </a:p>
          <a:p>
            <a:pPr/>
            <a:endParaRPr lang="zh-CN" dirty="0"/>
          </a:p>
          <a:p>
            <a:pPr/>
            <a:r>
              <a:rPr lang="zh-CN" dirty="0"/>
              <a:t>过拟合：模型把训练数据里的噪声也学进去了，训练误差很低，但测试误差明显变大。</a:t>
            </a:r>
          </a:p>
          <a:p>
            <a:pPr/>
            <a:endParaRPr lang="zh-CN" dirty="0"/>
          </a:p>
          <a:p>
            <a:pPr/>
            <a:r>
              <a:rPr lang="zh-CN" dirty="0"/>
              <a:t>【判定条件】必须同时看训练误差和测试误差两条线，只看一个判断不了：训练误差小只说明「背得熟」，测试误差才反映「会不会做新题」。</a:t>
            </a:r>
          </a:p>
          <a:p>
            <a:pPr/>
            <a:endParaRPr lang="zh-CN" dirty="0"/>
          </a:p>
          <a:p>
            <a:pPr/>
            <a:r>
              <a:rPr lang="zh-CN" dirty="0"/>
              <a:t>【三个数据集的分工】训练集用来调参数；验证集用来比较模型、调超参数；测试集只在最后评估一次。</a:t>
            </a:r>
          </a:p>
          <a:p>
            <a:pPr/>
            <a:endParaRPr lang="zh-CN" dirty="0"/>
          </a:p>
          <a:p>
            <a:pPr/>
            <a:r>
              <a:rPr lang="zh-CN" dirty="0"/>
              <a:t>反复拿测试集挑模型，它实际上就变成了验证集，评估结果会偏乐观。</a:t>
            </a:r>
          </a:p>
          <a:p>
            <a:pPr/>
            <a:endParaRPr lang="zh-CN" dirty="0"/>
          </a:p>
          <a:p>
            <a:pPr/>
            <a:r>
              <a:rPr lang="zh-CN" dirty="0"/>
              <a:t>【类比说明】训练集是平时作业、验证集是模拟考、测试集是期末卷。类比只是帮助理解，不等于定义：</a:t>
            </a:r>
          </a:p>
          <a:p>
            <a:pPr/>
            <a:endParaRPr lang="zh-CN" dirty="0"/>
          </a:p>
          <a:p>
            <a:pPr/>
            <a:r>
              <a:rPr lang="zh-CN" dirty="0"/>
              <a:t>真实场景里训练数据和现场数据可能根本不是同一个分布——这才是机器人上最常踩的坑，比如只在实验室地板上采过数据。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【互动 11:20，检查是否理解类别不平衡时准确率会骗人】</a:t>
            </a:r>
          </a:p>
          <a:p>
            <a:pPr/>
            <a:endParaRPr lang="zh-CN" dirty="0"/>
          </a:p>
          <a:p>
            <a:pPr/>
            <a:r>
              <a:rPr lang="zh-CN" dirty="0"/>
              <a:t>再看一个例子。任务是判断小车这个时刻需不需要转向。1000 个样本里，950 个其实不需要转，只有 50 个需要。</a:t>
            </a:r>
          </a:p>
          <a:p>
            <a:pPr/>
            <a:endParaRPr lang="zh-CN" dirty="0"/>
          </a:p>
          <a:p>
            <a:pPr/>
            <a:r>
              <a:rPr lang="zh-CN" dirty="0"/>
              <a:t>现在有个模型，永远输出「不需要转向」。问题：它的准确率是多少？它有用吗？先说出你的答案。</a:t>
            </a:r>
          </a:p>
          <a:p>
            <a:pPr/>
            <a:endParaRPr lang="zh-CN" dirty="0"/>
          </a:p>
          <a:p>
            <a:pPr/>
            <a:r>
              <a:rPr lang="zh-CN" dirty="0"/>
              <a:t>准确率是 95%。但它一个该转向的时刻都没抓住——召回率 0%。在车上，漏掉一次该转的时刻就是撞上去。所以这个模型毫无用处。</a:t>
            </a:r>
          </a:p>
          <a:p>
            <a:pPr/>
            <a:endParaRPr lang="zh-CN" dirty="0"/>
          </a:p>
          <a:p>
            <a:pPr/>
            <a:r>
              <a:rPr lang="zh-CN" dirty="0"/>
              <a:t>【条件变化追问】那如果我把阈值从 0.5 调低，让它更容易报「需要转向」呢？漏报会减少，但误报会变多。</a:t>
            </a:r>
          </a:p>
          <a:p>
            <a:pPr/>
            <a:endParaRPr lang="zh-CN" dirty="0"/>
          </a:p>
          <a:p>
            <a:pPr/>
            <a:r>
              <a:rPr lang="zh-CN" dirty="0"/>
              <a:t>阈值怎么选，取决于两类错误哪一种代价更大。</a:t>
            </a:r>
          </a:p>
          <a:p>
            <a:pPr/>
            <a:endParaRPr lang="zh-CN" dirty="0"/>
          </a:p>
          <a:p>
            <a:pPr/>
            <a:r>
              <a:rPr lang="zh-CN" dirty="0"/>
              <a:t>【为什么这题和「数据」有关】这一类问题往往源于数据本身的类别不均衡：需要转向的样本只占 5%，</a:t>
            </a:r>
          </a:p>
          <a:p>
            <a:pPr/>
            <a:endParaRPr lang="zh-CN" dirty="0"/>
          </a:p>
          <a:p>
            <a:pPr/>
            <a:r>
              <a:rPr lang="zh-CN" dirty="0"/>
              <a:t>模型只要全判「不需要转」就能拿到很高的准确率——这也是数据不具代表性的一种表现。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这页把刚才的例子摆成表格。左边一列是预测，上面一行是真实情况。</a:t>
            </a:r>
          </a:p>
          <a:p>
            <a:pPr/>
            <a:endParaRPr lang="zh-CN" dirty="0"/>
          </a:p>
          <a:p>
            <a:pPr/>
            <a:r>
              <a:rPr lang="zh-CN" dirty="0"/>
              <a:t>模型只在右下角是对的：950 个不需要转的，它全判对了；50 个需要转的，它一个都没抓到。</a:t>
            </a:r>
          </a:p>
          <a:p>
            <a:pPr/>
            <a:endParaRPr lang="zh-CN" dirty="0"/>
          </a:p>
          <a:p>
            <a:pPr/>
            <a:r>
              <a:rPr lang="zh-CN" dirty="0"/>
              <a:t>【严谨定义】准确率 = (TP + TN) / 总数，这里 (0 + 950) / 1000 = 95%。</a:t>
            </a:r>
          </a:p>
          <a:p>
            <a:pPr/>
            <a:endParaRPr lang="zh-CN" dirty="0"/>
          </a:p>
          <a:p>
            <a:pPr/>
            <a:r>
              <a:rPr lang="zh-CN" dirty="0"/>
              <a:t>召回率 = TP / (TP + FN) = 0 / 50 = 0，意思是「该抓住的抓住了多少」。</a:t>
            </a:r>
          </a:p>
          <a:p>
            <a:pPr/>
            <a:endParaRPr lang="zh-CN" dirty="0"/>
          </a:p>
          <a:p>
            <a:pPr/>
            <a:r>
              <a:rPr lang="zh-CN" dirty="0"/>
              <a:t>精确率 = TP / (TP + FP) = 0 / 0，本例没有定义。</a:t>
            </a:r>
          </a:p>
          <a:p>
            <a:pPr/>
            <a:endParaRPr lang="zh-CN" dirty="0"/>
          </a:p>
          <a:p>
            <a:pPr/>
            <a:r>
              <a:rPr lang="zh-CN" dirty="0"/>
              <a:t>【边界，容易被漏掉的一点】精确率不能写成 0%——这个模型从来不给出「需要转向」的预测，精确率的分母是 0，数学上无意义。</a:t>
            </a:r>
          </a:p>
          <a:p>
            <a:pPr/>
            <a:endParaRPr lang="zh-CN" dirty="0"/>
          </a:p>
          <a:p>
            <a:pPr/>
            <a:r>
              <a:rPr lang="zh-CN" dirty="0"/>
              <a:t>【适用条件与范围】准确率只在两类样本大致均衡、两种错误代价相当时才好用；类别不平衡时它会失真。</a:t>
            </a:r>
          </a:p>
          <a:p>
            <a:pPr/>
            <a:endParaRPr lang="zh-CN" dirty="0"/>
          </a:p>
          <a:p>
            <a:pPr/>
            <a:r>
              <a:rPr lang="zh-CN" dirty="0"/>
              <a:t>这个例子里漏报代价很高，所以说「漏报比误报贵」——换一个任务就不一定了，比如误触发急停同样危险。阈值 0.5 只是习惯，实际要按两类错误的代价来选。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【模块三小结】三句话。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第一，这一块讲的是：训练集上表现好不等于泛化好；评价一个模型要按任务选指标，不能只看准确率。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第二，它重要，因为实验室里表现好的模型，换到车上可能完全不能用——这正是从「会训练」走到「能上车」的那一步。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第三，到这里整条链就串完了：用数据编程 → 数据、模型、目标函数、优化算法 → 问题类型 → 泛化与评价。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【总结，回到开场三问】开场的三个问题，现在回答一下。</a:t>
            </a:r>
          </a:p>
          <a:p>
            <a:pPr/>
            <a:endParaRPr lang="zh-CN" dirty="0"/>
          </a:p>
          <a:p>
            <a:pPr/>
            <a:r>
              <a:rPr lang="zh-CN" dirty="0"/>
              <a:t>第一，为什么可以不写规则？因为有些问题的规则根本写不全，但例子要多少有多少——机器学习用数据把参数定下来，这叫用数据编程。</a:t>
            </a:r>
          </a:p>
          <a:p>
            <a:pPr/>
            <a:endParaRPr lang="zh-CN" dirty="0"/>
          </a:p>
          <a:p>
            <a:pPr/>
            <a:r>
              <a:rPr lang="zh-CN" dirty="0"/>
              <a:t>第二，常见的问题类型有哪些？有标签是监督学习（输出数值是回归、输出类别是分类），没标签是无监督学习，要和环境互动、靠奖励改进是强化学习。</a:t>
            </a:r>
          </a:p>
          <a:p>
            <a:pPr/>
            <a:endParaRPr lang="zh-CN" dirty="0"/>
          </a:p>
          <a:p>
            <a:pPr/>
            <a:r>
              <a:rPr lang="zh-CN" dirty="0"/>
              <a:t>第三，怎么知道它真的学会了？在它没见过的数据上看——训练误差小不代表泛化好，准确率高也不代表模型有用。</a:t>
            </a:r>
          </a:p>
          <a:p>
            <a:pPr/>
            <a:endParaRPr lang="zh-CN" dirty="0"/>
          </a:p>
          <a:p>
            <a:pPr/>
            <a:r>
              <a:rPr lang="zh-CN" dirty="0"/>
              <a:t>下一步行动：用自己的话把四个关键组件复述一遍；给身边三个任务各贴一个类型标签；</a:t>
            </a:r>
          </a:p>
          <a:p>
            <a:pPr/>
            <a:endParaRPr lang="zh-CN" dirty="0"/>
          </a:p>
          <a:p>
            <a:pPr/>
            <a:r>
              <a:rPr lang="zh-CN" dirty="0"/>
              <a:t>有兴趣的同学，可以用讲义里的 pwm_speed.csv 跑一遍最小二乘拟合和梯度下降，看看两条曲线有什么不同。</a:t>
            </a:r>
          </a:p>
          <a:p>
            <a:pPr/>
            <a:endParaRPr lang="zh-CN" dirty="0"/>
          </a:p>
          <a:p>
            <a:pPr/>
            <a:r>
              <a:rPr lang="zh-CN" dirty="0"/>
              <a:t>讲义里有完整的定义、条件与边界清单、术语表、练习答案，以及梯度下降的完整推导。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-basics-relayou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-basics-relayou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2dcb3c53f7ef8a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543262c06696e8c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8cc79118fed737e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b5dd0b1a3f6cda6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over-masthead"/>
          <p:cNvGrpSpPr/>
          <p:nvPr/>
        </p:nvGrpSpPr>
        <p:grpSpPr>
          <a:xfrm>
            <a:off x="666750" y="889000"/>
            <a:ext cx="6305550" cy="2603881"/>
            <a:chOff x="666750" y="889000"/>
            <a:chExt cx="6305550" cy="2603881"/>
          </a:xfrm>
        </p:grpSpPr>
        <p:sp>
          <p:nvSpPr>
            <p:cNvPr id="2" name="TextBox 2"/>
            <p:cNvSpPr txBox="1"/>
            <p:nvPr/>
          </p:nvSpPr>
          <p:spPr>
            <a:xfrm>
              <a:off x="678180" y="889000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机器人内训 · 机器学习入门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1320800"/>
              <a:ext cx="4884420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机器学习基础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23622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5894" y="26733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让程序自己从数据里找规律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5894" y="3111500"/>
              <a:ext cx="53749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不用会微积分，15 分钟看懂机器学习在做什么</a:t>
              </a:r>
            </a:p>
          </p:txBody>
        </p:sp>
      </p:grpSp>
      <p:grpSp>
        <p:nvGrpSpPr>
          <p:cNvPr id="10" name="cover-figure"/>
          <p:cNvGrpSpPr/>
          <p:nvPr/>
        </p:nvGrpSpPr>
        <p:grpSpPr>
          <a:xfrm>
            <a:off x="7239000" y="1809750"/>
            <a:ext cx="4267200" cy="2505075"/>
            <a:chOff x="7239000" y="1809750"/>
            <a:chExt cx="4267200" cy="250507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1901" y="1809750"/>
              <a:ext cx="4261399" cy="2352675"/>
            </a:xfrm>
            <a:prstGeom prst="rect">
              <a:avLst/>
            </a:prstGeom>
          </p:spPr>
        </p:pic>
        <p:sp>
          <p:nvSpPr>
            <p:cNvPr id="9" name="Line 9"/>
            <p:cNvSpPr/>
            <p:nvPr/>
          </p:nvSpPr>
          <p:spPr>
            <a:xfrm>
              <a:off x="7239000" y="4305300"/>
              <a:ext cx="4267200" cy="9525"/>
            </a:xfrm>
            <a:custGeom>
              <a:avLst/>
              <a:gdLst/>
              <a:ahLst/>
              <a:cxnLst/>
              <a:rect l="l" t="t" r="r" b="b"/>
              <a:pathLst>
                <a:path w="4267200" h="9525">
                  <a:moveTo>
                    <a:pt x="0" y="0"/>
                  </a:moveTo>
                  <a:lnTo>
                    <a:pt x="42672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679704" y="5829300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浙江大学生机器人协会 · 教学部内训选题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83949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判断规则写不出来，就让程序从例子里学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1" name="case-pwm"/>
          <p:cNvGrpSpPr/>
          <p:nvPr/>
        </p:nvGrpSpPr>
        <p:grpSpPr>
          <a:xfrm>
            <a:off x="685800" y="1333500"/>
            <a:ext cx="5219700" cy="1866900"/>
            <a:chOff x="685800" y="1333500"/>
            <a:chExt cx="5219700" cy="18669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5219700" cy="1866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333500"/>
              <a:ext cx="52197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2213" y="1625600"/>
              <a:ext cx="36188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PWM 给 1500，小车跑多快？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3356" y="2165350"/>
              <a:ext cx="36772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电池电压、地面摩擦、轮子磨损……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25654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影响因素太多，公式写不准</a:t>
              </a:r>
            </a:p>
          </p:txBody>
        </p:sp>
      </p:grpSp>
      <p:grpSp>
        <p:nvGrpSpPr>
          <p:cNvPr id="17" name="case-sensor"/>
          <p:cNvGrpSpPr/>
          <p:nvPr/>
        </p:nvGrpSpPr>
        <p:grpSpPr>
          <a:xfrm>
            <a:off x="6286500" y="1333500"/>
            <a:ext cx="5219700" cy="1866900"/>
            <a:chOff x="6286500" y="1333500"/>
            <a:chExt cx="52197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333500"/>
              <a:ext cx="5219700" cy="1866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333500"/>
              <a:ext cx="52197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2913" y="1625600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传感器这样读数，该往哪转？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4056" y="21653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左右读数的组合太多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4056" y="2565400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if-else 根本列不完</a:t>
              </a:r>
            </a:p>
          </p:txBody>
        </p:sp>
      </p:grpSp>
      <p:grpSp>
        <p:nvGrpSpPr>
          <p:cNvPr id="21" name="key-conclusion"/>
          <p:cNvGrpSpPr/>
          <p:nvPr/>
        </p:nvGrpSpPr>
        <p:grpSpPr>
          <a:xfrm>
            <a:off x="685800" y="3543300"/>
            <a:ext cx="10820400" cy="876300"/>
            <a:chOff x="685800" y="3543300"/>
            <a:chExt cx="108204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85800" y="3543300"/>
              <a:ext cx="108204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543300"/>
              <a:ext cx="76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032" y="3841750"/>
              <a:ext cx="85023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规则写不出来，但例子要多少有多少：这就是机器学习开始的地方。</a:t>
              </a:r>
            </a:p>
          </p:txBody>
        </p:sp>
      </p:grpSp>
      <p:grpSp>
        <p:nvGrpSpPr>
          <p:cNvPr id="24" name="interaction-vote"/>
          <p:cNvGrpSpPr/>
          <p:nvPr/>
        </p:nvGrpSpPr>
        <p:grpSpPr>
          <a:xfrm>
            <a:off x="685800" y="4610100"/>
            <a:ext cx="10820400" cy="876300"/>
            <a:chOff x="685800" y="4610100"/>
            <a:chExt cx="10820400" cy="876300"/>
          </a:xfrm>
        </p:grpSpPr>
        <p:sp>
          <p:nvSpPr>
            <p:cNvPr id="22" name="Rectangle 22"/>
            <p:cNvSpPr/>
            <p:nvPr/>
          </p:nvSpPr>
          <p:spPr>
            <a:xfrm>
              <a:off x="685800" y="46101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8794" y="4921250"/>
              <a:ext cx="81575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举手投票：算小车的平均速度，属于哪一边？判断路口该不该转向呢？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675548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 分钟后，你能回答这三个问题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0" name="goal-1"/>
          <p:cNvGrpSpPr/>
          <p:nvPr/>
        </p:nvGrpSpPr>
        <p:grpSpPr>
          <a:xfrm>
            <a:off x="685800" y="1333500"/>
            <a:ext cx="10820400" cy="876300"/>
            <a:chOff x="685800" y="1333500"/>
            <a:chExt cx="10820400" cy="8763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333500"/>
              <a:ext cx="5715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2659" y="1587500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1813" y="1644650"/>
              <a:ext cx="709081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机器学习为什么可以「不写规则」？它由哪四样东西组成？</a:t>
              </a:r>
            </a:p>
          </p:txBody>
        </p:sp>
      </p:grpSp>
      <p:grpSp>
        <p:nvGrpSpPr>
          <p:cNvPr id="15" name="goal-2"/>
          <p:cNvGrpSpPr/>
          <p:nvPr/>
        </p:nvGrpSpPr>
        <p:grpSpPr>
          <a:xfrm>
            <a:off x="685800" y="2362200"/>
            <a:ext cx="10820400" cy="876300"/>
            <a:chOff x="685800" y="2362200"/>
            <a:chExt cx="10820400" cy="876300"/>
          </a:xfrm>
        </p:grpSpPr>
        <p:sp>
          <p:nvSpPr>
            <p:cNvPr id="11" name="Rectangle 11"/>
            <p:cNvSpPr/>
            <p:nvPr/>
          </p:nvSpPr>
          <p:spPr>
            <a:xfrm>
              <a:off x="685800" y="23622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2362200"/>
              <a:ext cx="5715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2659" y="2616200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51813" y="2673350"/>
              <a:ext cx="68460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预测数值、判断类别、没有标准答案——分别属于哪一类？</a:t>
              </a:r>
            </a:p>
          </p:txBody>
        </p:sp>
      </p:grpSp>
      <p:grpSp>
        <p:nvGrpSpPr>
          <p:cNvPr id="20" name="goal-3"/>
          <p:cNvGrpSpPr/>
          <p:nvPr/>
        </p:nvGrpSpPr>
        <p:grpSpPr>
          <a:xfrm>
            <a:off x="685800" y="3390900"/>
            <a:ext cx="10820400" cy="876300"/>
            <a:chOff x="685800" y="3390900"/>
            <a:chExt cx="10820400" cy="876300"/>
          </a:xfrm>
        </p:grpSpPr>
        <p:sp>
          <p:nvSpPr>
            <p:cNvPr id="16" name="Rectangle 16"/>
            <p:cNvSpPr/>
            <p:nvPr/>
          </p:nvSpPr>
          <p:spPr>
            <a:xfrm>
              <a:off x="685800" y="33909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3390900"/>
              <a:ext cx="5715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2659" y="3644900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51813" y="3702050"/>
              <a:ext cx="627501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模型在训练数据上表现很好，怎么判断它其实没用？</a:t>
              </a:r>
            </a:p>
          </p:txBody>
        </p:sp>
      </p:grpSp>
      <p:grpSp>
        <p:nvGrpSpPr>
          <p:cNvPr id="23" name="goal-note"/>
          <p:cNvGrpSpPr/>
          <p:nvPr/>
        </p:nvGrpSpPr>
        <p:grpSpPr>
          <a:xfrm>
            <a:off x="677418" y="4953000"/>
            <a:ext cx="10828782" cy="519557"/>
            <a:chOff x="677418" y="4953000"/>
            <a:chExt cx="10828782" cy="519557"/>
          </a:xfrm>
        </p:grpSpPr>
        <p:sp>
          <p:nvSpPr>
            <p:cNvPr id="21" name="Line 21"/>
            <p:cNvSpPr/>
            <p:nvPr/>
          </p:nvSpPr>
          <p:spPr>
            <a:xfrm>
              <a:off x="685800" y="4953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7418" y="5149850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这三个问题都能当场检验，不写「了解机器学习」这类没法验证的目标。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37505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三块内容层层递进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3" name="module-1"/>
          <p:cNvGrpSpPr/>
          <p:nvPr/>
        </p:nvGrpSpPr>
        <p:grpSpPr>
          <a:xfrm>
            <a:off x="685800" y="1333500"/>
            <a:ext cx="3505200" cy="2857500"/>
            <a:chOff x="685800" y="1333500"/>
            <a:chExt cx="3505200" cy="28575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3505200" cy="2857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333500"/>
              <a:ext cx="3505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96833" y="17018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78458" y="21399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机器学习在做什么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72063" y="2628900"/>
              <a:ext cx="113267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约 4.5 分钟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90600" y="31051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08341" y="33401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不写规则，用数据定参数</a:t>
              </a:r>
            </a:p>
          </p:txBody>
        </p:sp>
      </p:grpSp>
      <p:grpSp>
        <p:nvGrpSpPr>
          <p:cNvPr id="21" name="module-2"/>
          <p:cNvGrpSpPr/>
          <p:nvPr/>
        </p:nvGrpSpPr>
        <p:grpSpPr>
          <a:xfrm>
            <a:off x="4343400" y="1333500"/>
            <a:ext cx="3505200" cy="2857500"/>
            <a:chOff x="4343400" y="1333500"/>
            <a:chExt cx="35052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4343400" y="1333500"/>
              <a:ext cx="3505200" cy="2857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43400" y="1333500"/>
              <a:ext cx="3505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4434" y="17018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04804" y="21399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机器学习有哪些类型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9663" y="2628900"/>
              <a:ext cx="113267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约 3.5 分钟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31051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65942" y="33401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监督、无监督、强化学习</a:t>
              </a:r>
            </a:p>
          </p:txBody>
        </p:sp>
      </p:grpSp>
      <p:grpSp>
        <p:nvGrpSpPr>
          <p:cNvPr id="29" name="module-3"/>
          <p:cNvGrpSpPr/>
          <p:nvPr/>
        </p:nvGrpSpPr>
        <p:grpSpPr>
          <a:xfrm>
            <a:off x="8001000" y="1333500"/>
            <a:ext cx="3505200" cy="2857500"/>
            <a:chOff x="8001000" y="1333500"/>
            <a:chExt cx="35052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8001000" y="1333500"/>
              <a:ext cx="3505200" cy="2857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01000" y="1333500"/>
              <a:ext cx="3505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12034" y="17018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2404" y="21399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怎么知道真的学会了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87263" y="2628900"/>
              <a:ext cx="113267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约 4.5 分钟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305800" y="310515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23542" y="33401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训练好不等于新数据上好</a:t>
              </a:r>
            </a:p>
          </p:txBody>
        </p:sp>
      </p:grpSp>
      <p:grpSp>
        <p:nvGrpSpPr>
          <p:cNvPr id="33" name="roadmap-band"/>
          <p:cNvGrpSpPr/>
          <p:nvPr/>
        </p:nvGrpSpPr>
        <p:grpSpPr>
          <a:xfrm>
            <a:off x="685800" y="4495800"/>
            <a:ext cx="10820400" cy="914400"/>
            <a:chOff x="685800" y="4495800"/>
            <a:chExt cx="10820400" cy="914400"/>
          </a:xfrm>
        </p:grpSpPr>
        <p:sp>
          <p:nvSpPr>
            <p:cNvPr id="30" name="Rectangle 30"/>
            <p:cNvSpPr/>
            <p:nvPr/>
          </p:nvSpPr>
          <p:spPr>
            <a:xfrm>
              <a:off x="685800" y="4495800"/>
              <a:ext cx="10820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5800" y="4495800"/>
              <a:ext cx="762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8794" y="4826000"/>
              <a:ext cx="94701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三块是递进的：先看清它在做什么，再看有哪些类型，最后学会判断学得好不好。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  <p:grpSp>
        <p:nvGrpSpPr>
          <p:cNvPr id="5" name="section-chip"/>
          <p:cNvGrpSpPr/>
          <p:nvPr/>
        </p:nvGrpSpPr>
        <p:grpSpPr>
          <a:xfrm>
            <a:off x="685800" y="1428750"/>
            <a:ext cx="2857500" cy="514350"/>
            <a:chOff x="685800" y="1428750"/>
            <a:chExt cx="2857500" cy="514350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285750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3309" y="1568450"/>
              <a:ext cx="2142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模块一 · 约 4.5 分钟</a:t>
              </a:r>
            </a:p>
          </p:txBody>
        </p:sp>
      </p:grpSp>
      <p:grpSp>
        <p:nvGrpSpPr>
          <p:cNvPr id="8" name="section-headline"/>
          <p:cNvGrpSpPr/>
          <p:nvPr/>
        </p:nvGrpSpPr>
        <p:grpSpPr>
          <a:xfrm>
            <a:off x="669036" y="2527300"/>
            <a:ext cx="8208264" cy="682625"/>
            <a:chOff x="669036" y="2527300"/>
            <a:chExt cx="8208264" cy="682625"/>
          </a:xfrm>
        </p:grpSpPr>
        <p:sp>
          <p:nvSpPr>
            <p:cNvPr id="6" name="TextBox 6"/>
            <p:cNvSpPr txBox="1"/>
            <p:nvPr/>
          </p:nvSpPr>
          <p:spPr>
            <a:xfrm>
              <a:off x="669036" y="2527300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机器学习不是写规则，是用数据定参数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3200400"/>
              <a:ext cx="8191500" cy="9525"/>
            </a:xfrm>
            <a:custGeom>
              <a:avLst/>
              <a:gdLst/>
              <a:ahLst/>
              <a:cxnLst/>
              <a:rect l="l" t="t" r="r" b="b"/>
              <a:pathLst>
                <a:path w="8191500" h="9525">
                  <a:moveTo>
                    <a:pt x="0" y="0"/>
                  </a:moveTo>
                  <a:lnTo>
                    <a:pt x="81915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</p:grpSp>
      <p:grpSp>
        <p:nvGrpSpPr>
          <p:cNvPr id="10" name="section-sub"/>
          <p:cNvGrpSpPr/>
          <p:nvPr/>
        </p:nvGrpSpPr>
        <p:grpSpPr>
          <a:xfrm>
            <a:off x="675894" y="3835400"/>
            <a:ext cx="7895082" cy="381381"/>
            <a:chOff x="675894" y="3835400"/>
            <a:chExt cx="7895082" cy="381381"/>
          </a:xfrm>
        </p:grpSpPr>
        <p:sp>
          <p:nvSpPr>
            <p:cNvPr id="9" name="TextBox 9"/>
            <p:cNvSpPr txBox="1"/>
            <p:nvPr/>
          </p:nvSpPr>
          <p:spPr>
            <a:xfrm>
              <a:off x="675894" y="3835400"/>
              <a:ext cx="78950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这一块回答：为什么可以不写规则，以及这件事由哪四个零件组成。</a:t>
              </a:r>
            </a:p>
          </p:txBody>
        </p:sp>
      </p:grpSp>
      <p:grpSp>
        <p:nvGrpSpPr>
          <p:cNvPr id="12" name="section-numeral"/>
          <p:cNvGrpSpPr/>
          <p:nvPr/>
        </p:nvGrpSpPr>
        <p:grpSpPr>
          <a:xfrm>
            <a:off x="9504702" y="1866900"/>
            <a:ext cx="2020548" cy="2447925"/>
            <a:chOff x="9504702" y="1866900"/>
            <a:chExt cx="2020548" cy="2447925"/>
          </a:xfrm>
        </p:grpSpPr>
        <p:sp>
          <p:nvSpPr>
            <p:cNvPr id="11" name="TextBox 11"/>
            <p:cNvSpPr txBox="1"/>
            <p:nvPr/>
          </p:nvSpPr>
          <p:spPr>
            <a:xfrm>
              <a:off x="9504702" y="1866900"/>
              <a:ext cx="2020548" cy="2447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0" b="1" dirty="0">
                  <a:solidFill>
                    <a:srgbClr val="EAF1F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83949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机器学习：把「写规则」换成「喂例子」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1" name="compare-traditional"/>
          <p:cNvGrpSpPr/>
          <p:nvPr/>
        </p:nvGrpSpPr>
        <p:grpSpPr>
          <a:xfrm>
            <a:off x="685800" y="1333500"/>
            <a:ext cx="5219700" cy="1866900"/>
            <a:chOff x="685800" y="1333500"/>
            <a:chExt cx="5219700" cy="18669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5219700" cy="1866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880" y="1555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传统编程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2213" y="19494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人写规则，程序执行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499" y="2457450"/>
              <a:ext cx="25683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所有边界情况都要提前想到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499" y="2762250"/>
              <a:ext cx="25683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规则要一条条写、一条条改</a:t>
              </a:r>
            </a:p>
          </p:txBody>
        </p:sp>
      </p:grpSp>
      <p:grpSp>
        <p:nvGrpSpPr>
          <p:cNvPr id="17" name="compare-ml"/>
          <p:cNvGrpSpPr/>
          <p:nvPr/>
        </p:nvGrpSpPr>
        <p:grpSpPr>
          <a:xfrm>
            <a:off x="6286500" y="1333500"/>
            <a:ext cx="5219700" cy="1866900"/>
            <a:chOff x="6286500" y="1333500"/>
            <a:chExt cx="5219700" cy="18669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333500"/>
              <a:ext cx="5219700" cy="18669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45580" y="15557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机器学习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2913" y="1949450"/>
              <a:ext cx="27398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人给例子，程序定参数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5199" y="2457450"/>
              <a:ext cx="281300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准备一批「输入 + 正确答案」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199" y="2762250"/>
              <a:ext cx="25683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让程序自己把参数调到合适</a:t>
              </a:r>
            </a:p>
          </p:txBody>
        </p:sp>
      </p:grpSp>
      <p:grpSp>
        <p:nvGrpSpPr>
          <p:cNvPr id="22" name="training-step-1"/>
          <p:cNvGrpSpPr/>
          <p:nvPr/>
        </p:nvGrpSpPr>
        <p:grpSpPr>
          <a:xfrm>
            <a:off x="685800" y="3467100"/>
            <a:ext cx="2533650" cy="1428750"/>
            <a:chOff x="685800" y="3467100"/>
            <a:chExt cx="2533650" cy="1428750"/>
          </a:xfrm>
        </p:grpSpPr>
        <p:sp>
          <p:nvSpPr>
            <p:cNvPr id="18" name="Rectangle 18"/>
            <p:cNvSpPr/>
            <p:nvPr/>
          </p:nvSpPr>
          <p:spPr>
            <a:xfrm>
              <a:off x="685800" y="3467100"/>
              <a:ext cx="2533650" cy="1428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467100"/>
              <a:ext cx="2533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48956" y="381635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213" y="43116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参数随机，几乎没有本领</a:t>
              </a:r>
            </a:p>
          </p:txBody>
        </p:sp>
      </p:grpSp>
      <p:grpSp>
        <p:nvGrpSpPr>
          <p:cNvPr id="27" name="training-step-2"/>
          <p:cNvGrpSpPr/>
          <p:nvPr/>
        </p:nvGrpSpPr>
        <p:grpSpPr>
          <a:xfrm>
            <a:off x="3448050" y="3467100"/>
            <a:ext cx="2533650" cy="1428750"/>
            <a:chOff x="3448050" y="3467100"/>
            <a:chExt cx="2533650" cy="1428750"/>
          </a:xfrm>
        </p:grpSpPr>
        <p:sp>
          <p:nvSpPr>
            <p:cNvPr id="23" name="Rectangle 23"/>
            <p:cNvSpPr/>
            <p:nvPr/>
          </p:nvSpPr>
          <p:spPr>
            <a:xfrm>
              <a:off x="3448050" y="3467100"/>
              <a:ext cx="2533650" cy="1428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48050" y="3467100"/>
              <a:ext cx="2533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11205" y="381635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取样本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76570" y="4311650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一批输入 + 正确答案</a:t>
              </a:r>
            </a:p>
          </p:txBody>
        </p:sp>
      </p:grpSp>
      <p:grpSp>
        <p:nvGrpSpPr>
          <p:cNvPr id="32" name="training-step-3"/>
          <p:cNvGrpSpPr/>
          <p:nvPr/>
        </p:nvGrpSpPr>
        <p:grpSpPr>
          <a:xfrm>
            <a:off x="6210300" y="3467100"/>
            <a:ext cx="2533650" cy="1428750"/>
            <a:chOff x="6210300" y="3467100"/>
            <a:chExt cx="2533650" cy="1428750"/>
          </a:xfrm>
        </p:grpSpPr>
        <p:sp>
          <p:nvSpPr>
            <p:cNvPr id="28" name="Rectangle 28"/>
            <p:cNvSpPr/>
            <p:nvPr/>
          </p:nvSpPr>
          <p:spPr>
            <a:xfrm>
              <a:off x="6210300" y="3467100"/>
              <a:ext cx="2533650" cy="1428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10300" y="3467100"/>
              <a:ext cx="2533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73456" y="381635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1582" y="4311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让这一批上的表现变好</a:t>
              </a:r>
            </a:p>
          </p:txBody>
        </p:sp>
      </p:grpSp>
      <p:grpSp>
        <p:nvGrpSpPr>
          <p:cNvPr id="37" name="training-step-4"/>
          <p:cNvGrpSpPr/>
          <p:nvPr/>
        </p:nvGrpSpPr>
        <p:grpSpPr>
          <a:xfrm>
            <a:off x="8972550" y="3467100"/>
            <a:ext cx="2533650" cy="1428750"/>
            <a:chOff x="8972550" y="3467100"/>
            <a:chExt cx="2533650" cy="1428750"/>
          </a:xfrm>
        </p:grpSpPr>
        <p:sp>
          <p:nvSpPr>
            <p:cNvPr id="33" name="Rectangle 33"/>
            <p:cNvSpPr/>
            <p:nvPr/>
          </p:nvSpPr>
          <p:spPr>
            <a:xfrm>
              <a:off x="8972550" y="3467100"/>
              <a:ext cx="2533650" cy="14287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972550" y="3467100"/>
              <a:ext cx="25336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966960" y="38163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05569" y="43116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直到表现令人满意</a:t>
              </a:r>
            </a:p>
          </p:txBody>
        </p:sp>
      </p:grpSp>
      <p:grpSp>
        <p:nvGrpSpPr>
          <p:cNvPr id="42" name="programming-takeaway"/>
          <p:cNvGrpSpPr/>
          <p:nvPr/>
        </p:nvGrpSpPr>
        <p:grpSpPr>
          <a:xfrm>
            <a:off x="685800" y="5029200"/>
            <a:ext cx="10820400" cy="914400"/>
            <a:chOff x="685800" y="5029200"/>
            <a:chExt cx="10820400" cy="914400"/>
          </a:xfrm>
        </p:grpSpPr>
        <p:sp>
          <p:nvSpPr>
            <p:cNvPr id="38" name="Rectangle 38"/>
            <p:cNvSpPr/>
            <p:nvPr/>
          </p:nvSpPr>
          <p:spPr>
            <a:xfrm>
              <a:off x="685800" y="5029200"/>
              <a:ext cx="10820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5800" y="502920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8794" y="5149850"/>
              <a:ext cx="74107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我们没有写判断规则，而是写了一个「会自己定参数」的程序——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8794" y="54927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这就是用数据编程。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932383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无论什么机器学习问题，都绕不开这四个组件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9" name="component-data"/>
          <p:cNvGrpSpPr/>
          <p:nvPr/>
        </p:nvGrpSpPr>
        <p:grpSpPr>
          <a:xfrm>
            <a:off x="685800" y="1333500"/>
            <a:ext cx="2533650" cy="1676400"/>
            <a:chOff x="685800" y="1333500"/>
            <a:chExt cx="2533650" cy="16764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253365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38300" y="17970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9688" y="2368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用来学习的例子</a:t>
              </a:r>
            </a:p>
          </p:txBody>
        </p:sp>
      </p:grpSp>
      <p:grpSp>
        <p:nvGrpSpPr>
          <p:cNvPr id="13" name="component-model"/>
          <p:cNvGrpSpPr/>
          <p:nvPr/>
        </p:nvGrpSpPr>
        <p:grpSpPr>
          <a:xfrm>
            <a:off x="3448050" y="1333500"/>
            <a:ext cx="2533650" cy="1676400"/>
            <a:chOff x="3448050" y="1333500"/>
            <a:chExt cx="2533650" cy="1676400"/>
          </a:xfrm>
        </p:grpSpPr>
        <p:sp>
          <p:nvSpPr>
            <p:cNvPr id="10" name="Rectangle 10"/>
            <p:cNvSpPr/>
            <p:nvPr/>
          </p:nvSpPr>
          <p:spPr>
            <a:xfrm>
              <a:off x="3448050" y="1333500"/>
              <a:ext cx="253365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00550" y="17970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23685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把输入变成输出的函数</a:t>
              </a:r>
            </a:p>
          </p:txBody>
        </p:sp>
      </p:grpSp>
      <p:grpSp>
        <p:nvGrpSpPr>
          <p:cNvPr id="17" name="component-objective"/>
          <p:cNvGrpSpPr/>
          <p:nvPr/>
        </p:nvGrpSpPr>
        <p:grpSpPr>
          <a:xfrm>
            <a:off x="6210300" y="1333500"/>
            <a:ext cx="2533650" cy="1676400"/>
            <a:chOff x="6210300" y="1333500"/>
            <a:chExt cx="2533650" cy="1676400"/>
          </a:xfrm>
        </p:grpSpPr>
        <p:sp>
          <p:nvSpPr>
            <p:cNvPr id="14" name="Rectangle 14"/>
            <p:cNvSpPr/>
            <p:nvPr/>
          </p:nvSpPr>
          <p:spPr>
            <a:xfrm>
              <a:off x="6210300" y="1333500"/>
              <a:ext cx="253365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59905" y="17970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3319" y="23685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把好坏压成一个数</a:t>
              </a:r>
            </a:p>
          </p:txBody>
        </p:sp>
      </p:grpSp>
      <p:grpSp>
        <p:nvGrpSpPr>
          <p:cNvPr id="21" name="component-optimizer"/>
          <p:cNvGrpSpPr/>
          <p:nvPr/>
        </p:nvGrpSpPr>
        <p:grpSpPr>
          <a:xfrm>
            <a:off x="8972550" y="1333500"/>
            <a:ext cx="2533650" cy="1676400"/>
            <a:chOff x="8972550" y="1333500"/>
            <a:chExt cx="2533650" cy="1676400"/>
          </a:xfrm>
        </p:grpSpPr>
        <p:sp>
          <p:nvSpPr>
            <p:cNvPr id="18" name="Rectangle 18"/>
            <p:cNvSpPr/>
            <p:nvPr/>
          </p:nvSpPr>
          <p:spPr>
            <a:xfrm>
              <a:off x="8972550" y="1333500"/>
              <a:ext cx="2533650" cy="1676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22155" y="17970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优化算法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32964" y="23685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搜索让这个数变小的参数</a:t>
              </a:r>
            </a:p>
          </p:txBody>
        </p:sp>
      </p:grpSp>
      <p:grpSp>
        <p:nvGrpSpPr>
          <p:cNvPr id="26" name="components-summary"/>
          <p:cNvGrpSpPr/>
          <p:nvPr/>
        </p:nvGrpSpPr>
        <p:grpSpPr>
          <a:xfrm>
            <a:off x="685800" y="3352800"/>
            <a:ext cx="10820400" cy="914400"/>
            <a:chOff x="685800" y="3352800"/>
            <a:chExt cx="10820400" cy="914400"/>
          </a:xfrm>
        </p:grpSpPr>
        <p:sp>
          <p:nvSpPr>
            <p:cNvPr id="22" name="Rectangle 22"/>
            <p:cNvSpPr/>
            <p:nvPr/>
          </p:nvSpPr>
          <p:spPr>
            <a:xfrm>
              <a:off x="685800" y="3352800"/>
              <a:ext cx="10820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85800" y="3352800"/>
              <a:ext cx="762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18794" y="349250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四样缺一不可：没有数据就没有经验，没有模型就没有预测，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8794" y="383540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没有目标函数就不知道好坏，没有优化算法就只能靠手猜。</a:t>
              </a:r>
            </a:p>
          </p:txBody>
        </p:sp>
      </p:grpSp>
      <p:grpSp>
        <p:nvGrpSpPr>
          <p:cNvPr id="30" name="components-note"/>
          <p:cNvGrpSpPr/>
          <p:nvPr/>
        </p:nvGrpSpPr>
        <p:grpSpPr>
          <a:xfrm>
            <a:off x="677418" y="4610100"/>
            <a:ext cx="10828782" cy="900557"/>
            <a:chOff x="677418" y="4610100"/>
            <a:chExt cx="10828782" cy="900557"/>
          </a:xfrm>
        </p:grpSpPr>
        <p:sp>
          <p:nvSpPr>
            <p:cNvPr id="27" name="Line 27"/>
            <p:cNvSpPr/>
            <p:nvPr/>
          </p:nvSpPr>
          <p:spPr>
            <a:xfrm>
              <a:off x="685800" y="4610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418" y="4826000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目标函数习惯上取「越小越好」，这时候也叫损失函数。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418" y="5187950"/>
              <a:ext cx="6480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回归常用平方误差，分类常用错误率或交叉熵——完整对照见讲义。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467944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一行数据就是一个样本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29" name="calibration-table"/>
          <p:cNvGrpSpPr/>
          <p:nvPr/>
        </p:nvGrpSpPr>
        <p:grpSpPr>
          <a:xfrm>
            <a:off x="685800" y="1333500"/>
            <a:ext cx="5905500" cy="3505200"/>
            <a:chOff x="685800" y="1333500"/>
            <a:chExt cx="5905500" cy="35052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5905500" cy="35052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04850" y="1352550"/>
              <a:ext cx="586740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85800" y="18669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23622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28575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85800" y="33528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85800" y="38481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85800" y="4343400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5905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638550" y="133350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5642" y="1530350"/>
              <a:ext cx="851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PWM 指令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8392" y="1530350"/>
              <a:ext cx="12940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实测速度 mm/s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499" y="20002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97249" y="20002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30.4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499" y="24955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1176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97249" y="24955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94.5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499" y="29908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1353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7249" y="2990850"/>
              <a:ext cx="6009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178.0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499" y="34861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1529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7249" y="3486150"/>
              <a:ext cx="6009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219.6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499" y="39814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1706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97249" y="3981450"/>
              <a:ext cx="6009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320.5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499" y="4476750"/>
              <a:ext cx="48394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1882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7249" y="4476750"/>
              <a:ext cx="6009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388.5</a:t>
              </a:r>
            </a:p>
          </p:txBody>
        </p:sp>
      </p:grpSp>
      <p:grpSp>
        <p:nvGrpSpPr>
          <p:cNvPr id="34" name="sample-definition"/>
          <p:cNvGrpSpPr/>
          <p:nvPr/>
        </p:nvGrpSpPr>
        <p:grpSpPr>
          <a:xfrm>
            <a:off x="7010400" y="1333500"/>
            <a:ext cx="3011976" cy="2857500"/>
            <a:chOff x="7010400" y="1333500"/>
            <a:chExt cx="3011976" cy="2857500"/>
          </a:xfrm>
        </p:grpSpPr>
        <p:sp>
          <p:nvSpPr>
            <p:cNvPr id="30" name="Rectangle 30"/>
            <p:cNvSpPr/>
            <p:nvPr/>
          </p:nvSpPr>
          <p:spPr>
            <a:xfrm>
              <a:off x="7010400" y="1333500"/>
              <a:ext cx="19050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06818" y="1530350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一行 = 一个样本，一次实验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06818" y="20828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输入那一列 = 特征 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06818" y="26352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要预测的那一列 = 标签 y</a:t>
              </a:r>
            </a:p>
          </p:txBody>
        </p:sp>
      </p:grpSp>
      <p:grpSp>
        <p:nvGrpSpPr>
          <p:cNvPr id="40" name="data-caveat"/>
          <p:cNvGrpSpPr/>
          <p:nvPr/>
        </p:nvGrpSpPr>
        <p:grpSpPr>
          <a:xfrm>
            <a:off x="7002780" y="4381500"/>
            <a:ext cx="4503420" cy="1487170"/>
            <a:chOff x="7002780" y="4381500"/>
            <a:chExt cx="4503420" cy="1487170"/>
          </a:xfrm>
        </p:grpSpPr>
        <p:sp>
          <p:nvSpPr>
            <p:cNvPr id="35" name="Line 35"/>
            <p:cNvSpPr/>
            <p:nvPr/>
          </p:nvSpPr>
          <p:spPr>
            <a:xfrm>
              <a:off x="7010400" y="43815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02780" y="4603750"/>
              <a:ext cx="3215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 18 个样本，表里每 3 个取一行。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02780" y="49276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数据要多，也要对：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02780" y="52514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来源有偏、类别不均衡，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2780" y="5575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模型会把偏差一起学进去。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11255" y="628650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目标函数：用一个数比较两条直线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8" name="mse-definition"/>
          <p:cNvGrpSpPr/>
          <p:nvPr/>
        </p:nvGrpSpPr>
        <p:grpSpPr>
          <a:xfrm>
            <a:off x="685800" y="1333500"/>
            <a:ext cx="3810000" cy="1047750"/>
            <a:chOff x="685800" y="1333500"/>
            <a:chExt cx="3810000" cy="104775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3810000" cy="1047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1418" y="1727200"/>
              <a:ext cx="2918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MSE = 平均(预测 − 实测)²</a:t>
              </a:r>
            </a:p>
          </p:txBody>
        </p:sp>
      </p:grpSp>
      <p:grpSp>
        <p:nvGrpSpPr>
          <p:cNvPr id="15" name="mse-points"/>
          <p:cNvGrpSpPr/>
          <p:nvPr/>
        </p:nvGrpSpPr>
        <p:grpSpPr>
          <a:xfrm>
            <a:off x="685800" y="2679700"/>
            <a:ext cx="2699004" cy="1342644"/>
            <a:chOff x="685800" y="2679700"/>
            <a:chExt cx="2699004" cy="1342644"/>
          </a:xfrm>
        </p:grpSpPr>
        <p:sp>
          <p:nvSpPr>
            <p:cNvPr id="9" name="Rectangle 9"/>
            <p:cNvSpPr/>
            <p:nvPr/>
          </p:nvSpPr>
          <p:spPr>
            <a:xfrm>
              <a:off x="685800" y="2781300"/>
              <a:ext cx="1143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356" y="26797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每段竖线就是一个误差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" y="3276600"/>
              <a:ext cx="1143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3356" y="317500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平方：不让正负抵消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" y="3771900"/>
              <a:ext cx="1143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367030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取平均：与样本数无关</a:t>
              </a:r>
            </a:p>
          </p:txBody>
        </p:sp>
      </p:grpSp>
      <p:grpSp>
        <p:nvGrpSpPr>
          <p:cNvPr id="19" name="mse-interaction"/>
          <p:cNvGrpSpPr/>
          <p:nvPr/>
        </p:nvGrpSpPr>
        <p:grpSpPr>
          <a:xfrm>
            <a:off x="685800" y="4343400"/>
            <a:ext cx="3810000" cy="1333500"/>
            <a:chOff x="685800" y="4343400"/>
            <a:chExt cx="38100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685800" y="4343400"/>
              <a:ext cx="3810000" cy="1333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018" y="4616450"/>
              <a:ext cx="2566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举手投票：A、B 哪一条线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6018" y="4921250"/>
              <a:ext cx="14802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的 MSE 更小？</a:t>
              </a:r>
            </a:p>
          </p:txBody>
        </p:sp>
      </p:grpSp>
      <p:grpSp>
        <p:nvGrpSpPr>
          <p:cNvPr id="22" name="mse-figure"/>
          <p:cNvGrpSpPr/>
          <p:nvPr/>
        </p:nvGrpSpPr>
        <p:grpSpPr>
          <a:xfrm>
            <a:off x="5105400" y="1428750"/>
            <a:ext cx="6400800" cy="3629025"/>
            <a:chOff x="5105400" y="1428750"/>
            <a:chExt cx="6400800" cy="3629025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5400" y="1428750"/>
              <a:ext cx="6400800" cy="3533775"/>
            </a:xfrm>
            <a:prstGeom prst="rect">
              <a:avLst/>
            </a:prstGeom>
          </p:spPr>
        </p:pic>
        <p:sp>
          <p:nvSpPr>
            <p:cNvPr id="21" name="Line 21"/>
            <p:cNvSpPr/>
            <p:nvPr/>
          </p:nvSpPr>
          <p:spPr>
            <a:xfrm>
              <a:off x="5105400" y="504825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</p:grpSp>
      <p:grpSp>
        <p:nvGrpSpPr>
          <p:cNvPr id="24" name="mse-caption"/>
          <p:cNvGrpSpPr/>
          <p:nvPr/>
        </p:nvGrpSpPr>
        <p:grpSpPr>
          <a:xfrm>
            <a:off x="5097018" y="5378450"/>
            <a:ext cx="4903470" cy="322707"/>
            <a:chOff x="5097018" y="5378450"/>
            <a:chExt cx="4903470" cy="322707"/>
          </a:xfrm>
        </p:grpSpPr>
        <p:sp>
          <p:nvSpPr>
            <p:cNvPr id="23" name="TextBox 23"/>
            <p:cNvSpPr txBox="1"/>
            <p:nvPr/>
          </p:nvSpPr>
          <p:spPr>
            <a:xfrm>
              <a:off x="5097018" y="5378450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目标函数习惯取越小越好，这时候也叫损失函数。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83949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优化算法：沿着让目标变小的方向调参数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9" name="gradient-definition"/>
          <p:cNvGrpSpPr/>
          <p:nvPr/>
        </p:nvGrpSpPr>
        <p:grpSpPr>
          <a:xfrm>
            <a:off x="685800" y="1333500"/>
            <a:ext cx="10820400" cy="838200"/>
            <a:chOff x="685800" y="1333500"/>
            <a:chExt cx="10820400" cy="8382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108204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333500"/>
              <a:ext cx="762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8794" y="1587500"/>
              <a:ext cx="92076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梯度下降：看每个参数小幅变动时损失往哪动，然后朝损失变小的方向走一步。</a:t>
              </a:r>
            </a:p>
          </p:txBody>
        </p:sp>
      </p:grpSp>
      <p:grpSp>
        <p:nvGrpSpPr>
          <p:cNvPr id="11" name="gradient-figure"/>
          <p:cNvGrpSpPr/>
          <p:nvPr/>
        </p:nvGrpSpPr>
        <p:grpSpPr>
          <a:xfrm>
            <a:off x="2533650" y="2362200"/>
            <a:ext cx="7115175" cy="3238500"/>
            <a:chOff x="2533650" y="2362200"/>
            <a:chExt cx="7115175" cy="32385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3650" y="2362200"/>
              <a:ext cx="7115175" cy="3238500"/>
            </a:xfrm>
            <a:prstGeom prst="rect">
              <a:avLst/>
            </a:prstGeom>
          </p:spPr>
        </p:pic>
      </p:grpSp>
      <p:grpSp>
        <p:nvGrpSpPr>
          <p:cNvPr id="15" name="gradient-caption"/>
          <p:cNvGrpSpPr/>
          <p:nvPr/>
        </p:nvGrpSpPr>
        <p:grpSpPr>
          <a:xfrm>
            <a:off x="678180" y="5753100"/>
            <a:ext cx="10828020" cy="744220"/>
            <a:chOff x="678180" y="5753100"/>
            <a:chExt cx="10828020" cy="744220"/>
          </a:xfrm>
        </p:grpSpPr>
        <p:sp>
          <p:nvSpPr>
            <p:cNvPr id="12" name="Line 12"/>
            <p:cNvSpPr/>
            <p:nvPr/>
          </p:nvSpPr>
          <p:spPr>
            <a:xfrm>
              <a:off x="685800" y="5753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180" y="5918200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参数是你的位置，损失是海拔，梯度是坡向，学习率是每步跨多大。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6203950"/>
              <a:ext cx="88799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（示意：本页固定 b、只调 w，且只讲直觉；学习率太大越跳越远，太小半天挪不动，推导见讲义）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79305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模块一小结：不写规则，用数据定参数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9" name="summary-1"/>
          <p:cNvGrpSpPr/>
          <p:nvPr/>
        </p:nvGrpSpPr>
        <p:grpSpPr>
          <a:xfrm>
            <a:off x="685800" y="1524000"/>
            <a:ext cx="10820400" cy="876300"/>
            <a:chOff x="685800" y="1524000"/>
            <a:chExt cx="10820400" cy="876300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118" y="18732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这一块讲了什么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04844" y="18351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机器学习不写规则，而是用数据把模型的参数定下来</a:t>
              </a:r>
            </a:p>
          </p:txBody>
        </p:sp>
      </p:grpSp>
      <p:grpSp>
        <p:nvGrpSpPr>
          <p:cNvPr id="13" name="summary-2"/>
          <p:cNvGrpSpPr/>
          <p:nvPr/>
        </p:nvGrpSpPr>
        <p:grpSpPr>
          <a:xfrm>
            <a:off x="685800" y="2552700"/>
            <a:ext cx="10820400" cy="876300"/>
            <a:chOff x="685800" y="2552700"/>
            <a:chExt cx="10820400" cy="876300"/>
          </a:xfrm>
        </p:grpSpPr>
        <p:sp>
          <p:nvSpPr>
            <p:cNvPr id="10" name="Rectangle 10"/>
            <p:cNvSpPr/>
            <p:nvPr/>
          </p:nvSpPr>
          <p:spPr>
            <a:xfrm>
              <a:off x="685800" y="25527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118" y="2901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为什么重要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4844" y="286385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数据、模型、目标函数、优化算法是后面所有内容的共同骨架</a:t>
              </a:r>
            </a:p>
          </p:txBody>
        </p:sp>
      </p:grpSp>
      <p:grpSp>
        <p:nvGrpSpPr>
          <p:cNvPr id="17" name="summary-3"/>
          <p:cNvGrpSpPr/>
          <p:nvPr/>
        </p:nvGrpSpPr>
        <p:grpSpPr>
          <a:xfrm>
            <a:off x="685800" y="3581400"/>
            <a:ext cx="10820400" cy="876300"/>
            <a:chOff x="685800" y="3581400"/>
            <a:chExt cx="10820400" cy="876300"/>
          </a:xfrm>
        </p:grpSpPr>
        <p:sp>
          <p:nvSpPr>
            <p:cNvPr id="14" name="Rectangle 14"/>
            <p:cNvSpPr/>
            <p:nvPr/>
          </p:nvSpPr>
          <p:spPr>
            <a:xfrm>
              <a:off x="685800" y="35814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118" y="39306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和下一块的关系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4844" y="3892550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知道了这四个零件，还要知道问题属于哪一类</a:t>
              </a:r>
            </a:p>
          </p:txBody>
        </p:sp>
      </p:grpSp>
      <p:grpSp>
        <p:nvGrpSpPr>
          <p:cNvPr id="21" name="summary-1-band"/>
          <p:cNvGrpSpPr/>
          <p:nvPr/>
        </p:nvGrpSpPr>
        <p:grpSpPr>
          <a:xfrm>
            <a:off x="685800" y="4838700"/>
            <a:ext cx="10820400" cy="876300"/>
            <a:chOff x="685800" y="4838700"/>
            <a:chExt cx="108204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85800" y="4838700"/>
              <a:ext cx="108204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838700"/>
              <a:ext cx="76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794" y="51498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下一块：这些零件要解决的问题，可以归成哪几类？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grpSp>
        <p:nvGrpSpPr>
          <p:cNvPr id="5" name="section-chip"/>
          <p:cNvGrpSpPr/>
          <p:nvPr/>
        </p:nvGrpSpPr>
        <p:grpSpPr>
          <a:xfrm>
            <a:off x="685800" y="1428750"/>
            <a:ext cx="2857500" cy="514350"/>
            <a:chOff x="685800" y="1428750"/>
            <a:chExt cx="2857500" cy="514350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285750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3309" y="1568450"/>
              <a:ext cx="2142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模块二 · 约 3.5 分钟</a:t>
              </a:r>
            </a:p>
          </p:txBody>
        </p:sp>
      </p:grpSp>
      <p:grpSp>
        <p:nvGrpSpPr>
          <p:cNvPr id="8" name="section-headline"/>
          <p:cNvGrpSpPr/>
          <p:nvPr/>
        </p:nvGrpSpPr>
        <p:grpSpPr>
          <a:xfrm>
            <a:off x="669036" y="2527300"/>
            <a:ext cx="8208264" cy="682625"/>
            <a:chOff x="669036" y="2527300"/>
            <a:chExt cx="8208264" cy="682625"/>
          </a:xfrm>
        </p:grpSpPr>
        <p:sp>
          <p:nvSpPr>
            <p:cNvPr id="6" name="TextBox 6"/>
            <p:cNvSpPr txBox="1"/>
            <p:nvPr/>
          </p:nvSpPr>
          <p:spPr>
            <a:xfrm>
              <a:off x="669036" y="25273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有没有标签，决定问题属于哪一类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3200400"/>
              <a:ext cx="8191500" cy="9525"/>
            </a:xfrm>
            <a:custGeom>
              <a:avLst/>
              <a:gdLst/>
              <a:ahLst/>
              <a:cxnLst/>
              <a:rect l="l" t="t" r="r" b="b"/>
              <a:pathLst>
                <a:path w="8191500" h="9525">
                  <a:moveTo>
                    <a:pt x="0" y="0"/>
                  </a:moveTo>
                  <a:lnTo>
                    <a:pt x="81915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</p:grpSp>
      <p:grpSp>
        <p:nvGrpSpPr>
          <p:cNvPr id="10" name="section-sub"/>
          <p:cNvGrpSpPr/>
          <p:nvPr/>
        </p:nvGrpSpPr>
        <p:grpSpPr>
          <a:xfrm>
            <a:off x="675894" y="3835400"/>
            <a:ext cx="7107555" cy="381381"/>
            <a:chOff x="675894" y="3835400"/>
            <a:chExt cx="7107555" cy="381381"/>
          </a:xfrm>
        </p:grpSpPr>
        <p:sp>
          <p:nvSpPr>
            <p:cNvPr id="9" name="TextBox 9"/>
            <p:cNvSpPr txBox="1"/>
            <p:nvPr/>
          </p:nvSpPr>
          <p:spPr>
            <a:xfrm>
              <a:off x="675894" y="383540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这一块回答：监督、无监督、强化学习分别在什么情况下用。</a:t>
              </a:r>
            </a:p>
          </p:txBody>
        </p:sp>
      </p:grpSp>
      <p:grpSp>
        <p:nvGrpSpPr>
          <p:cNvPr id="12" name="section-numeral"/>
          <p:cNvGrpSpPr/>
          <p:nvPr/>
        </p:nvGrpSpPr>
        <p:grpSpPr>
          <a:xfrm>
            <a:off x="9504702" y="1866900"/>
            <a:ext cx="2020548" cy="2447925"/>
            <a:chOff x="9504702" y="1866900"/>
            <a:chExt cx="2020548" cy="2447925"/>
          </a:xfrm>
        </p:grpSpPr>
        <p:sp>
          <p:nvSpPr>
            <p:cNvPr id="11" name="TextBox 11"/>
            <p:cNvSpPr txBox="1"/>
            <p:nvPr/>
          </p:nvSpPr>
          <p:spPr>
            <a:xfrm>
              <a:off x="9504702" y="1866900"/>
              <a:ext cx="2020548" cy="2447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0" b="1" dirty="0">
                  <a:solidFill>
                    <a:srgbClr val="EAF1F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895576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监督学习：给「输入 + 答案」，学一个映射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2" name="task-regression"/>
          <p:cNvGrpSpPr/>
          <p:nvPr/>
        </p:nvGrpSpPr>
        <p:grpSpPr>
          <a:xfrm>
            <a:off x="685800" y="1333500"/>
            <a:ext cx="5219700" cy="2057400"/>
            <a:chOff x="685800" y="1333500"/>
            <a:chExt cx="5219700" cy="20574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5219700" cy="2057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499" y="15240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1070" y="18351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预测一个数值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499" y="2438400"/>
              <a:ext cx="210045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例子：给 PWM 指令，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499" y="274320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预测小车速度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499" y="3048000"/>
              <a:ext cx="27810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输出是连续的数，可以差一点</a:t>
              </a:r>
            </a:p>
          </p:txBody>
        </p:sp>
      </p:grpSp>
      <p:grpSp>
        <p:nvGrpSpPr>
          <p:cNvPr id="19" name="task-classification"/>
          <p:cNvGrpSpPr/>
          <p:nvPr/>
        </p:nvGrpSpPr>
        <p:grpSpPr>
          <a:xfrm>
            <a:off x="6286500" y="1333500"/>
            <a:ext cx="5219700" cy="2057400"/>
            <a:chOff x="6286500" y="1333500"/>
            <a:chExt cx="5219700" cy="2057400"/>
          </a:xfrm>
        </p:grpSpPr>
        <p:sp>
          <p:nvSpPr>
            <p:cNvPr id="13" name="Rectangle 13"/>
            <p:cNvSpPr/>
            <p:nvPr/>
          </p:nvSpPr>
          <p:spPr>
            <a:xfrm>
              <a:off x="6286500" y="1333500"/>
              <a:ext cx="5219700" cy="2057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5199" y="15240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1770" y="18351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预测一个类别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199" y="2438400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例子：给传感器读数，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5199" y="274320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判断该不该转向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5199" y="3048000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输出是有限的几个类别</a:t>
              </a:r>
            </a:p>
          </p:txBody>
        </p:sp>
      </p:grpSp>
      <p:grpSp>
        <p:nvGrpSpPr>
          <p:cNvPr id="24" name="supervised-steps"/>
          <p:cNvGrpSpPr/>
          <p:nvPr/>
        </p:nvGrpSpPr>
        <p:grpSpPr>
          <a:xfrm>
            <a:off x="685800" y="3543300"/>
            <a:ext cx="10820400" cy="914400"/>
            <a:chOff x="685800" y="3543300"/>
            <a:chExt cx="10820400" cy="914400"/>
          </a:xfrm>
        </p:grpSpPr>
        <p:sp>
          <p:nvSpPr>
            <p:cNvPr id="20" name="Rectangle 20"/>
            <p:cNvSpPr/>
            <p:nvPr/>
          </p:nvSpPr>
          <p:spPr>
            <a:xfrm>
              <a:off x="685800" y="3543300"/>
              <a:ext cx="10820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" y="3543300"/>
              <a:ext cx="762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8794" y="3663950"/>
              <a:ext cx="67662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监督学习三步：① 收集带答案的例子　② 用它们训练出模型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8794" y="4025900"/>
              <a:ext cx="36555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拿模型去预测没见过的输入。</a:t>
              </a:r>
            </a:p>
          </p:txBody>
        </p:sp>
      </p:grpSp>
      <p:grpSp>
        <p:nvGrpSpPr>
          <p:cNvPr id="28" name="supervised-note"/>
          <p:cNvGrpSpPr/>
          <p:nvPr/>
        </p:nvGrpSpPr>
        <p:grpSpPr>
          <a:xfrm>
            <a:off x="677799" y="4648200"/>
            <a:ext cx="10828401" cy="842391"/>
            <a:chOff x="677799" y="4648200"/>
            <a:chExt cx="10828401" cy="842391"/>
          </a:xfrm>
        </p:grpSpPr>
        <p:sp>
          <p:nvSpPr>
            <p:cNvPr id="25" name="Line 25"/>
            <p:cNvSpPr/>
            <p:nvPr/>
          </p:nvSpPr>
          <p:spPr>
            <a:xfrm>
              <a:off x="685800" y="4648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799" y="4857750"/>
              <a:ext cx="68223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回归和分类的差别不在模型，而在输出：一个输出数值，一个输出类别。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799" y="5181600"/>
              <a:ext cx="682238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监督学习里还有标记、搜索、推荐、序列学习等形态，完成清单见讲义。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83949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没有标准答案时：找结构，或者边做边学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1" name="task-unsupervised"/>
          <p:cNvGrpSpPr/>
          <p:nvPr/>
        </p:nvGrpSpPr>
        <p:grpSpPr>
          <a:xfrm>
            <a:off x="685800" y="1333500"/>
            <a:ext cx="5219700" cy="2057400"/>
            <a:chOff x="685800" y="1333500"/>
            <a:chExt cx="5219700" cy="2057400"/>
          </a:xfrm>
        </p:grpSpPr>
        <p:sp>
          <p:nvSpPr>
            <p:cNvPr id="6" name="Rectangle 6"/>
            <p:cNvSpPr/>
            <p:nvPr/>
          </p:nvSpPr>
          <p:spPr>
            <a:xfrm>
              <a:off x="685800" y="1333500"/>
              <a:ext cx="5219700" cy="2057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499" y="1524000"/>
              <a:ext cx="10795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无监督学习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1070" y="18351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没有标签，从数据里找结构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4499" y="2438400"/>
              <a:ext cx="341919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例子：一堆传感器读数，没有标签，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499" y="27432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自动把它们分成几组</a:t>
              </a:r>
            </a:p>
          </p:txBody>
        </p:sp>
      </p:grpSp>
      <p:grpSp>
        <p:nvGrpSpPr>
          <p:cNvPr id="17" name="task-reinforcement"/>
          <p:cNvGrpSpPr/>
          <p:nvPr/>
        </p:nvGrpSpPr>
        <p:grpSpPr>
          <a:xfrm>
            <a:off x="6286500" y="1333500"/>
            <a:ext cx="5219700" cy="2057400"/>
            <a:chOff x="6286500" y="1333500"/>
            <a:chExt cx="5219700" cy="20574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333500"/>
              <a:ext cx="5219700" cy="2057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45199" y="15240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强化学习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1770" y="183515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和环境互动，靠奖励改进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5199" y="2438400"/>
              <a:ext cx="299379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例子：让小车自己试错走迷宫，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5199" y="2743200"/>
              <a:ext cx="23556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撞墙扣分、到达终点加分</a:t>
              </a:r>
            </a:p>
          </p:txBody>
        </p:sp>
      </p:grpSp>
      <p:grpSp>
        <p:nvGrpSpPr>
          <p:cNvPr id="21" name="type-boundary"/>
          <p:cNvGrpSpPr/>
          <p:nvPr/>
        </p:nvGrpSpPr>
        <p:grpSpPr>
          <a:xfrm>
            <a:off x="685800" y="3543300"/>
            <a:ext cx="10820400" cy="914400"/>
            <a:chOff x="685800" y="3543300"/>
            <a:chExt cx="10820400" cy="914400"/>
          </a:xfrm>
        </p:grpSpPr>
        <p:sp>
          <p:nvSpPr>
            <p:cNvPr id="18" name="Rectangle 18"/>
            <p:cNvSpPr/>
            <p:nvPr/>
          </p:nvSpPr>
          <p:spPr>
            <a:xfrm>
              <a:off x="685800" y="3543300"/>
              <a:ext cx="10820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543300"/>
              <a:ext cx="762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794" y="3873500"/>
              <a:ext cx="99951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分界线是「数据有没有标准答案」；再往前一步，是「要不要自己动手去影响环境」。</a:t>
              </a:r>
            </a:p>
          </p:txBody>
        </p:sp>
      </p:grpSp>
      <p:grpSp>
        <p:nvGrpSpPr>
          <p:cNvPr id="27" name="type-note"/>
          <p:cNvGrpSpPr/>
          <p:nvPr/>
        </p:nvGrpSpPr>
        <p:grpSpPr>
          <a:xfrm>
            <a:off x="677799" y="4724400"/>
            <a:ext cx="9914001" cy="1432941"/>
            <a:chOff x="677799" y="4724400"/>
            <a:chExt cx="9914001" cy="1432941"/>
          </a:xfrm>
        </p:grpSpPr>
        <p:sp>
          <p:nvSpPr>
            <p:cNvPr id="22" name="Line 22"/>
            <p:cNvSpPr/>
            <p:nvPr/>
          </p:nvSpPr>
          <p:spPr>
            <a:xfrm>
              <a:off x="685800" y="47244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799" y="4876800"/>
              <a:ext cx="469539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无监督不是「没有目标」：它照样要有目标函数，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799" y="5200650"/>
              <a:ext cx="575889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只是目标变成「把结构找出来」，而不是「逼近标准答案」。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799" y="5524500"/>
              <a:ext cx="492936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强化学习拿到的是奖励，不告诉你每一步该怎么做——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799" y="5848350"/>
              <a:ext cx="42699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所以它还要解决「哪一步的功劳」这个问题。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79305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练一练：这三个任务分别属于哪一类？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0" name="task-a"/>
          <p:cNvGrpSpPr/>
          <p:nvPr/>
        </p:nvGrpSpPr>
        <p:grpSpPr>
          <a:xfrm>
            <a:off x="685800" y="1619250"/>
            <a:ext cx="10820400" cy="876300"/>
            <a:chOff x="685800" y="1619250"/>
            <a:chExt cx="10820400" cy="87630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619250"/>
              <a:ext cx="5715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7708" y="1873250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1813" y="1930400"/>
              <a:ext cx="404517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 PWM 指令，预测小车能跑多快</a:t>
              </a:r>
            </a:p>
          </p:txBody>
        </p:sp>
      </p:grpSp>
      <p:grpSp>
        <p:nvGrpSpPr>
          <p:cNvPr id="15" name="task-b"/>
          <p:cNvGrpSpPr/>
          <p:nvPr/>
        </p:nvGrpSpPr>
        <p:grpSpPr>
          <a:xfrm>
            <a:off x="685800" y="2647950"/>
            <a:ext cx="10820400" cy="876300"/>
            <a:chOff x="685800" y="2647950"/>
            <a:chExt cx="10820400" cy="876300"/>
          </a:xfrm>
        </p:grpSpPr>
        <p:sp>
          <p:nvSpPr>
            <p:cNvPr id="11" name="Rectangle 11"/>
            <p:cNvSpPr/>
            <p:nvPr/>
          </p:nvSpPr>
          <p:spPr>
            <a:xfrm>
              <a:off x="685800" y="264795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2647950"/>
              <a:ext cx="5715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7708" y="2901950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51813" y="2959100"/>
              <a:ext cx="51872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一批传感器读数，没有标签，自动分成几组</a:t>
              </a:r>
            </a:p>
          </p:txBody>
        </p:sp>
      </p:grpSp>
      <p:grpSp>
        <p:nvGrpSpPr>
          <p:cNvPr id="20" name="task-c"/>
          <p:cNvGrpSpPr/>
          <p:nvPr/>
        </p:nvGrpSpPr>
        <p:grpSpPr>
          <a:xfrm>
            <a:off x="685800" y="3676650"/>
            <a:ext cx="10820400" cy="876300"/>
            <a:chOff x="685800" y="3676650"/>
            <a:chExt cx="10820400" cy="876300"/>
          </a:xfrm>
        </p:grpSpPr>
        <p:sp>
          <p:nvSpPr>
            <p:cNvPr id="16" name="Rectangle 16"/>
            <p:cNvSpPr/>
            <p:nvPr/>
          </p:nvSpPr>
          <p:spPr>
            <a:xfrm>
              <a:off x="685800" y="367665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" y="3676650"/>
              <a:ext cx="5715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708" y="3930650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51813" y="3987800"/>
              <a:ext cx="545922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让小车自己试错走迷宫，撞墙扣分、到达加分</a:t>
              </a:r>
            </a:p>
          </p:txBody>
        </p:sp>
      </p:grpSp>
      <p:grpSp>
        <p:nvGrpSpPr>
          <p:cNvPr id="23" name="task-question"/>
          <p:cNvGrpSpPr/>
          <p:nvPr/>
        </p:nvGrpSpPr>
        <p:grpSpPr>
          <a:xfrm>
            <a:off x="685800" y="4838700"/>
            <a:ext cx="10820400" cy="952500"/>
            <a:chOff x="685800" y="4838700"/>
            <a:chExt cx="10820400" cy="952500"/>
          </a:xfrm>
        </p:grpSpPr>
        <p:sp>
          <p:nvSpPr>
            <p:cNvPr id="21" name="Rectangle 21"/>
            <p:cNvSpPr/>
            <p:nvPr/>
          </p:nvSpPr>
          <p:spPr>
            <a:xfrm>
              <a:off x="685800" y="4838700"/>
              <a:ext cx="10820400" cy="952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8794" y="5187950"/>
              <a:ext cx="89451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举手：它们分别是监督、无监督还是强化学习？先说出你的判断，再听我讲。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模块二小结：先给任务贴类型标签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9" name="summary-1"/>
          <p:cNvGrpSpPr/>
          <p:nvPr/>
        </p:nvGrpSpPr>
        <p:grpSpPr>
          <a:xfrm>
            <a:off x="685800" y="1524000"/>
            <a:ext cx="10820400" cy="876300"/>
            <a:chOff x="685800" y="1524000"/>
            <a:chExt cx="10820400" cy="876300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118" y="18732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这一块讲了什么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04844" y="183515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有标签是监督学习，没标签是无监督，要互动是强化学习</a:t>
              </a:r>
            </a:p>
          </p:txBody>
        </p:sp>
      </p:grpSp>
      <p:grpSp>
        <p:nvGrpSpPr>
          <p:cNvPr id="13" name="summary-2"/>
          <p:cNvGrpSpPr/>
          <p:nvPr/>
        </p:nvGrpSpPr>
        <p:grpSpPr>
          <a:xfrm>
            <a:off x="685800" y="2552700"/>
            <a:ext cx="10820400" cy="876300"/>
            <a:chOff x="685800" y="2552700"/>
            <a:chExt cx="10820400" cy="876300"/>
          </a:xfrm>
        </p:grpSpPr>
        <p:sp>
          <p:nvSpPr>
            <p:cNvPr id="10" name="Rectangle 10"/>
            <p:cNvSpPr/>
            <p:nvPr/>
          </p:nvSpPr>
          <p:spPr>
            <a:xfrm>
              <a:off x="685800" y="25527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118" y="2901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为什么重要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4844" y="2863850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任务类型决定了能选什么方法、该看什么指标</a:t>
              </a:r>
            </a:p>
          </p:txBody>
        </p:sp>
      </p:grpSp>
      <p:grpSp>
        <p:nvGrpSpPr>
          <p:cNvPr id="17" name="summary-3"/>
          <p:cNvGrpSpPr/>
          <p:nvPr/>
        </p:nvGrpSpPr>
        <p:grpSpPr>
          <a:xfrm>
            <a:off x="685800" y="3581400"/>
            <a:ext cx="10820400" cy="876300"/>
            <a:chOff x="685800" y="3581400"/>
            <a:chExt cx="10820400" cy="876300"/>
          </a:xfrm>
        </p:grpSpPr>
        <p:sp>
          <p:nvSpPr>
            <p:cNvPr id="14" name="Rectangle 14"/>
            <p:cNvSpPr/>
            <p:nvPr/>
          </p:nvSpPr>
          <p:spPr>
            <a:xfrm>
              <a:off x="685800" y="35814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118" y="39306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和下一块的关系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4844" y="3892550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选对了类型，还要能判断模型是不是真的学会了</a:t>
              </a:r>
            </a:p>
          </p:txBody>
        </p:sp>
      </p:grpSp>
      <p:grpSp>
        <p:nvGrpSpPr>
          <p:cNvPr id="21" name="summary-2-band"/>
          <p:cNvGrpSpPr/>
          <p:nvPr/>
        </p:nvGrpSpPr>
        <p:grpSpPr>
          <a:xfrm>
            <a:off x="685800" y="4838700"/>
            <a:ext cx="10820400" cy="876300"/>
            <a:chOff x="685800" y="4838700"/>
            <a:chExt cx="108204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85800" y="4838700"/>
              <a:ext cx="108204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838700"/>
              <a:ext cx="76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794" y="51498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下一块：训练得好，算不算真的学会了？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grpSp>
        <p:nvGrpSpPr>
          <p:cNvPr id="5" name="section-chip"/>
          <p:cNvGrpSpPr/>
          <p:nvPr/>
        </p:nvGrpSpPr>
        <p:grpSpPr>
          <a:xfrm>
            <a:off x="685800" y="1428750"/>
            <a:ext cx="2857500" cy="514350"/>
            <a:chOff x="685800" y="1428750"/>
            <a:chExt cx="2857500" cy="514350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2857500" cy="514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3309" y="1568450"/>
              <a:ext cx="2142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模块三 · 约 4.5 分钟</a:t>
              </a:r>
            </a:p>
          </p:txBody>
        </p:sp>
      </p:grpSp>
      <p:grpSp>
        <p:nvGrpSpPr>
          <p:cNvPr id="8" name="section-headline"/>
          <p:cNvGrpSpPr/>
          <p:nvPr/>
        </p:nvGrpSpPr>
        <p:grpSpPr>
          <a:xfrm>
            <a:off x="669036" y="2527300"/>
            <a:ext cx="8208264" cy="682625"/>
            <a:chOff x="669036" y="2527300"/>
            <a:chExt cx="8208264" cy="682625"/>
          </a:xfrm>
        </p:grpSpPr>
        <p:sp>
          <p:nvSpPr>
            <p:cNvPr id="6" name="TextBox 6"/>
            <p:cNvSpPr txBox="1"/>
            <p:nvPr/>
          </p:nvSpPr>
          <p:spPr>
            <a:xfrm>
              <a:off x="669036" y="25273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训练得好，不等于新的数据上也好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85800" y="3200400"/>
              <a:ext cx="8191500" cy="9525"/>
            </a:xfrm>
            <a:custGeom>
              <a:avLst/>
              <a:gdLst/>
              <a:ahLst/>
              <a:cxnLst/>
              <a:rect l="l" t="t" r="r" b="b"/>
              <a:pathLst>
                <a:path w="8191500" h="9525">
                  <a:moveTo>
                    <a:pt x="0" y="0"/>
                  </a:moveTo>
                  <a:lnTo>
                    <a:pt x="81915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</p:grpSp>
      <p:grpSp>
        <p:nvGrpSpPr>
          <p:cNvPr id="10" name="section-sub"/>
          <p:cNvGrpSpPr/>
          <p:nvPr/>
        </p:nvGrpSpPr>
        <p:grpSpPr>
          <a:xfrm>
            <a:off x="675894" y="3835400"/>
            <a:ext cx="7632573" cy="381381"/>
            <a:chOff x="675894" y="3835400"/>
            <a:chExt cx="7632573" cy="381381"/>
          </a:xfrm>
        </p:grpSpPr>
        <p:sp>
          <p:nvSpPr>
            <p:cNvPr id="9" name="TextBox 9"/>
            <p:cNvSpPr txBox="1"/>
            <p:nvPr/>
          </p:nvSpPr>
          <p:spPr>
            <a:xfrm>
              <a:off x="675894" y="383540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这一块回答：怎么判断模型是学到了规律，还是把答案背下来了。</a:t>
              </a:r>
            </a:p>
          </p:txBody>
        </p:sp>
      </p:grpSp>
      <p:grpSp>
        <p:nvGrpSpPr>
          <p:cNvPr id="12" name="section-numeral"/>
          <p:cNvGrpSpPr/>
          <p:nvPr/>
        </p:nvGrpSpPr>
        <p:grpSpPr>
          <a:xfrm>
            <a:off x="9504702" y="1866900"/>
            <a:ext cx="2020548" cy="2447925"/>
            <a:chOff x="9504702" y="1866900"/>
            <a:chExt cx="2020548" cy="2447925"/>
          </a:xfrm>
        </p:grpSpPr>
        <p:sp>
          <p:nvSpPr>
            <p:cNvPr id="11" name="TextBox 11"/>
            <p:cNvSpPr txBox="1"/>
            <p:nvPr/>
          </p:nvSpPr>
          <p:spPr>
            <a:xfrm>
              <a:off x="9504702" y="1866900"/>
              <a:ext cx="2020548" cy="2447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0" b="1" dirty="0">
                  <a:solidFill>
                    <a:srgbClr val="EAF1F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839495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训练集上表现好，不等于测试集上表现好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7" name="overfit-figure"/>
          <p:cNvGrpSpPr/>
          <p:nvPr/>
        </p:nvGrpSpPr>
        <p:grpSpPr>
          <a:xfrm>
            <a:off x="2119030" y="1428750"/>
            <a:ext cx="7953941" cy="3238500"/>
            <a:chOff x="2119030" y="1428750"/>
            <a:chExt cx="7953941" cy="32385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9030" y="1428750"/>
              <a:ext cx="7953941" cy="3238500"/>
            </a:xfrm>
            <a:prstGeom prst="rect">
              <a:avLst/>
            </a:prstGeom>
          </p:spPr>
        </p:pic>
      </p:grpSp>
      <p:grpSp>
        <p:nvGrpSpPr>
          <p:cNvPr id="12" name="overfit-notes"/>
          <p:cNvGrpSpPr/>
          <p:nvPr/>
        </p:nvGrpSpPr>
        <p:grpSpPr>
          <a:xfrm>
            <a:off x="676656" y="4819650"/>
            <a:ext cx="10829544" cy="1221994"/>
            <a:chOff x="676656" y="4819650"/>
            <a:chExt cx="10829544" cy="1221994"/>
          </a:xfrm>
        </p:grpSpPr>
        <p:sp>
          <p:nvSpPr>
            <p:cNvPr id="8" name="Line 8"/>
            <p:cNvSpPr/>
            <p:nvPr/>
          </p:nvSpPr>
          <p:spPr>
            <a:xfrm>
              <a:off x="685800" y="4819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4965700"/>
              <a:ext cx="7651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欠拟合：1 次多项式太简单，训练和测试误差都偏大（0.047 / 0.086）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5327650"/>
              <a:ext cx="74089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合适：3 次多项式，训练与测试误差都小而且接近（0.004 / 0.009）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5689600"/>
              <a:ext cx="6912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过拟合：9 次多项式几乎贴着每个训练点，测试误差涨到 67.314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找错：这个模型的问题在哪？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10" name="error-task"/>
          <p:cNvGrpSpPr/>
          <p:nvPr/>
        </p:nvGrpSpPr>
        <p:grpSpPr>
          <a:xfrm>
            <a:off x="685800" y="1428750"/>
            <a:ext cx="10820400" cy="1428750"/>
            <a:chOff x="685800" y="1428750"/>
            <a:chExt cx="10820400" cy="1428750"/>
          </a:xfrm>
        </p:grpSpPr>
        <p:sp>
          <p:nvSpPr>
            <p:cNvPr id="6" name="Rectangle 6"/>
            <p:cNvSpPr/>
            <p:nvPr/>
          </p:nvSpPr>
          <p:spPr>
            <a:xfrm>
              <a:off x="685800" y="1428750"/>
              <a:ext cx="108204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428750"/>
              <a:ext cx="762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8794" y="1778000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任务：判断小车此刻需不需要转向。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8794" y="2216150"/>
              <a:ext cx="60968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1000 个样本里，950 个不需要转，只有 50 个需要。</a:t>
              </a:r>
            </a:p>
          </p:txBody>
        </p:sp>
      </p:grpSp>
      <p:grpSp>
        <p:nvGrpSpPr>
          <p:cNvPr id="12" name="error-model"/>
          <p:cNvGrpSpPr/>
          <p:nvPr/>
        </p:nvGrpSpPr>
        <p:grpSpPr>
          <a:xfrm>
            <a:off x="675132" y="3194050"/>
            <a:ext cx="5392674" cy="410718"/>
            <a:chOff x="675132" y="3194050"/>
            <a:chExt cx="5392674" cy="410718"/>
          </a:xfrm>
        </p:grpSpPr>
        <p:sp>
          <p:nvSpPr>
            <p:cNvPr id="11" name="TextBox 11"/>
            <p:cNvSpPr txBox="1"/>
            <p:nvPr/>
          </p:nvSpPr>
          <p:spPr>
            <a:xfrm>
              <a:off x="675132" y="319405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现在有个模型，永远输出「不需要转向」。</a:t>
              </a:r>
            </a:p>
          </p:txBody>
        </p:sp>
      </p:grpSp>
      <p:grpSp>
        <p:nvGrpSpPr>
          <p:cNvPr id="15" name="error-question"/>
          <p:cNvGrpSpPr/>
          <p:nvPr/>
        </p:nvGrpSpPr>
        <p:grpSpPr>
          <a:xfrm>
            <a:off x="685800" y="3810000"/>
            <a:ext cx="10820400" cy="952500"/>
            <a:chOff x="685800" y="3810000"/>
            <a:chExt cx="10820400" cy="952500"/>
          </a:xfrm>
        </p:grpSpPr>
        <p:sp>
          <p:nvSpPr>
            <p:cNvPr id="13" name="Rectangle 13"/>
            <p:cNvSpPr/>
            <p:nvPr/>
          </p:nvSpPr>
          <p:spPr>
            <a:xfrm>
              <a:off x="685800" y="3810000"/>
              <a:ext cx="10820400" cy="9525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8032" y="414655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问题：它的准确率是多少？它能装到车上吗？</a:t>
              </a:r>
            </a:p>
          </p:txBody>
        </p:sp>
      </p:grpSp>
      <p:grpSp>
        <p:nvGrpSpPr>
          <p:cNvPr id="17" name="error-hint"/>
          <p:cNvGrpSpPr/>
          <p:nvPr/>
        </p:nvGrpSpPr>
        <p:grpSpPr>
          <a:xfrm>
            <a:off x="676656" y="5156200"/>
            <a:ext cx="3410712" cy="352044"/>
            <a:chOff x="676656" y="5156200"/>
            <a:chExt cx="3410712" cy="352044"/>
          </a:xfrm>
        </p:grpSpPr>
        <p:sp>
          <p:nvSpPr>
            <p:cNvPr id="16" name="TextBox 16"/>
            <p:cNvSpPr txBox="1"/>
            <p:nvPr/>
          </p:nvSpPr>
          <p:spPr>
            <a:xfrm>
              <a:off x="676656" y="51562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先说出你的答案，再看下一页。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79305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准确率高，也可能一个该抓的都没抓住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22" name="confusion-matrix"/>
          <p:cNvGrpSpPr/>
          <p:nvPr/>
        </p:nvGrpSpPr>
        <p:grpSpPr>
          <a:xfrm>
            <a:off x="685800" y="1524000"/>
            <a:ext cx="6667500" cy="2867025"/>
            <a:chOff x="685800" y="1524000"/>
            <a:chExt cx="6667500" cy="2867025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6667500" cy="2857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04850" y="1543050"/>
              <a:ext cx="66294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85800" y="20955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32385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43815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chemeClr val="dk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524125" y="1524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933950" y="15240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33650" y="3257550"/>
              <a:ext cx="2390775" cy="1104900"/>
            </a:xfrm>
            <a:prstGeom prst="rect">
              <a:avLst/>
            </a:prstGeom>
            <a:solidFill>
              <a:srgbClr val="FBEE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16891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实际需要转向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40630" y="16891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实际不需要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6225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预测需要转向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1599" y="26225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80474" y="26225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746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预测不需要转向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65669" y="37084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69413" y="374650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950</a:t>
              </a:r>
            </a:p>
          </p:txBody>
        </p:sp>
      </p:grpSp>
      <p:grpSp>
        <p:nvGrpSpPr>
          <p:cNvPr id="27" name="metric-values"/>
          <p:cNvGrpSpPr/>
          <p:nvPr/>
        </p:nvGrpSpPr>
        <p:grpSpPr>
          <a:xfrm>
            <a:off x="7762494" y="1701800"/>
            <a:ext cx="2789282" cy="2324481"/>
            <a:chOff x="7762494" y="1701800"/>
            <a:chExt cx="2789282" cy="2324481"/>
          </a:xfrm>
        </p:grpSpPr>
        <p:sp>
          <p:nvSpPr>
            <p:cNvPr id="23" name="TextBox 23"/>
            <p:cNvSpPr txBox="1"/>
            <p:nvPr/>
          </p:nvSpPr>
          <p:spPr>
            <a:xfrm>
              <a:off x="7762494" y="1701800"/>
              <a:ext cx="13717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准确率 95%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2494" y="2349500"/>
              <a:ext cx="22642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召回率 0 / 50 = 0%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2494" y="2997200"/>
              <a:ext cx="27892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精确率 0 / 0：没有定义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2494" y="3644900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 次该转都没抓住</a:t>
              </a:r>
            </a:p>
          </p:txBody>
        </p:sp>
      </p:grpSp>
      <p:grpSp>
        <p:nvGrpSpPr>
          <p:cNvPr id="31" name="metric-conclusion"/>
          <p:cNvGrpSpPr/>
          <p:nvPr/>
        </p:nvGrpSpPr>
        <p:grpSpPr>
          <a:xfrm>
            <a:off x="685800" y="4667250"/>
            <a:ext cx="10820400" cy="914400"/>
            <a:chOff x="685800" y="4667250"/>
            <a:chExt cx="10820400" cy="914400"/>
          </a:xfrm>
        </p:grpSpPr>
        <p:sp>
          <p:nvSpPr>
            <p:cNvPr id="28" name="Rectangle 28"/>
            <p:cNvSpPr/>
            <p:nvPr/>
          </p:nvSpPr>
          <p:spPr>
            <a:xfrm>
              <a:off x="685800" y="4667250"/>
              <a:ext cx="10820400" cy="9144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5800" y="4667250"/>
              <a:ext cx="762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8794" y="499745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在这个任务里，漏报比误报贵：宁可多转一次，也不能漏掉一次。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79305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模块三小结：指标好看，不等于能上车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9" name="summary-1"/>
          <p:cNvGrpSpPr/>
          <p:nvPr/>
        </p:nvGrpSpPr>
        <p:grpSpPr>
          <a:xfrm>
            <a:off x="685800" y="1524000"/>
            <a:ext cx="10820400" cy="876300"/>
            <a:chOff x="685800" y="1524000"/>
            <a:chExt cx="10820400" cy="876300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118" y="18732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这一块讲了什么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04844" y="1835150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训练误差小不等于泛化好；评价指标要按任务选</a:t>
              </a:r>
            </a:p>
          </p:txBody>
        </p:sp>
      </p:grpSp>
      <p:grpSp>
        <p:nvGrpSpPr>
          <p:cNvPr id="13" name="summary-2"/>
          <p:cNvGrpSpPr/>
          <p:nvPr/>
        </p:nvGrpSpPr>
        <p:grpSpPr>
          <a:xfrm>
            <a:off x="685800" y="2552700"/>
            <a:ext cx="10820400" cy="876300"/>
            <a:chOff x="685800" y="2552700"/>
            <a:chExt cx="10820400" cy="876300"/>
          </a:xfrm>
        </p:grpSpPr>
        <p:sp>
          <p:nvSpPr>
            <p:cNvPr id="10" name="Rectangle 10"/>
            <p:cNvSpPr/>
            <p:nvPr/>
          </p:nvSpPr>
          <p:spPr>
            <a:xfrm>
              <a:off x="685800" y="25527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118" y="29019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为什么重要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4844" y="2863850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实验室里表现好的模型，换到车上可能完全不能用</a:t>
              </a:r>
            </a:p>
          </p:txBody>
        </p:sp>
      </p:grpSp>
      <p:grpSp>
        <p:nvGrpSpPr>
          <p:cNvPr id="17" name="summary-3"/>
          <p:cNvGrpSpPr/>
          <p:nvPr/>
        </p:nvGrpSpPr>
        <p:grpSpPr>
          <a:xfrm>
            <a:off x="685800" y="3581400"/>
            <a:ext cx="10820400" cy="876300"/>
            <a:chOff x="685800" y="3581400"/>
            <a:chExt cx="10820400" cy="876300"/>
          </a:xfrm>
        </p:grpSpPr>
        <p:sp>
          <p:nvSpPr>
            <p:cNvPr id="14" name="Rectangle 14"/>
            <p:cNvSpPr/>
            <p:nvPr/>
          </p:nvSpPr>
          <p:spPr>
            <a:xfrm>
              <a:off x="685800" y="35814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118" y="39306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和整条链的关系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4844" y="3892550"/>
              <a:ext cx="56506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用数据编程 → 四个组件 → 问题类型 → 泛化与评价</a:t>
              </a:r>
            </a:p>
          </p:txBody>
        </p:sp>
      </p:grpSp>
      <p:grpSp>
        <p:nvGrpSpPr>
          <p:cNvPr id="21" name="summary-3-band"/>
          <p:cNvGrpSpPr/>
          <p:nvPr/>
        </p:nvGrpSpPr>
        <p:grpSpPr>
          <a:xfrm>
            <a:off x="685800" y="4838700"/>
            <a:ext cx="10820400" cy="876300"/>
            <a:chOff x="685800" y="4838700"/>
            <a:chExt cx="10820400" cy="876300"/>
          </a:xfrm>
        </p:grpSpPr>
        <p:sp>
          <p:nvSpPr>
            <p:cNvPr id="18" name="Rectangle 18"/>
            <p:cNvSpPr/>
            <p:nvPr/>
          </p:nvSpPr>
          <p:spPr>
            <a:xfrm>
              <a:off x="685800" y="4838700"/>
              <a:ext cx="108204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838700"/>
              <a:ext cx="76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8794" y="51498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最后一步：回到开场那三个问题，把整条链串起来。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22406" y="628650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22</a:t>
            </a:r>
          </a:p>
        </p:txBody>
      </p:sp>
      <p:grpSp>
        <p:nvGrpSpPr>
          <p:cNvPr id="5" name="page-title"/>
          <p:cNvGrpSpPr/>
          <p:nvPr/>
        </p:nvGrpSpPr>
        <p:grpSpPr>
          <a:xfrm>
            <a:off x="668274" y="419100"/>
            <a:ext cx="10837926" cy="674751"/>
            <a:chOff x="668274" y="419100"/>
            <a:chExt cx="10837926" cy="674751"/>
          </a:xfrm>
        </p:grpSpPr>
        <p:sp>
          <p:nvSpPr>
            <p:cNvPr id="3" name="TextBox 3"/>
            <p:cNvSpPr txBox="1"/>
            <p:nvPr/>
          </p:nvSpPr>
          <p:spPr>
            <a:xfrm>
              <a:off x="668274" y="419100"/>
              <a:ext cx="4215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开场三个问题的答案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028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</p:grpSp>
      <p:grpSp>
        <p:nvGrpSpPr>
          <p:cNvPr id="9" name="answer-1"/>
          <p:cNvGrpSpPr/>
          <p:nvPr/>
        </p:nvGrpSpPr>
        <p:grpSpPr>
          <a:xfrm>
            <a:off x="685800" y="1524000"/>
            <a:ext cx="10820400" cy="876300"/>
            <a:chOff x="685800" y="1524000"/>
            <a:chExt cx="10820400" cy="876300"/>
          </a:xfrm>
        </p:grpSpPr>
        <p:sp>
          <p:nvSpPr>
            <p:cNvPr id="6" name="Rectangle 6"/>
            <p:cNvSpPr/>
            <p:nvPr/>
          </p:nvSpPr>
          <p:spPr>
            <a:xfrm>
              <a:off x="685800" y="15240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18605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为什么可以不写规则？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3856" y="186055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规则写不全，但例子要多少有多少：用数据把参数定下来</a:t>
              </a:r>
            </a:p>
          </p:txBody>
        </p:sp>
      </p:grpSp>
      <p:grpSp>
        <p:nvGrpSpPr>
          <p:cNvPr id="13" name="answer-2"/>
          <p:cNvGrpSpPr/>
          <p:nvPr/>
        </p:nvGrpSpPr>
        <p:grpSpPr>
          <a:xfrm>
            <a:off x="685800" y="2552700"/>
            <a:ext cx="10820400" cy="876300"/>
            <a:chOff x="685800" y="2552700"/>
            <a:chExt cx="10820400" cy="876300"/>
          </a:xfrm>
        </p:grpSpPr>
        <p:sp>
          <p:nvSpPr>
            <p:cNvPr id="10" name="Rectangle 10"/>
            <p:cNvSpPr/>
            <p:nvPr/>
          </p:nvSpPr>
          <p:spPr>
            <a:xfrm>
              <a:off x="685800" y="25527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28892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常见的问题类型有哪些？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43856" y="288925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监督学习（回归、分类）、无监督学习、强化学习</a:t>
              </a:r>
            </a:p>
          </p:txBody>
        </p:sp>
      </p:grpSp>
      <p:grpSp>
        <p:nvGrpSpPr>
          <p:cNvPr id="17" name="answer-3"/>
          <p:cNvGrpSpPr/>
          <p:nvPr/>
        </p:nvGrpSpPr>
        <p:grpSpPr>
          <a:xfrm>
            <a:off x="685800" y="3581400"/>
            <a:ext cx="10820400" cy="876300"/>
            <a:chOff x="685800" y="3581400"/>
            <a:chExt cx="10820400" cy="876300"/>
          </a:xfrm>
        </p:grpSpPr>
        <p:sp>
          <p:nvSpPr>
            <p:cNvPr id="14" name="Rectangle 14"/>
            <p:cNvSpPr/>
            <p:nvPr/>
          </p:nvSpPr>
          <p:spPr>
            <a:xfrm>
              <a:off x="685800" y="3581400"/>
              <a:ext cx="10820400" cy="876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3356" y="39179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怎么知道真的学会了？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43856" y="391795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在没见过的数据上看；指标好看不等于模型有用</a:t>
              </a:r>
            </a:p>
          </p:txBody>
        </p:sp>
      </p:grpSp>
      <p:grpSp>
        <p:nvGrpSpPr>
          <p:cNvPr id="22" name="next-actions"/>
          <p:cNvGrpSpPr/>
          <p:nvPr/>
        </p:nvGrpSpPr>
        <p:grpSpPr>
          <a:xfrm>
            <a:off x="685800" y="4762500"/>
            <a:ext cx="10820400" cy="1123950"/>
            <a:chOff x="685800" y="4762500"/>
            <a:chExt cx="10820400" cy="1123950"/>
          </a:xfrm>
        </p:grpSpPr>
        <p:sp>
          <p:nvSpPr>
            <p:cNvPr id="18" name="Rectangle 18"/>
            <p:cNvSpPr/>
            <p:nvPr/>
          </p:nvSpPr>
          <p:spPr>
            <a:xfrm>
              <a:off x="685800" y="4762500"/>
              <a:ext cx="10820400" cy="1123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762500"/>
              <a:ext cx="76200" cy="1123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19556" y="4984750"/>
              <a:ext cx="8257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下一步：用自己的话复述四个关键组件；给身边三个任务各贴一个类型标签；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9556" y="538480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有兴趣的话，用讲义里的数据和代码跑一遍最小二乘拟合与梯度下降。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-basics-relayout">
  <a:themeElements>
    <a:clrScheme name="ml-basics-relayout">
      <a:dk1>
        <a:srgbClr val="142735"/>
      </a:dk1>
      <a:lt1>
        <a:srgbClr val="FFFFFF"/>
      </a:lt1>
      <a:dk2>
        <a:srgbClr val="1F497D"/>
      </a:dk2>
      <a:lt2>
        <a:srgbClr val="EAF1F8"/>
      </a:lt2>
      <a:accent1>
        <a:srgbClr val="285E8E"/>
      </a:accent1>
      <a:accent2>
        <a:srgbClr val="B54708"/>
      </a:accent2>
      <a:accent3>
        <a:srgbClr val="667085"/>
      </a:accent3>
      <a:accent4>
        <a:srgbClr val="285E8E"/>
      </a:accent4>
      <a:accent5>
        <a:srgbClr val="475467"/>
      </a:accent5>
      <a:accent6>
        <a:srgbClr val="E4E7EC"/>
      </a:accent6>
      <a:hlink>
        <a:srgbClr val="B54708"/>
      </a:hlink>
      <a:folHlink>
        <a:srgbClr val="667085"/>
      </a:folHlink>
    </a:clrScheme>
    <a:fontScheme name="ml-basics-relayou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-basics-relayou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l-basics-relayout">
  <a:themeElements>
    <a:clrScheme name="ml-basics-relayout">
      <a:dk1>
        <a:srgbClr val="142735"/>
      </a:dk1>
      <a:lt1>
        <a:srgbClr val="FFFFFF"/>
      </a:lt1>
      <a:dk2>
        <a:srgbClr val="1F497D"/>
      </a:dk2>
      <a:lt2>
        <a:srgbClr val="EAF1F8"/>
      </a:lt2>
      <a:accent1>
        <a:srgbClr val="285E8E"/>
      </a:accent1>
      <a:accent2>
        <a:srgbClr val="B54708"/>
      </a:accent2>
      <a:accent3>
        <a:srgbClr val="667085"/>
      </a:accent3>
      <a:accent4>
        <a:srgbClr val="285E8E"/>
      </a:accent4>
      <a:accent5>
        <a:srgbClr val="475467"/>
      </a:accent5>
      <a:accent6>
        <a:srgbClr val="E4E7EC"/>
      </a:accent6>
      <a:hlink>
        <a:srgbClr val="B54708"/>
      </a:hlink>
      <a:folHlink>
        <a:srgbClr val="667085"/>
      </a:folHlink>
    </a:clrScheme>
    <a:fontScheme name="ml-basics-relayou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-basics-relayou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2026-10-07T08:02:04Z</dcterms:created>
  <dcterms:modified xsi:type="dcterms:W3CDTF">2026-10-07T08:02:04Z</dcterms:modified>
  <cp:category/>
  <cp:contentStatus/>
</cp:coreProperties>
</file>