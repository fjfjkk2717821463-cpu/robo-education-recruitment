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86c9bbbe2241b6" /><Relationship Type="http://schemas.openxmlformats.org/officeDocument/2006/relationships/extended-properties" Target="/docProps/app.xml" Id="Rccf04d7b87b141f7" /><Relationship Type="http://schemas.openxmlformats.org/officeDocument/2006/relationships/officeDocument" Target="/ppt/presentation.xml" Id="Rad35e3574a6b49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09e4ff2652c4dfe"/>
  </p:sldMasterIdLst>
  <p:notesMasterIdLst>
    <p:notesMasterId xmlns:r="http://schemas.openxmlformats.org/officeDocument/2006/relationships" r:id="R0bad8cb7dc344021"/>
  </p:notesMasterIdLst>
  <p:sldIdLst>
    <p:sldId xmlns:r="http://schemas.openxmlformats.org/officeDocument/2006/relationships" id="256" r:id="R7c72cc70807843c9"/>
    <p:sldId xmlns:r="http://schemas.openxmlformats.org/officeDocument/2006/relationships" id="257" r:id="R515b440091fa47dd"/>
    <p:sldId xmlns:r="http://schemas.openxmlformats.org/officeDocument/2006/relationships" id="258" r:id="R4e1945f763b54f40"/>
    <p:sldId xmlns:r="http://schemas.openxmlformats.org/officeDocument/2006/relationships" id="259" r:id="Rbfeb83cf05de4975"/>
    <p:sldId xmlns:r="http://schemas.openxmlformats.org/officeDocument/2006/relationships" id="260" r:id="R88e551b1046e4d70"/>
    <p:sldId xmlns:r="http://schemas.openxmlformats.org/officeDocument/2006/relationships" id="261" r:id="Rfd7d098b5d0d4a5d"/>
    <p:sldId xmlns:r="http://schemas.openxmlformats.org/officeDocument/2006/relationships" id="262" r:id="Rf404487f7e394636"/>
    <p:sldId xmlns:r="http://schemas.openxmlformats.org/officeDocument/2006/relationships" id="263" r:id="R80f8097cd6cd4391"/>
    <p:sldId xmlns:r="http://schemas.openxmlformats.org/officeDocument/2006/relationships" id="264" r:id="R9e2d7654fd7f4063"/>
    <p:sldId xmlns:r="http://schemas.openxmlformats.org/officeDocument/2006/relationships" id="265" r:id="Rc68bf58486a54c0e"/>
    <p:sldId xmlns:r="http://schemas.openxmlformats.org/officeDocument/2006/relationships" id="266" r:id="Re5ef7f3331a74ed2"/>
    <p:sldId xmlns:r="http://schemas.openxmlformats.org/officeDocument/2006/relationships" id="267" r:id="R7b86d3bb46ad4ffd"/>
    <p:sldId xmlns:r="http://schemas.openxmlformats.org/officeDocument/2006/relationships" id="268" r:id="R54b1a9d182324a07"/>
    <p:sldId xmlns:r="http://schemas.openxmlformats.org/officeDocument/2006/relationships" id="269" r:id="R81e042c04e6f4bda"/>
    <p:sldId xmlns:r="http://schemas.openxmlformats.org/officeDocument/2006/relationships" id="270" r:id="Rc2aac86eabc14fcd"/>
    <p:sldId xmlns:r="http://schemas.openxmlformats.org/officeDocument/2006/relationships" id="271" r:id="R27f85458bd1d475d"/>
    <p:sldId xmlns:r="http://schemas.openxmlformats.org/officeDocument/2006/relationships" id="272" r:id="R0195581477994e0b"/>
    <p:sldId xmlns:r="http://schemas.openxmlformats.org/officeDocument/2006/relationships" id="273" r:id="Rf6292d03415a4e8f"/>
    <p:sldId xmlns:r="http://schemas.openxmlformats.org/officeDocument/2006/relationships" id="274" r:id="Ra46473f279bb4adf"/>
    <p:sldId xmlns:r="http://schemas.openxmlformats.org/officeDocument/2006/relationships" id="275" r:id="Rb3a02bc7076647a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8a3f16148f47ae" /><Relationship Type="http://schemas.openxmlformats.org/officeDocument/2006/relationships/slideMaster" Target="/ppt/slideMasters/slideMaster1.xml" Id="Rf09e4ff2652c4dfe" /><Relationship Type="http://schemas.openxmlformats.org/officeDocument/2006/relationships/notesMaster" Target="/ppt/notesMasters/notesMaster1.xml" Id="R0bad8cb7dc344021" /><Relationship Type="http://schemas.openxmlformats.org/officeDocument/2006/relationships/presProps" Target="/ppt/presProps.xml" Id="R2b4767f4c0a44d9c" /><Relationship Type="http://schemas.openxmlformats.org/officeDocument/2006/relationships/tableStyles" Target="/ppt/tableStyles.xml" Id="R05d1c738126b4615" /><Relationship Type="http://schemas.openxmlformats.org/officeDocument/2006/relationships/slide" Target="/ppt/slides/slide1.xml" Id="R7c72cc70807843c9" /><Relationship Type="http://schemas.openxmlformats.org/officeDocument/2006/relationships/slide" Target="/ppt/slides/slide2.xml" Id="R515b440091fa47dd" /><Relationship Type="http://schemas.openxmlformats.org/officeDocument/2006/relationships/slide" Target="/ppt/slides/slide3.xml" Id="R4e1945f763b54f40" /><Relationship Type="http://schemas.openxmlformats.org/officeDocument/2006/relationships/slide" Target="/ppt/slides/slide4.xml" Id="Rbfeb83cf05de4975" /><Relationship Type="http://schemas.openxmlformats.org/officeDocument/2006/relationships/slide" Target="/ppt/slides/slide5.xml" Id="R88e551b1046e4d70" /><Relationship Type="http://schemas.openxmlformats.org/officeDocument/2006/relationships/slide" Target="/ppt/slides/slide6.xml" Id="Rfd7d098b5d0d4a5d" /><Relationship Type="http://schemas.openxmlformats.org/officeDocument/2006/relationships/slide" Target="/ppt/slides/slide7.xml" Id="Rf404487f7e394636" /><Relationship Type="http://schemas.openxmlformats.org/officeDocument/2006/relationships/slide" Target="/ppt/slides/slide8.xml" Id="R80f8097cd6cd4391" /><Relationship Type="http://schemas.openxmlformats.org/officeDocument/2006/relationships/slide" Target="/ppt/slides/slide9.xml" Id="R9e2d7654fd7f4063" /><Relationship Type="http://schemas.openxmlformats.org/officeDocument/2006/relationships/slide" Target="/ppt/slides/slide10.xml" Id="Rc68bf58486a54c0e" /><Relationship Type="http://schemas.openxmlformats.org/officeDocument/2006/relationships/slide" Target="/ppt/slides/slide11.xml" Id="Re5ef7f3331a74ed2" /><Relationship Type="http://schemas.openxmlformats.org/officeDocument/2006/relationships/slide" Target="/ppt/slides/slide12.xml" Id="R7b86d3bb46ad4ffd" /><Relationship Type="http://schemas.openxmlformats.org/officeDocument/2006/relationships/slide" Target="/ppt/slides/slide13.xml" Id="R54b1a9d182324a07" /><Relationship Type="http://schemas.openxmlformats.org/officeDocument/2006/relationships/slide" Target="/ppt/slides/slide14.xml" Id="R81e042c04e6f4bda" /><Relationship Type="http://schemas.openxmlformats.org/officeDocument/2006/relationships/slide" Target="/ppt/slides/slide15.xml" Id="Rc2aac86eabc14fcd" /><Relationship Type="http://schemas.openxmlformats.org/officeDocument/2006/relationships/slide" Target="/ppt/slides/slide16.xml" Id="R27f85458bd1d475d" /><Relationship Type="http://schemas.openxmlformats.org/officeDocument/2006/relationships/slide" Target="/ppt/slides/slide17.xml" Id="R0195581477994e0b" /><Relationship Type="http://schemas.openxmlformats.org/officeDocument/2006/relationships/slide" Target="/ppt/slides/slide18.xml" Id="Rf6292d03415a4e8f" /><Relationship Type="http://schemas.openxmlformats.org/officeDocument/2006/relationships/slide" Target="/ppt/slides/slide19.xml" Id="Ra46473f279bb4adf" /><Relationship Type="http://schemas.openxmlformats.org/officeDocument/2006/relationships/slide" Target="/ppt/slides/slide20.xml" Id="Rb3a02bc7076647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7ab2eba5ae45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ab7f69849e46f4" /><Relationship Type="http://schemas.openxmlformats.org/officeDocument/2006/relationships/notesMaster" Target="/ppt/notesMasters/notesMaster1.xml" Id="Rd96a77d0f078437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a0b3e05683446e2" /><Relationship Type="http://schemas.openxmlformats.org/officeDocument/2006/relationships/notesMaster" Target="/ppt/notesMasters/notesMaster1.xml" Id="R5c8014436811441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be91a52e2c407a" /><Relationship Type="http://schemas.openxmlformats.org/officeDocument/2006/relationships/notesMaster" Target="/ppt/notesMasters/notesMaster1.xml" Id="R04ca9b9287f9415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6a10f4a74c44b7f" /><Relationship Type="http://schemas.openxmlformats.org/officeDocument/2006/relationships/notesMaster" Target="/ppt/notesMasters/notesMaster1.xml" Id="Rd2932f10a7ea42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0402fc6249d4077" /><Relationship Type="http://schemas.openxmlformats.org/officeDocument/2006/relationships/notesMaster" Target="/ppt/notesMasters/notesMaster1.xml" Id="Re025e670c44142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c2c1d2121845d9" /><Relationship Type="http://schemas.openxmlformats.org/officeDocument/2006/relationships/notesMaster" Target="/ppt/notesMasters/notesMaster1.xml" Id="Ra35fc778d4fc4c0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996b5de95d4c8f" /><Relationship Type="http://schemas.openxmlformats.org/officeDocument/2006/relationships/notesMaster" Target="/ppt/notesMasters/notesMaster1.xml" Id="R1389ac696108447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dc329f3e794d3b" /><Relationship Type="http://schemas.openxmlformats.org/officeDocument/2006/relationships/notesMaster" Target="/ppt/notesMasters/notesMaster1.xml" Id="Rd511e3ac91434ff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d4d12a9bc4f413a" /><Relationship Type="http://schemas.openxmlformats.org/officeDocument/2006/relationships/notesMaster" Target="/ppt/notesMasters/notesMaster1.xml" Id="R72c311678208488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dc8cab690804885" /><Relationship Type="http://schemas.openxmlformats.org/officeDocument/2006/relationships/notesMaster" Target="/ppt/notesMasters/notesMaster1.xml" Id="Rdeb5ccdaa499486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eced414726445be" /><Relationship Type="http://schemas.openxmlformats.org/officeDocument/2006/relationships/notesMaster" Target="/ppt/notesMasters/notesMaster1.xml" Id="R3250c6736caa420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326e009e14c4aba" /><Relationship Type="http://schemas.openxmlformats.org/officeDocument/2006/relationships/notesMaster" Target="/ppt/notesMasters/notesMaster1.xml" Id="R6a3be1d0021648f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e2fdca27a9b4253" /><Relationship Type="http://schemas.openxmlformats.org/officeDocument/2006/relationships/notesMaster" Target="/ppt/notesMasters/notesMaster1.xml" Id="R731881df23e6405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a6133d87d4543b9" /><Relationship Type="http://schemas.openxmlformats.org/officeDocument/2006/relationships/notesMaster" Target="/ppt/notesMasters/notesMaster1.xml" Id="R487a8ce2802e466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a0a4aa2bbfe4a64" /><Relationship Type="http://schemas.openxmlformats.org/officeDocument/2006/relationships/notesMaster" Target="/ppt/notesMasters/notesMaster1.xml" Id="R43233015d86d417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c794cc8dfef4997" /><Relationship Type="http://schemas.openxmlformats.org/officeDocument/2006/relationships/notesMaster" Target="/ppt/notesMasters/notesMaster1.xml" Id="Rb1d365c8b923467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cfcffe10cef40bc" /><Relationship Type="http://schemas.openxmlformats.org/officeDocument/2006/relationships/notesMaster" Target="/ppt/notesMasters/notesMaster1.xml" Id="R6ad391a9053f40d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2af5ed9b0b54f25" /><Relationship Type="http://schemas.openxmlformats.org/officeDocument/2006/relationships/notesMaster" Target="/ppt/notesMasters/notesMaster1.xml" Id="R8fb6ab70788744c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61c5fd49cbb4635" /><Relationship Type="http://schemas.openxmlformats.org/officeDocument/2006/relationships/notesMaster" Target="/ppt/notesMasters/notesMaster1.xml" Id="Rbdff667234674f3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fbc469da8c14894" /><Relationship Type="http://schemas.openxmlformats.org/officeDocument/2006/relationships/notesMaster" Target="/ppt/notesMasters/notesMaster1.xml" Id="R0dd0c585af5a437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【开场地图 1 分钟，照念即可】</a:t>
            </a:r>
          </a:p>
          <a:p xmlns:a="http://schemas.openxmlformats.org/drawingml/2006/main">
            <a:r>
              <a:t>今天要解决的是：一个写不出判断规则的程序，怎么自己学会判断。</a:t>
            </a:r>
          </a:p>
          <a:p xmlns:a="http://schemas.openxmlformats.org/drawingml/2006/main">
            <a:r>
              <a:t>分三块：机器学习在做什么、模型是怎么学会的、怎么知道它真的学会了。</a:t>
            </a:r>
          </a:p>
          <a:p xmlns:a="http://schemas.openxmlformats.org/drawingml/2006/main">
            <a:r>
              <a:t>最重要的是第二块——模型是怎么学会的。如果时间不够，这一块一定要记住。</a:t>
            </a:r>
          </a:p>
          <a:p xmlns:a="http://schemas.openxmlformats.org/drawingml/2006/main">
            <a:r>
              <a:t>封面这张图就是这节课的终点：一组电机标定数据，加上一条自己学出来的直线。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先问：要让小车跑起来，得告诉它 PWM 给多少。反过来——给 1000 到 2000 的 PWM，它到底能跑多快？这个公式写得准吗？影响因素太多：电池电压、地面摩擦、轮子磨损。</a:t>
            </a:r>
          </a:p>
          <a:p xmlns:a="http://schemas.openxmlformats.org/drawingml/2006/main">
            <a:r>
              <a:t>再看第二个：左右两个传感器读到这样的数值，现在该往左还是往右？情况组合太多，if-else 根本列不完。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【举手互动 0:40，检查是否分清了规则能写 / 不能写】</a:t>
            </a:r>
          </a:p>
          <a:p xmlns:a="http://schemas.openxmlformats.org/drawingml/2006/main">
            <a:r>
              <a:t>我念两件事，大家举手判断属于哪一边。第一件：算小车跑过的平均速度。第二件：判断路口该不该转向。</a:t>
            </a:r>
          </a:p>
          <a:p xmlns:a="http://schemas.openxmlformats.org/drawingml/2006/main">
            <a:r>
              <a:t>答案：第一件属于左边——速度除以时间，规则一句话就写完了。第二件属于右边——规则写不出来，但例子要多少有多少。这就是机器学习开始的地方。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我把今天的目标写成三个可以检验的动作，不写「了解机器学习」这种没法验证的话。</a:t>
            </a:r>
          </a:p>
          <a:p xmlns:a="http://schemas.openxmlformats.org/drawingml/2006/main">
            <a:r>
              <a:t>十分钟结束时，你应该能：一，说出训练一个模型必须有的四样东西，并指出缺了哪样会出问题；</a:t>
            </a:r>
          </a:p>
          <a:p xmlns:a="http://schemas.openxmlformats.org/drawingml/2006/main">
            <a:r>
              <a:t>二，用「朝低处走」解释模型是怎么学会的，并说明学习率起什么作用；</a:t>
            </a:r>
          </a:p>
          <a:p xmlns:a="http://schemas.openxmlformats.org/drawingml/2006/main">
            <a:r>
              <a:t>三，举出一个「训练指标很好看、模型其实没用」的具体情形。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【路线图】今天只讲三块。</a:t>
            </a:r>
          </a:p>
          <a:p xmlns:a="http://schemas.openxmlformats.org/drawingml/2006/main">
            <a:r>
              <a:t>第一块，机器学习在做什么，两分钟；第二块，模型是怎么学会的，四分钟，这是重点；第三块，怎么知道它真的学会了，两分钟。最后留一分钟总结。</a:t>
            </a:r>
          </a:p>
          <a:p xmlns:a="http://schemas.openxmlformats.org/drawingml/2006/main">
            <a:r>
              <a:t>三块之间是递进关系：先知道有几样东西，再知道「学」这个动作怎么发生，最后知道怎么判断学得好不好。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【模块一过渡】这一块只回答一个问题：为什么可以不写规则？</a:t>
            </a:r>
          </a:p>
          <a:p xmlns:a="http://schemas.openxmlformats.org/drawingml/2006/main">
            <a:r>
              <a:t>我们会看到，机器学习做的事情，就是把「从例子里找规律」拆成四个可以分别处理的部件。</a:t>
            </a:r>
          </a:p>
          <a:p xmlns:a="http://schemas.openxmlformats.org/drawingml/2006/main">
            <a:r>
              <a:t>听完这一块，你应该能说出这四个部件的名字。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监督学习就是给一堆「输入 + 正确答案」，让程序自己反推那条规律。</a:t>
            </a:r>
          </a:p>
          <a:p xmlns:a="http://schemas.openxmlformats.org/drawingml/2006/main">
            <a:r>
              <a:t>这件事拆开就是四样东西：</a:t>
            </a:r>
          </a:p>
          <a:p xmlns:a="http://schemas.openxmlformats.org/drawingml/2006/main">
            <a:r>
              <a:t>数据——一批输入加上答案的真实例子；</a:t>
            </a:r>
          </a:p>
          <a:p xmlns:a="http://schemas.openxmlformats.org/drawingml/2006/main">
            <a:r>
              <a:t>模型——一个带参数的函数，负责给出预测；</a:t>
            </a:r>
          </a:p>
          <a:p xmlns:a="http://schemas.openxmlformats.org/drawingml/2006/main">
            <a:r>
              <a:t>损失——把预测和答案的差距压缩成一个数；</a:t>
            </a:r>
          </a:p>
          <a:p xmlns:a="http://schemas.openxmlformats.org/drawingml/2006/main">
            <a:r>
              <a:t>优化——不断调整参数，让这个数变小。</a:t>
            </a:r>
          </a:p>
          <a:p xmlns:a="http://schemas.openxmlformats.org/drawingml/2006/main">
            <a:r>
              <a:t>四样缺一不可：没有数据谈不上学习，没有模型没法预测，没有损失不知道该往哪调，没有优化就只能靠手猜参数。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看一个具体例子。这是一组电机标定数据：左边一列是给电机的 PWM 指令，右边一列是实测速度。</a:t>
            </a:r>
          </a:p>
          <a:p xmlns:a="http://schemas.openxmlformats.org/drawingml/2006/main">
            <a:r>
              <a:t>表格里的一行就是一个样本，也就是一次实验；输入那一列叫特征，要预测的那一列叫标签。</a:t>
            </a:r>
          </a:p>
          <a:p xmlns:a="http://schemas.openxmlformats.org/drawingml/2006/main">
            <a:r>
              <a:t>整份数据集只有 18 个样本——我故意做小的，小到可以在纸上算一遍，这样你的精力才会花在概念上，而不是数据管理上。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【互动 2:40，先猜再讲，检查是否理解损失是可比较的数】</a:t>
            </a:r>
          </a:p>
          <a:p xmlns:a="http://schemas.openxmlformats.org/drawingml/2006/main">
            <a:r>
              <a:t>现在看这两条线。A 这条平一些，B 这条更贴合数据。问题：哪一条的 MSE 更小？先举手，再听我说。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答案：B。A 的 MSE 是 16333.5，B 的 MSE 是 92.6——差了 176 倍。</a:t>
            </a:r>
          </a:p>
          <a:p xmlns:a="http://schemas.openxmlformats.org/drawingml/2006/main">
            <a:r>
              <a:t>要点不是猜对没猜对，而是：MSE 是一个可以拿来比较大小的数。两组参数谁更好，不用争，比这个数就行。</a:t>
            </a:r>
          </a:p>
          <a:p xmlns:a="http://schemas.openxmlformats.org/drawingml/2006/main">
            <a:r>
              <a:t>这就是损失函数存在的意义。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【模块一小结 + 过渡】三句话。</a:t>
            </a:r>
          </a:p>
          <a:p xmlns:a="http://schemas.openxmlformats.org/drawingml/2006/main">
            <a:r>
              <a:t>第一句：这一块讲的是，机器学习由数据、模型、损失、优化四部分组成。</a:t>
            </a:r>
          </a:p>
          <a:p xmlns:a="http://schemas.openxmlformats.org/drawingml/2006/main">
            <a:r>
              <a:t>第二句：它重要，因为这四样是后面所有内容的地基，深度学习也一样是这四样。</a:t>
            </a:r>
          </a:p>
          <a:p xmlns:a="http://schemas.openxmlformats.org/drawingml/2006/main">
            <a:r>
              <a:t>第三句：和下一块的关系是——现在我们知道损失是一个数了，那接下来就要问：怎么把这个数调小？这就是第二块。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模型就是一组待定的参数。这里用最简单的形式：预测速度等于 w 乘上输入再加上 b，w 和 b 就是两个还不知道的数。</a:t>
            </a:r>
          </a:p>
          <a:p xmlns:a="http://schemas.openxmlformats.org/drawingml/2006/main">
            <a:r>
              <a:t>你可以把它们想成两个旋钮：模型的形式已经定好了，训练就是来回拧这两个旋钮，直到直线尽量贴着数据走。</a:t>
            </a:r>
          </a:p>
          <a:p xmlns:a="http://schemas.openxmlformats.org/drawingml/2006/main">
            <a:r>
              <a:t>图中这条线就是拧好的结果：w 约等于 0.398，b 约等于 232.3。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损失把「差多少」变成一个数。图中每一段竖线就是一个样本的误差，把这些误差平方之后取平均，就得到均方误差。</a:t>
            </a:r>
          </a:p>
          <a:p xmlns:a="http://schemas.openxmlformats.org/drawingml/2006/main">
            <a:r>
              <a:t>为什么要平方？一是让正负误差不互相抵消，二是让大错付出更大的代价。</a:t>
            </a:r>
          </a:p>
          <a:p xmlns:a="http://schemas.openxmlformats.org/drawingml/2006/main">
            <a:r>
              <a:t>为什么要取平均？让损失和样本数量无关，18 个样本和 1800 个样本才算可比。</a:t>
            </a:r>
          </a:p>
          <a:p xmlns:a="http://schemas.openxmlformats.org/drawingml/2006/main">
            <a:r>
              <a:t>这组参数的结果是 92.6，越小说明直线贴得越紧。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现在问：怎么把这个数变小？答案就是梯度下降。</a:t>
            </a:r>
          </a:p>
          <a:p xmlns:a="http://schemas.openxmlformats.org/drawingml/2006/main">
            <a:r>
              <a:t>公式是 w 等于 w 减去学习率乘以损失对 w 的斜率。直觉就是下山：你站在损失曲线上，朝坡度最陡的下坡方向走一小步，反复走。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【类比映射】参数是你的位置，损失是海拔，梯度是脚下的坡向，学习率是每一步跨多大，最低点就是拟合最好的那组参数。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【类比失效的边界，要主动说】真实的损失曲面不是一座光滑的山，可能有高原、峡谷和很多个坑。所以实际训练要看损失曲线，不能只凭「往低处走一定对」的直觉。</a:t>
            </a:r>
          </a:p>
          <a:p xmlns:a="http://schemas.openxmlformats.org/drawingml/2006/main">
            <a:r>
              <a:t>图中我固定了 b、只调 w，是为了把曲线画清楚；同时调两个参数就是一张三维的曲面了。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【互动 6:00，先猜再讲，检查是否理解步长对训练的作用】</a:t>
            </a:r>
          </a:p>
          <a:p xmlns:a="http://schemas.openxmlformats.org/drawingml/2006/main">
            <a:r>
              <a:t>先不看答案。现在我们的学习率是 0.80，8 步就落到最低点了。</a:t>
            </a:r>
          </a:p>
          <a:p xmlns:a="http://schemas.openxmlformats.org/drawingml/2006/main">
            <a:r>
              <a:t>如果把它调大十倍，变成 8.0，你猜损失会怎么变？A 更快收敛，B 卡住不动，C 训练直接崩掉。</a:t>
            </a:r>
          </a:p>
          <a:p xmlns:a="http://schemas.openxmlformats.org/drawingml/2006/main">
            <a:r>
              <a:t>先小声说给自己听，再说给同桌听。答案在下一页。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答案是 C：训练直接崩掉。</a:t>
            </a:r>
          </a:p>
          <a:p xmlns:a="http://schemas.openxmlformats.org/drawingml/2006/main">
            <a:r>
              <a:t>三条曲线是同一组数据、同一个起点，只换学习率。</a:t>
            </a:r>
          </a:p>
          <a:p xmlns:a="http://schemas.openxmlformats.org/drawingml/2006/main">
            <a:r>
              <a:t>0.05，走 8 步损失还有 1352，慢得让人以为程序卡住了；0.80，几步就落到 92.6；3.20，越跳越远，参数跑到 -863，损失变成 42 万。</a:t>
            </a:r>
          </a:p>
          <a:p xmlns:a="http://schemas.openxmlformats.org/drawingml/2006/main">
            <a:r>
              <a:t>为什么？把更新式代进去，误差每一步会乘上 (1 减 ηc)。在这组数据上 c 约等于 0.745，所以学习率超过 2.68 就一定会发散。这就是「学习率太大训练会崩」的数学原因，讲义里有完整推导。</a:t>
            </a:r>
          </a:p>
          <a:p xmlns:a="http://schemas.openxmlformats.org/drawingml/2006/main">
            <a:r>
              <a:t>还有一个容易忽略的前提：如果特征没有归一化，PWM 是 1000 到 2000 这个量级，损失曲面会变成一个又长又窄的峡谷，很难找到对两个方向都合适的学习率。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【模块二小结 + 过渡】三句话。</a:t>
            </a:r>
          </a:p>
          <a:p xmlns:a="http://schemas.openxmlformats.org/drawingml/2006/main">
            <a:r>
              <a:t>第一，这一块讲的是：训练就是沿着损失下降的方向，一步步调整参数。</a:t>
            </a:r>
          </a:p>
          <a:p xmlns:a="http://schemas.openxmlformats.org/drawingml/2006/main">
            <a:r>
              <a:t>第二，它重要，因为这是「学习」这个动作的全部机制。</a:t>
            </a:r>
          </a:p>
          <a:p xmlns:a="http://schemas.openxmlformats.org/drawingml/2006/main">
            <a:r>
              <a:t>第三，和下一块的关系是——损失降下去了，说明训练成功了吗？不一定。接下来第三块就回答这个问题。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【模块三过渡】损失已经降下去了，那是不是就万事大吉了？</a:t>
            </a:r>
          </a:p>
          <a:p xmlns:a="http://schemas.openxmlformats.org/drawingml/2006/main">
            <a:r>
              <a:t>这一块要回答的是：怎么知道它是真的学会了规律，还是只是把训练数据背下来了。</a:t>
            </a:r>
          </a:p>
          <a:p xmlns:a="http://schemas.openxmlformats.org/drawingml/2006/main">
            <a:r>
              <a:t>这是从「会训练」走到「能上车」的分界线。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【模块三】训练误差小，不代表学得好。同样一组带噪声的点，用不同复杂度的模型去拟合。</a:t>
            </a:r>
          </a:p>
          <a:p xmlns:a="http://schemas.openxmlformats.org/drawingml/2006/main">
            <a:r>
              <a:t>左边 1 次多项式，太简单，趋势都没抓住，训练误差 0.047、验证误差 0.086，这叫欠拟合。</a:t>
            </a:r>
          </a:p>
          <a:p xmlns:a="http://schemas.openxmlformats.org/drawingml/2006/main">
            <a:r>
              <a:t>中间 3 次，训练 0.004、验证 0.009，两个都小而且接近，这是合适。</a:t>
            </a:r>
          </a:p>
          <a:p xmlns:a="http://schemas.openxmlformats.org/drawingml/2006/main">
            <a:r>
              <a:t>右边 9 次多项式，它把每一个点都穿过去了，训练误差 0.001，可验证误差暴涨到 67.3——它把噪声也背下来了，这叫过拟合。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【类比】训练集是课后题，验证集是模拟考。课后题满分不代表期末考得好。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【互动 8:20，检查是否理解准确率在类别不平衡时会骗人】</a:t>
            </a:r>
          </a:p>
          <a:p xmlns:a="http://schemas.openxmlformats.org/drawingml/2006/main">
            <a:r>
              <a:t>再看一个例子。任务是判断小车这个时刻需不需要转向。1000 个样本里，950 个其实不需要转，只有 50 个需要。</a:t>
            </a:r>
          </a:p>
          <a:p xmlns:a="http://schemas.openxmlformats.org/drawingml/2006/main">
            <a:r>
              <a:t>现在有个模型，永远输出「不需要转向」。问题：它的准确率是多少？它有用吗？</a:t>
            </a:r>
          </a:p>
          <a:p xmlns:a="http://schemas.openxmlformats.org/drawingml/2006/main">
            <a:r>
              <a:t>先说出你的答案。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准确率是 95%。但它一个该转向的时刻都没抓住——召回率 0%。在车上，漏掉一次该转的时刻就是撞上去。所以这个模型毫无用处。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这页把刚才的例子摆成表格。左边一列是预测，上面一行是真实情况。</a:t>
            </a:r>
          </a:p>
          <a:p xmlns:a="http://schemas.openxmlformats.org/drawingml/2006/main">
            <a:r>
              <a:t>模型只在右下角是对的：950 个不需要转的，它全判对了；50 个需要转的，它一个都没抓到。</a:t>
            </a:r>
          </a:p>
          <a:p xmlns:a="http://schemas.openxmlformats.org/drawingml/2006/main">
            <a:r>
              <a:t>所以看模型不能只看准确率，要分开看：召回率，该抓住的抓住了多少，这里是 0 除以 50，等于 0；精确率，报出来的里面有多少是真的。</a:t>
            </a:r>
          </a:p>
          <a:p xmlns:a="http://schemas.openxmlformats.org/drawingml/2006/main">
            <a:r>
              <a:t>在机器人上，漏报往往比误报贵得多——宁可多转一次，也不能漏掉一次。这也是为什么阈值 0.5 只是习惯，实际要看两种错误哪种代价更大。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【总结，回到开场三问】开场的三个问题，现在回答一下。</a:t>
            </a:r>
          </a:p>
          <a:p xmlns:a="http://schemas.openxmlformats.org/drawingml/2006/main">
            <a:r>
              <a:t>第一，训练一个模型需要什么？数据、模型、损失、优化，四样缺一不可。</a:t>
            </a:r>
          </a:p>
          <a:p xmlns:a="http://schemas.openxmlformats.org/drawingml/2006/main">
            <a:r>
              <a:t>第二，模型是怎么学会的？沿着损失下降的方向，一步步调整参数，学习率决定每一步走多大。</a:t>
            </a:r>
          </a:p>
          <a:p xmlns:a="http://schemas.openxmlformats.org/drawingml/2006/main">
            <a:r>
              <a:t>第三，怎么知道它真的学会了？在它没见过的数据上看——训练误差小不代表学得好，准确率高也不代表模型有用。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下一步行动：课下用 numpy 手写一次梯度下降，画出损失曲线；换三组学习率，记下损失分别怎么变；有条件的话，拿自己小车的 PWM 与速度数据跑一遍标定。</a:t>
            </a:r>
          </a:p>
          <a:p xmlns:a="http://schemas.openxmlformats.org/drawingml/2006/main">
            <a:r>
              <a:t>讲义里有完整推导、数据说明、术语表和五道练习题及答案。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ccc7602f99477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9b72a2e0a6422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1c16c1978049e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18954986c14ec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0037081fa1478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a5a8dfd241412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8190BEF-1DB5-4E57-A1C3-04EA71C724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3A7392A-62DE-4BF7-B5BC-DEC62F9948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06902CB-7B27-473E-B297-0A969100B0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9B94EB1-9978-46FB-A02F-9C7F7A599E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E1885AA-F651-467F-8C8F-D29206234F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389A71B-6C65-4182-86EA-5259CDB910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1819269-C977-4EDD-99A8-6734432642E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E7D300C-6A42-4E77-91F2-A82B8AFAFCC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C583861-EAA2-4E3B-9E82-7A8C3640A5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A7176B9-E4F4-434C-92CF-7794F68B93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ec482e65d34aa7" /><Relationship Type="http://schemas.openxmlformats.org/officeDocument/2006/relationships/slideLayout" Target="/ppt/slideLayouts/slideLayout1.xml" Id="Reaab63e4f97544af" /><Relationship Type="http://schemas.openxmlformats.org/officeDocument/2006/relationships/slideLayout" Target="/ppt/slideLayouts/slideLayout2.xml" Id="R452ca299d4224453" /><Relationship Type="http://schemas.openxmlformats.org/officeDocument/2006/relationships/slideLayout" Target="/ppt/slideLayouts/slideLayout3.xml" Id="R315b99db8d1d487e" /><Relationship Type="http://schemas.openxmlformats.org/officeDocument/2006/relationships/slideLayout" Target="/ppt/slideLayouts/slideLayout4.xml" Id="Rbf62ed341ac04bcb" /><Relationship Type="http://schemas.openxmlformats.org/officeDocument/2006/relationships/slideLayout" Target="/ppt/slideLayouts/slideLayout5.xml" Id="Rd361c5b4229a4bb2" /><Relationship Type="http://schemas.openxmlformats.org/officeDocument/2006/relationships/slideLayout" Target="/ppt/slideLayouts/slideLayout6.xml" Id="R5f668e89b2cf46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aab63e4f97544af"/>
    <p:sldLayoutId xmlns:r="http://schemas.openxmlformats.org/officeDocument/2006/relationships" id="2147483650" r:id="R452ca299d4224453"/>
    <p:sldLayoutId xmlns:r="http://schemas.openxmlformats.org/officeDocument/2006/relationships" id="2147483651" r:id="R315b99db8d1d487e"/>
    <p:sldLayoutId xmlns:r="http://schemas.openxmlformats.org/officeDocument/2006/relationships" id="2147483652" r:id="Rbf62ed341ac04bcb"/>
    <p:sldLayoutId xmlns:r="http://schemas.openxmlformats.org/officeDocument/2006/relationships" id="2147483653" r:id="Rd361c5b4229a4bb2"/>
    <p:sldLayoutId xmlns:r="http://schemas.openxmlformats.org/officeDocument/2006/relationships" id="2147483654" r:id="R5f668e89b2cf46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01d39cac3e435e" /><Relationship Type="http://schemas.openxmlformats.org/officeDocument/2006/relationships/image" Target="/ppt/media/image.png" Id="Rd7b83c2c02454b17" /><Relationship Type="http://schemas.openxmlformats.org/officeDocument/2006/relationships/notesSlide" Target="/ppt/notesSlides/notesSlide1.xml" Id="R03f053fbca804c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2ac997fc4241e0" /><Relationship Type="http://schemas.openxmlformats.org/officeDocument/2006/relationships/notesSlide" Target="/ppt/notesSlides/notesSlide2.xml" Id="R74139308b9184f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3ebcdecc274e46" /><Relationship Type="http://schemas.openxmlformats.org/officeDocument/2006/relationships/notesSlide" Target="/ppt/notesSlides/notesSlide3.xml" Id="R813946a31fcd44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11fa2e45bf4ae1" /><Relationship Type="http://schemas.openxmlformats.org/officeDocument/2006/relationships/notesSlide" Target="/ppt/notesSlides/notesSlide4.xml" Id="R615434a8560343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32d540c0ab4799" /><Relationship Type="http://schemas.openxmlformats.org/officeDocument/2006/relationships/notesSlide" Target="/ppt/notesSlides/notesSlide5.xml" Id="Rb09bc3ac499548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2d68d913ae4f8c" /><Relationship Type="http://schemas.openxmlformats.org/officeDocument/2006/relationships/notesSlide" Target="/ppt/notesSlides/notesSlide6.xml" Id="R644c740f2aeb439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be6d3f3790486c" /><Relationship Type="http://schemas.openxmlformats.org/officeDocument/2006/relationships/notesSlide" Target="/ppt/notesSlides/notesSlide7.xml" Id="R7ab24e34b63e483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237587941746c7" /><Relationship Type="http://schemas.openxmlformats.org/officeDocument/2006/relationships/image" Target="/ppt/media/image2.png" Id="R5c10ca23db8c48d6" /><Relationship Type="http://schemas.openxmlformats.org/officeDocument/2006/relationships/notesSlide" Target="/ppt/notesSlides/notesSlide8.xml" Id="R834c413c3342455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a611c2d85a48dd" /><Relationship Type="http://schemas.openxmlformats.org/officeDocument/2006/relationships/notesSlide" Target="/ppt/notesSlides/notesSlide9.xml" Id="Rfbe528c93b6e4e0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6750b8fb3f4e8c" /><Relationship Type="http://schemas.openxmlformats.org/officeDocument/2006/relationships/image" Target="/ppt/media/image3.png" Id="Rd7a3aad2a0c74eb1" /><Relationship Type="http://schemas.openxmlformats.org/officeDocument/2006/relationships/notesSlide" Target="/ppt/notesSlides/notesSlide10.xml" Id="R94ff62d6caac47b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48c82f1ac84d22" /><Relationship Type="http://schemas.openxmlformats.org/officeDocument/2006/relationships/image" Target="/ppt/media/image4.png" Id="R9665867f96e34e0f" /><Relationship Type="http://schemas.openxmlformats.org/officeDocument/2006/relationships/notesSlide" Target="/ppt/notesSlides/notesSlide11.xml" Id="R9b91aa557e6042f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da92ae38484425" /><Relationship Type="http://schemas.openxmlformats.org/officeDocument/2006/relationships/image" Target="/ppt/media/image5.png" Id="Rb245ea31c1484103" /><Relationship Type="http://schemas.openxmlformats.org/officeDocument/2006/relationships/notesSlide" Target="/ppt/notesSlides/notesSlide12.xml" Id="R0ceef09556c44bd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3fffa8d8b54aa6" /><Relationship Type="http://schemas.openxmlformats.org/officeDocument/2006/relationships/notesSlide" Target="/ppt/notesSlides/notesSlide13.xml" Id="Rcc3baedbe1ae4c5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21daceeb604dcd" /><Relationship Type="http://schemas.openxmlformats.org/officeDocument/2006/relationships/image" Target="/ppt/media/image6.png" Id="Rc8b4d2a824c143c7" /><Relationship Type="http://schemas.openxmlformats.org/officeDocument/2006/relationships/notesSlide" Target="/ppt/notesSlides/notesSlide14.xml" Id="Rc5164200868f49a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7aeb081ebe4b52" /><Relationship Type="http://schemas.openxmlformats.org/officeDocument/2006/relationships/notesSlide" Target="/ppt/notesSlides/notesSlide15.xml" Id="R94080734796a478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bfb0a22a1849c3" /><Relationship Type="http://schemas.openxmlformats.org/officeDocument/2006/relationships/notesSlide" Target="/ppt/notesSlides/notesSlide16.xml" Id="R61043f928896481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542fbf82f34648" /><Relationship Type="http://schemas.openxmlformats.org/officeDocument/2006/relationships/image" Target="/ppt/media/image7.png" Id="R8d6575b6da0b48ca" /><Relationship Type="http://schemas.openxmlformats.org/officeDocument/2006/relationships/notesSlide" Target="/ppt/notesSlides/notesSlide17.xml" Id="Re1f00e739ca7441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8a98ac30d3467c" /><Relationship Type="http://schemas.openxmlformats.org/officeDocument/2006/relationships/notesSlide" Target="/ppt/notesSlides/notesSlide18.xml" Id="R4c2873e0667a446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6c42b15a21437d" /><Relationship Type="http://schemas.openxmlformats.org/officeDocument/2006/relationships/notesSlide" Target="/ppt/notesSlides/notesSlide19.xml" Id="Re047487504d8447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573770775e4eb8" /><Relationship Type="http://schemas.openxmlformats.org/officeDocument/2006/relationships/notesSlide" Target="/ppt/notesSlides/notesSlide20.xml" Id="R6a200fa5beb64d1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924A4F-9B0B-47F6-9C86-F8CF55FE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192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80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机器人内训 · 机器学习入门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B82C3E-F9FB-4824-8FB6-10CD5645A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1455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48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8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机器学习基础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6E917D-792B-406F-92B5-D919C0F9E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1EE76B-4BC5-4B39-82F6-A32E5254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5257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60000"/>
              </a:lnSpc>
              <a:buNone/>
              <a:defRPr sz="18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让程序自己从数据里找规律</a:t>
            </a:r>
          </a:p>
          <a:p xmlns:a="http://schemas.openxmlformats.org/drawingml/2006/main">
            <a:pPr algn="l">
              <a:lnSpc>
                <a:spcPct val="160000"/>
              </a:lnSpc>
              <a:buNone/>
              <a:defRPr sz="18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不用会微积分，10 分钟看懂模型是怎么学会的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6F461C-998B-4CA2-B55B-6E62BB2A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150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浙江大学生机器人协会 · 教学部内训选题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311578-3E87-4817-84CB-BEAB8BC441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b83c2c02454b17"/>
          <a:stretch xmlns:a="http://schemas.openxmlformats.org/drawingml/2006/main"/>
        </p:blipFill>
        <p:spPr>
          <a:xfrm xmlns:a="http://schemas.openxmlformats.org/drawingml/2006/main">
            <a:off x="6287609" y="1905000"/>
            <a:ext cx="5141283" cy="2838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506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DED1E4-8FF4-4CB7-8EBA-066CDA9D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有些事，写不出判断规则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8F0F17-D729-48AC-8BCA-50E21E3B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11B36D-1283-4B34-A104-59D95930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C43FE5-3768-47A6-BECB-FECD6472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5295900" cy="18669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46C889-A497-4EB9-9EBC-6E5AEC15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025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PWM 给 1500，小车跑多快？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45BA4A-B4A4-4DD3-B6D9-25783DDB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8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电池电压、地面摩擦、轮子磨损……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8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影响因素太多，公式写不准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54B66-7F31-4F7C-B014-741C1F3C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38300"/>
            <a:ext cx="5295900" cy="18669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ABAA3E-C970-44AA-B4CD-21587EFD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669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025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传感器这样读数，该往哪转？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B10C06-1811-43B3-B59C-322A3478E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8125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8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左右读数的组合太多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8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if-else 根本列不完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442145-D059-4BE6-8823-FDB3B118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108204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E16B58-8156-48DD-A59B-42C7E24B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71900"/>
            <a:ext cx="1028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1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规则写不出来，但例子要多少有多少：这就是机器学习开始的地方。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3AF92E-D6C3-431A-87C8-26660FC1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08204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FEDF8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D15C48-0EDF-4F03-942D-0185F5C6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38700"/>
            <a:ext cx="1028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93370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950" b="0">
                <a:solidFill>
                  <a:srgbClr val="93370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93370D"/>
                </a:solidFill>
                <a:latin typeface="Hiragino Sans GB"/>
                <a:ea typeface="Hiragino Sans GB"/>
                <a:cs typeface="Hiragino Sans GB"/>
              </a:rPr>
              <a:t>举手投票：算小车的平均速度，属于哪一边？判断路口该不该转向呢？</a:t>
            </a:r>
          </a:p>
        </p:txBody>
      </p:sp>
    </p:spTree>
    <p:extLst>
      <p:ext uri="{BB962C8B-B14F-4D97-AF65-F5344CB8AC3E}">
        <p14:creationId xmlns:p14="http://schemas.microsoft.com/office/powerpoint/2010/main" val="382990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454BF7-9AD3-434A-A5A4-02B57717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10 分钟后，你能回答这三个问题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BE054A-A894-4CB1-AA27-B574709C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0CE81F-403C-465E-9143-78C0D583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DB0663-1943-4940-9148-9BBF70D7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8204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15D660-40B0-4DF9-AF9F-659C6AB1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BFEDD-6F61-4B63-BE02-5E27DFFC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80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5D8169-2A07-4218-ADCA-9BEADB9D5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1828800"/>
            <a:ext cx="962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025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训练一个模型，必须有的四样东西是什么？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0A4B34-97F7-4567-ADD8-64286E9B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8204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0670A1-53F1-4D70-85BA-BDEDF6AD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670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A30251-88A7-4C10-93D1-FCBAD199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670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80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FA3662-CF91-4647-9ABF-1686EB9B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57500"/>
            <a:ext cx="962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025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模型是怎么学会的？学习率在里面起什么作用？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07F1A7-2088-42AF-A6ED-0B763A70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108204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DD3552-54F0-49C2-BC63-2C8A9C71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DFE997-8EEE-4711-B618-2171AFF2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80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701F6A-F007-4D6E-A6FA-57F5A016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886200"/>
            <a:ext cx="962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025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举一个「训练指标很好看、模型其实没用」的例子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539030-2028-4DA7-835F-A6EA45AE7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这三个问题都能当场检验，不写「了解机器学习」这类没法验证的目标。</a:t>
            </a:r>
          </a:p>
        </p:txBody>
      </p:sp>
    </p:spTree>
    <p:extLst>
      <p:ext uri="{BB962C8B-B14F-4D97-AF65-F5344CB8AC3E}">
        <p14:creationId xmlns:p14="http://schemas.microsoft.com/office/powerpoint/2010/main" val="16302691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94F48C-A1E8-45CA-AE8F-7E06BAE6C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今天只讲三块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B34597-3E9D-42F2-8508-F34A5233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2BA0A7-3F5E-4283-9CE8-462DE464F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1C686C-6725-4011-BF56-2FBDF685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3314700" cy="2495550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A1AA5A-525F-473B-B9D5-52E13362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3314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ctr"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模块一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FE07A6-A7D0-462B-A78A-E113C2A6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193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2025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机器学习在做什么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E90E65-57A5-471E-B127-A2645A1DE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2933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575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约 2 分钟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2BFB0E-5CD8-4F7D-809B-BA116B79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33750"/>
            <a:ext cx="2819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5000"/>
              </a:lnSpc>
              <a:buNone/>
              <a:defRPr sz="165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数据 + 模型 + 损失 + 优化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C8C3A5-D818-48EB-A3A1-04C7051F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71650"/>
            <a:ext cx="3314700" cy="2495550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DF377C-E5AF-407A-A807-40654C690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19300"/>
            <a:ext cx="3314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ctr"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模块二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97FB37-D989-473F-8214-636A7314E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193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2025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模型是怎么学会的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AF6635-CA52-4740-BD7A-CD0EFAE6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914650"/>
            <a:ext cx="2933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575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约 4 分钟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8E7707-713D-4FAF-B3E1-31A0D2AB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333750"/>
            <a:ext cx="2819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5000"/>
              </a:lnSpc>
              <a:buNone/>
              <a:defRPr sz="165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沿着损失下降的方向调参数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679F00-F288-4F6A-94D4-27C8A3E4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71650"/>
            <a:ext cx="3314700" cy="2495550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20429B-727B-4922-A62E-8FB54892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19300"/>
            <a:ext cx="3314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ctr"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模块三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CCE86D-7272-4FB5-B436-E54C5B7D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2025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怎么知道是真学会了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614BB8-E10D-4CD2-9551-5F5F626B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14650"/>
            <a:ext cx="2933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575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约 2 分钟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36C430-0BD5-4BA8-AB8E-76DD978F2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333750"/>
            <a:ext cx="2819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5000"/>
              </a:lnSpc>
              <a:buNone/>
              <a:defRPr sz="165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训练指标好看不等于能用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256C6A-5F26-429D-9FFA-952320BF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108204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23DCDE-78CD-48F6-A2F3-A4F4942D6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672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三块是递进的：先知道有哪几样东西，再看「学」这个动作怎么发生，最后判断学得好不好。</a:t>
            </a:r>
          </a:p>
        </p:txBody>
      </p:sp>
    </p:spTree>
    <p:extLst>
      <p:ext uri="{BB962C8B-B14F-4D97-AF65-F5344CB8AC3E}">
        <p14:creationId xmlns:p14="http://schemas.microsoft.com/office/powerpoint/2010/main" val="15993624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C69736-D9ED-4EED-9305-2CB77D9B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8D603A-77A6-4A67-B2A3-A18E7F43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285750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78131D-C417-4E2A-81DE-A86C3E70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模块一 · 约 2 分钟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2FC3EF-EDC7-40ED-BAB0-36EA1289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857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36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6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机器学习绕开了「写规则」这件事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E29F8D-882B-4CA8-906D-37FB67973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95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这一块回答：为什么可以不写规则，以及这件事由哪几部分组成。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7A979B-AC6E-4C4B-B37B-A21564A7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81200"/>
            <a:ext cx="31242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r">
              <a:defRPr sz="12750" b="1">
                <a:solidFill>
                  <a:srgbClr val="EAF1F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750" b="1">
                <a:solidFill>
                  <a:srgbClr val="EAF1F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0" b="1">
                <a:solidFill>
                  <a:srgbClr val="EAF1F8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587281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392769-B649-4240-A7AE-01F91E5B3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监督学习就是给例子找规律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411B87-CD60-42AD-8C19-11C70765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A6855C-C595-4BDF-89E7-5A75A0C11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F6E875-9F5F-4154-BF8D-5590FDA8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2519363" cy="1676400"/>
          </a:xfrm>
          <a:prstGeom xmlns:a="http://schemas.openxmlformats.org/drawingml/2006/main" prst="roundRect">
            <a:avLst>
              <a:gd name="adj" fmla="val 7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A34B50-BBDE-4453-85FE-F95496816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23669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21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数据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0D7B41-6405-49DF-9D15-D574248C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90800"/>
            <a:ext cx="2290763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输入 + 答案的例子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F2FAA6-2C18-4755-8713-18400621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3263" y="2600325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DB9D3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53C2B8-17F5-431A-8CFA-E9E83094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1866900"/>
            <a:ext cx="2519363" cy="1676400"/>
          </a:xfrm>
          <a:prstGeom xmlns:a="http://schemas.openxmlformats.org/drawingml/2006/main" prst="roundRect">
            <a:avLst>
              <a:gd name="adj" fmla="val 7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8E20E5-8364-4D95-B9AD-5EF074F4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013" y="2076450"/>
            <a:ext cx="23669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21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模型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6B10FE-E447-4D26-AF1E-0000FD8E6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590800"/>
            <a:ext cx="2290763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带参数的函数，给出预测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F1195B-5BF9-4798-AA9F-DB157E97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600325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DB9D3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F084E5-659A-4628-A8C1-F4A73129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866900"/>
            <a:ext cx="2519363" cy="1676400"/>
          </a:xfrm>
          <a:prstGeom xmlns:a="http://schemas.openxmlformats.org/drawingml/2006/main" prst="roundRect">
            <a:avLst>
              <a:gd name="adj" fmla="val 7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BB90CC-7BC2-4D97-A53D-D7341536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076450"/>
            <a:ext cx="23669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21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损失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B13CDC-068B-4C78-8D2C-3158D5454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590800"/>
            <a:ext cx="2290763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把差距压成一个数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A78E3A-7E41-4235-A7CC-8DD4089D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7288" y="2600325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DB9D3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987D54-C0BD-4426-BF09-E7B04322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6838" y="1866900"/>
            <a:ext cx="2519363" cy="1676400"/>
          </a:xfrm>
          <a:prstGeom xmlns:a="http://schemas.openxmlformats.org/drawingml/2006/main" prst="roundRect">
            <a:avLst>
              <a:gd name="adj" fmla="val 7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09CDF4-7536-4820-88BA-5D2A145F3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038" y="2076450"/>
            <a:ext cx="23669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21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优化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ADB992-8B04-418A-BDF9-8116B739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2590800"/>
            <a:ext cx="2290763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调参数，让数变小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3D46BA-61BF-4156-B443-683103C3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571945-5158-45A4-B1D7-9FFFDD9C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四样缺一不可：没有数据谈不上学习，没有模型没法预测，没有损失不知道该往哪调。</a:t>
            </a:r>
          </a:p>
        </p:txBody>
      </p:sp>
    </p:spTree>
    <p:extLst>
      <p:ext uri="{BB962C8B-B14F-4D97-AF65-F5344CB8AC3E}">
        <p14:creationId xmlns:p14="http://schemas.microsoft.com/office/powerpoint/2010/main" val="12562804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70C103-F4EE-47C5-9367-7CAA87B8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一行数据就是一个样本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F6F69A-87DC-44A6-97F6-D63D4414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8A0998-2A22-4A89-AD48-5FCA1931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09FC4C-AE87-4562-B67B-3FB4D419F4BA}"/>
              </a:ext>
            </a:extLst>
          </p:cNvPr>
          <p:cNvGraphicFramePr/>
          <p:nvPr/>
        </p:nvGraphicFramePr>
        <p:xfrm>
          <a:off xmlns:a="http://schemas.openxmlformats.org/drawingml/2006/main" x="685800" y="1676400"/>
          <a:ext xmlns:a="http://schemas.openxmlformats.org/drawingml/2006/main" cx="5905500" cy="40386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952750"/>
                <a:gridCol w="2952750"/>
              </a:tblGrid>
              <a:tr h="60960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85E8E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PWM 指令</a:t>
                      </a:r>
                    </a:p>
                  </a:txBody>
                  <a:tcPr marL="91440" marR="91440" marT="45720" marB="45720" anchor="ctr"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85E8E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实测速度 mm/s</a:t>
                      </a:r>
                    </a:p>
                  </a:txBody>
                  <a:tcPr marL="91440" marR="91440" marT="45720" marB="45720" anchor="ctr">
                    <a:solidFill>
                      <a:srgbClr val="EAF1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427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1000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427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30.4</a:t>
                      </a:r>
                    </a:p>
                  </a:txBody>
                  <a:tcPr marL="91440" marR="91440" marT="45720" marB="45720" anchor="ctr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427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1176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427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94.5</a:t>
                      </a:r>
                    </a:p>
                  </a:txBody>
                  <a:tcPr marL="91440" marR="91440" marT="45720" marB="45720" anchor="ctr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427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1353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427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178.0</a:t>
                      </a:r>
                    </a:p>
                  </a:txBody>
                  <a:tcPr marL="91440" marR="91440" marT="45720" marB="45720" anchor="ctr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427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1529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427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219.6</a:t>
                      </a:r>
                    </a:p>
                  </a:txBody>
                  <a:tcPr marL="91440" marR="91440" marT="45720" marB="45720" anchor="ctr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427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1706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427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320.5</a:t>
                      </a:r>
                    </a:p>
                  </a:txBody>
                  <a:tcPr marL="91440" marR="91440" marT="45720" marB="45720" anchor="ctr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427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1882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427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388.5</a:t>
                      </a:r>
                    </a:p>
                  </a:txBody>
                  <a:tcPr marL="91440" marR="91440" marT="45720" marB="45720" anchor="ctr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135CF5-B9BE-4177-8FC2-D7F1B73F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866900"/>
            <a:ext cx="44958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279400" indent="-152400">
              <a:lnSpc>
                <a:spcPct val="125000"/>
              </a:lnSpc>
              <a:spcAft>
                <a:spcPts val="2600"/>
              </a:spcAft>
              <a:buNone/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一行 = 一个样本，一次实验</a:t>
            </a:r>
          </a:p>
          <a:p xmlns:a="http://schemas.openxmlformats.org/drawingml/2006/main">
            <a:pPr marL="279400" indent="-152400">
              <a:lnSpc>
                <a:spcPct val="125000"/>
              </a:lnSpc>
              <a:spcAft>
                <a:spcPts val="2600"/>
              </a:spcAft>
              <a:buNone/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输入那一列 = 特征 x</a:t>
            </a:r>
          </a:p>
          <a:p xmlns:a="http://schemas.openxmlformats.org/drawingml/2006/main">
            <a:pPr marL="279400" indent="-152400">
              <a:lnSpc>
                <a:spcPct val="125000"/>
              </a:lnSpc>
              <a:spcAft>
                <a:spcPts val="2600"/>
              </a:spcAft>
              <a:buNone/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要预测的那一列 = 标签 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4A09D-CD5F-4D30-B4F4-026BD48EF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953000"/>
            <a:ext cx="4495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6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总共 18 个样本，小到可以在纸上算一遍。</a:t>
            </a:r>
          </a:p>
        </p:txBody>
      </p:sp>
    </p:spTree>
    <p:extLst>
      <p:ext uri="{BB962C8B-B14F-4D97-AF65-F5344CB8AC3E}">
        <p14:creationId xmlns:p14="http://schemas.microsoft.com/office/powerpoint/2010/main" val="4776120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6B0B8-3ADE-43A8-8AF5-A97853EA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先猜一猜：哪一条线的 MSE 更小？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7C0D33-E251-4B09-B42E-D99BED5D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8009E5-5339-4A21-85D8-BB367FB7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DAFCFD-F177-46EE-9A8C-A736CF7B0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4000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279400" indent="-152400">
              <a:lnSpc>
                <a:spcPct val="125000"/>
              </a:lnSpc>
              <a:spcAft>
                <a:spcPts val="2200"/>
              </a:spcAft>
              <a:buNone/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A：w = 0.20，b = 120</a:t>
            </a:r>
          </a:p>
          <a:p xmlns:a="http://schemas.openxmlformats.org/drawingml/2006/main">
            <a:pPr marL="279400" indent="-152400">
              <a:lnSpc>
                <a:spcPct val="125000"/>
              </a:lnSpc>
              <a:spcAft>
                <a:spcPts val="2200"/>
              </a:spcAft>
              <a:buNone/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B：w = 0.40，b = 232</a:t>
            </a:r>
          </a:p>
          <a:p xmlns:a="http://schemas.openxmlformats.org/drawingml/2006/main">
            <a:pPr marL="279400" indent="-152400">
              <a:lnSpc>
                <a:spcPct val="125000"/>
              </a:lnSpc>
              <a:spcAft>
                <a:spcPts val="2200"/>
              </a:spcAft>
              <a:buNone/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先举手，再听我讲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461A20-AE50-440E-AD93-87B6D803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40005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FEDF8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91F9CC-0B99-41F8-9CC4-24C7B3C1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34671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93370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93370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93370D"/>
                </a:solidFill>
                <a:latin typeface="Hiragino Sans GB"/>
                <a:ea typeface="Hiragino Sans GB"/>
                <a:cs typeface="Hiragino Sans GB"/>
              </a:rPr>
              <a:t>猜错了也没关系，会用损失比较才是重点。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AF4900-C01E-4C2E-896C-BF4F405C2D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10ca23db8c48d6"/>
          <a:stretch xmlns:a="http://schemas.openxmlformats.org/drawingml/2006/main"/>
        </p:blipFill>
        <p:spPr>
          <a:xfrm xmlns:a="http://schemas.openxmlformats.org/drawingml/2006/main">
            <a:off x="5105438" y="1676400"/>
            <a:ext cx="6400725" cy="35337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7126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B2AC14-7063-4EF8-B782-7C2C2628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模块一小结：四样东西缺一不可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CA26DB-351E-4273-B7AF-8D6D08A5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9DF7F7-50FD-4475-88FB-DCC2AD8E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63ECE7-C8B3-46F3-BB5C-D2ACB0CF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108204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561F2C-71A2-4187-9465-BCCAE616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7165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这一块讲了什么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C58581-B8F4-4727-ACBD-50E3C4647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771650"/>
            <a:ext cx="7715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机器学习由数据、模型、损失、优化四部分组成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B47148-F737-4114-A2D6-B18520D6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08204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CEDC28-5DB9-44C4-A2AD-B335BDAC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为什么重要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0E0D58-B24D-4EEB-A996-4AD3DE8F5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81300"/>
            <a:ext cx="7715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这四样是所有模型的地基，深度学习也是这四样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6BEB87-3D9B-4689-AB79-5C78E1672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075F18-5CB3-4E87-A26C-E3CFB0C7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9095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和下一块的关系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130CE6-D423-4CE7-886C-15CF539C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90950"/>
            <a:ext cx="7715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损失已经是一个数了，接下来问：怎么把它调小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794003-E203-4E0C-B2EF-1B9EB1DB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4EC0E1-E804-4D40-8610-89F4F6A4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1028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下一块：损失是一个数了，怎么把它调小？</a:t>
            </a:r>
          </a:p>
        </p:txBody>
      </p:sp>
    </p:spTree>
    <p:extLst>
      <p:ext uri="{BB962C8B-B14F-4D97-AF65-F5344CB8AC3E}">
        <p14:creationId xmlns:p14="http://schemas.microsoft.com/office/powerpoint/2010/main" val="207777702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F8256-F2CB-4958-83F5-4508147A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模型就是一组待定的参数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95DB90-4E79-4CCE-8EF0-D72929D8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D5B942-2B72-4644-916F-04DE2E6E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CBD149-A683-436D-85E7-5D9992E2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81000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7D487F-09DF-4692-832E-3EECA1BD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361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6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预测速度 = w × (PWM - 1500) + 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AE8A9B-E3EA-4284-B5A1-7B4E4FDA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3810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279400" indent="-152400">
              <a:lnSpc>
                <a:spcPct val="125000"/>
              </a:lnSpc>
              <a:spcAft>
                <a:spcPts val="2000"/>
              </a:spcAft>
              <a:buNone/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w 和 b 是参数，还不知道</a:t>
            </a:r>
          </a:p>
          <a:p xmlns:a="http://schemas.openxmlformats.org/drawingml/2006/main">
            <a:pPr marL="279400" indent="-152400">
              <a:lnSpc>
                <a:spcPct val="125000"/>
              </a:lnSpc>
              <a:spcAft>
                <a:spcPts val="2000"/>
              </a:spcAft>
              <a:buNone/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把它们想成两个旋钮</a:t>
            </a:r>
          </a:p>
          <a:p xmlns:a="http://schemas.openxmlformats.org/drawingml/2006/main">
            <a:pPr marL="279400" indent="-152400">
              <a:lnSpc>
                <a:spcPct val="125000"/>
              </a:lnSpc>
              <a:spcAft>
                <a:spcPts val="2000"/>
              </a:spcAft>
              <a:buNone/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训练就是来回拧这两个旋钮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EDC2A8-8AF9-4802-892C-4EA52ABD8E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a3aad2a0c74eb1"/>
          <a:stretch xmlns:a="http://schemas.openxmlformats.org/drawingml/2006/main"/>
        </p:blipFill>
        <p:spPr>
          <a:xfrm xmlns:a="http://schemas.openxmlformats.org/drawingml/2006/main">
            <a:off x="4880072" y="1676400"/>
            <a:ext cx="6279956" cy="34671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ABE956-7D1D-4026-A782-42F9E801E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334000"/>
            <a:ext cx="662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8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拧好的结果是 w ≈ 0.398、b ≈ 232.3，直线尽量贴着数据走。</a:t>
            </a:r>
          </a:p>
        </p:txBody>
      </p:sp>
    </p:spTree>
    <p:extLst>
      <p:ext uri="{BB962C8B-B14F-4D97-AF65-F5344CB8AC3E}">
        <p14:creationId xmlns:p14="http://schemas.microsoft.com/office/powerpoint/2010/main" val="21315354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56D6D7-62D7-4581-8BBA-AC535996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损失把「差多少」变成一个数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18E1D5-7941-4ADD-967D-0C4F4BC5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40A009-8CC5-451E-B4EA-89431F8D3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31BD07-06DB-4885-9A16-2A4A0BD69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81000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567125-C996-49EB-9E63-9DC076D33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66900"/>
            <a:ext cx="3581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6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L = (1 / N) · Σ (预测 - 实测)^2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C39C56-0A30-48DC-A04D-C5995F33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3810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279400" indent="-152400">
              <a:lnSpc>
                <a:spcPct val="125000"/>
              </a:lnSpc>
              <a:spcAft>
                <a:spcPts val="2000"/>
              </a:spcAft>
              <a:buNone/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每段竖线就是一个误差</a:t>
            </a:r>
          </a:p>
          <a:p xmlns:a="http://schemas.openxmlformats.org/drawingml/2006/main">
            <a:pPr marL="279400" indent="-152400">
              <a:lnSpc>
                <a:spcPct val="125000"/>
              </a:lnSpc>
              <a:spcAft>
                <a:spcPts val="2000"/>
              </a:spcAft>
              <a:buNone/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平方：不让正负抵消，大错更贵</a:t>
            </a:r>
          </a:p>
          <a:p xmlns:a="http://schemas.openxmlformats.org/drawingml/2006/main">
            <a:pPr marL="279400" indent="-152400">
              <a:lnSpc>
                <a:spcPct val="125000"/>
              </a:lnSpc>
              <a:spcAft>
                <a:spcPts val="2000"/>
              </a:spcAft>
              <a:buNone/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取平均：与样本数量无关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621357-8C42-4F23-BE1A-837EC116DF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65867f96e34e0f"/>
          <a:stretch xmlns:a="http://schemas.openxmlformats.org/drawingml/2006/main"/>
        </p:blipFill>
        <p:spPr>
          <a:xfrm xmlns:a="http://schemas.openxmlformats.org/drawingml/2006/main">
            <a:off x="4876800" y="1677116"/>
            <a:ext cx="6286500" cy="3494243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820F14-8168-470F-861C-1E59DA15F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334000"/>
            <a:ext cx="662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8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这组参数的均方误差是 92.6，越小说明直线贴得越紧。</a:t>
            </a:r>
          </a:p>
        </p:txBody>
      </p:sp>
    </p:spTree>
    <p:extLst>
      <p:ext uri="{BB962C8B-B14F-4D97-AF65-F5344CB8AC3E}">
        <p14:creationId xmlns:p14="http://schemas.microsoft.com/office/powerpoint/2010/main" val="36170064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8DE8ED-F496-42EA-82E5-E419CAD9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梯度下降就是朝低处走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862F33-023D-44BA-84EA-E1697F24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F329E5-237C-4FDB-81EB-7EE80F77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8925F2-CAB4-4F2A-B59D-E55C914A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80010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481D9-44C5-4FB3-8B32-EFF74E383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36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ctr">
              <a:defRPr sz="22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22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w = w - η · dL / dw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96EC49-BC79-45C1-B9AA-E510957559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5ea31c1484103"/>
          <a:stretch xmlns:a="http://schemas.openxmlformats.org/drawingml/2006/main"/>
        </p:blipFill>
        <p:spPr>
          <a:xfrm xmlns:a="http://schemas.openxmlformats.org/drawingml/2006/main">
            <a:off x="2287266" y="2419350"/>
            <a:ext cx="7617469" cy="3467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EE968A-98EB-4909-A041-F732DBF1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参数是你的位置，损失是海拔，梯度是坡向，学习率是每步跨多大。</a:t>
            </a:r>
          </a:p>
        </p:txBody>
      </p:sp>
    </p:spTree>
    <p:extLst>
      <p:ext uri="{BB962C8B-B14F-4D97-AF65-F5344CB8AC3E}">
        <p14:creationId xmlns:p14="http://schemas.microsoft.com/office/powerpoint/2010/main" val="208603396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F31C47-D215-458F-91BA-15271625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先猜一猜：学习率调大十倍会怎样？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FB9DDC-A880-4424-8CF9-E60962B6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6478F-6276-46E8-A4E8-39B8549EE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75F6BA-602F-4707-84DE-7F6C5F22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1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现在是 0.80，8 步就落到最低点。改成 8.0 呢？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BC57FC-9DE4-4961-A184-39A13D361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108204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308495-6EDA-4689-BF9A-56247A09D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670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5BDDE7-815B-43F5-B2C1-BB631043E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670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C7238C-F0D5-4A96-905E-FAB4A570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667000"/>
            <a:ext cx="962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025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更快收敛，几步就到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5C5A76-4052-4DAC-B07F-44016450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108204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ABD30E-8CEF-4272-A3A4-576D948C1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76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798373-6170-41B0-A314-59E380865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766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B8AB07-8E76-4278-9C3A-BFA1E867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76650"/>
            <a:ext cx="962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025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卡住不动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B03E64-D50A-4C55-A36F-4E97CD93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8204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CABB4C-8BF9-4DB4-85F8-2CF313EB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863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0100F9-C7D2-43A3-816D-9DDF0554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863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8EA876-834B-4E08-B829-D2602A01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62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025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训练直接崩掉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1369C4-FEA5-4694-975E-138929B6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820400" cy="552450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FEDF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DF0171-87BC-4BC8-A6DF-8BC1B4A5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769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93370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93370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93370D"/>
                </a:solidFill>
                <a:latin typeface="Hiragino Sans GB"/>
                <a:ea typeface="Hiragino Sans GB"/>
                <a:cs typeface="Hiragino Sans GB"/>
              </a:rPr>
              <a:t>先小声说给自己听，再说给同桌听。答案在下一页。</a:t>
            </a:r>
          </a:p>
        </p:txBody>
      </p:sp>
    </p:spTree>
    <p:extLst>
      <p:ext uri="{BB962C8B-B14F-4D97-AF65-F5344CB8AC3E}">
        <p14:creationId xmlns:p14="http://schemas.microsoft.com/office/powerpoint/2010/main" val="184325479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420CCB-99DB-44FA-9E12-E8B81218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学习率太大，训练会直接崩掉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15BAAD-8F41-40E4-AB78-A4FD859A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C007FD-3C03-4D79-BE11-0C7BCE04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14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E8CF4E-721C-4358-9ED4-C741E3CE9F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b4d2a824c143c7"/>
          <a:stretch xmlns:a="http://schemas.openxmlformats.org/drawingml/2006/main"/>
        </p:blipFill>
        <p:spPr>
          <a:xfrm xmlns:a="http://schemas.openxmlformats.org/drawingml/2006/main">
            <a:off x="1813042" y="1447800"/>
            <a:ext cx="8565916" cy="34575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9673D1-FEE7-4969-AD1C-F426E7E3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48250"/>
            <a:ext cx="10210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279400" indent="-152400">
              <a:lnSpc>
                <a:spcPct val="125000"/>
              </a:lnSpc>
              <a:spcAft>
                <a:spcPts val="1200"/>
              </a:spcAft>
              <a:buNone/>
              <a:defRPr sz="180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太小 0.05：8 步损失还有 1352，慢得像卡住了</a:t>
            </a:r>
          </a:p>
          <a:p xmlns:a="http://schemas.openxmlformats.org/drawingml/2006/main">
            <a:pPr marL="279400" indent="-152400">
              <a:lnSpc>
                <a:spcPct val="125000"/>
              </a:lnSpc>
              <a:spcAft>
                <a:spcPts val="1200"/>
              </a:spcAft>
              <a:buNone/>
              <a:defRPr sz="180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合适 0.80：落到最低点，损失 92.6</a:t>
            </a:r>
          </a:p>
          <a:p xmlns:a="http://schemas.openxmlformats.org/drawingml/2006/main">
            <a:pPr marL="279400" indent="-152400">
              <a:lnSpc>
                <a:spcPct val="125000"/>
              </a:lnSpc>
              <a:spcAft>
                <a:spcPts val="1200"/>
              </a:spcAft>
              <a:buNone/>
              <a:defRPr sz="180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太大 3.20：参数跑到 -863，损失变成 42 万</a:t>
            </a:r>
          </a:p>
        </p:txBody>
      </p:sp>
    </p:spTree>
    <p:extLst>
      <p:ext uri="{BB962C8B-B14F-4D97-AF65-F5344CB8AC3E}">
        <p14:creationId xmlns:p14="http://schemas.microsoft.com/office/powerpoint/2010/main" val="30784333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6D5867-8EE3-49B0-8B22-78ECA56D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模块二小结：学习就是一步步往低处走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BA9EF-82B6-483F-87CB-DE2391BC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2BB4BD-1FA6-4D5C-B5B3-ECEECC454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DA8A78-768E-4D4A-B053-54067E02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108204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E40444-385F-4434-B8D6-FBF61BB5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7165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这一块讲了什么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573A36-15F9-45A9-8B0F-182B0C88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771650"/>
            <a:ext cx="7715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训练就是沿着损失下降的方向调整参数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85F96F-EFC0-45D8-AA27-4123624A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08204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92DF1F-BAA5-430B-A695-2BDAC5D4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为什么重要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4912B6-A6CC-4FFE-A43F-4717DA146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81300"/>
            <a:ext cx="7715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这是「学习」这个动作的全部机制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9BA7E4-AC30-4B43-A4F4-10E97FAC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CA3E4D-CD7D-4EDC-B6FC-68C487B4E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9095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和下一块的关系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37F47B-5AA5-45AC-99F3-9B13C704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90950"/>
            <a:ext cx="7715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损失降下去了，是不是就说明学成功了？不一定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A5EF0F-43D4-43BC-9A5A-599C3060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3EC727-257A-4150-98D5-0F63499E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1028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下一块：损失降下去了，怎么知道它是真的学会了？</a:t>
            </a:r>
          </a:p>
        </p:txBody>
      </p:sp>
    </p:spTree>
    <p:extLst>
      <p:ext uri="{BB962C8B-B14F-4D97-AF65-F5344CB8AC3E}">
        <p14:creationId xmlns:p14="http://schemas.microsoft.com/office/powerpoint/2010/main" val="59677509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C13782-1A4D-42C5-99ED-5BA9A081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16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99DBA6-ABB6-4C3C-B7EE-17AEB123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285750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940B19-5DA7-4E76-B62C-FC422FF5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lnSpc>
                <a:spcPct val="130000"/>
              </a:lnSpc>
              <a:buNone/>
              <a:def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模块三 · 约 2 分钟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1139C0-075A-41B4-BA95-6EA1961A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857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36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60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损失降下去了，不代表学对了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52018C-AF1B-4D4E-9ED1-FAF70961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40000"/>
              </a:lnSpc>
              <a:buNone/>
              <a:defRPr sz="195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这一块回答：怎么判断模型是学到了规律，还是背下了答案。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B782EF-D8FD-4128-AB9D-84418A3F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81200"/>
            <a:ext cx="31242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r">
              <a:defRPr sz="12750" b="1">
                <a:solidFill>
                  <a:srgbClr val="EAF1F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750" b="1">
                <a:solidFill>
                  <a:srgbClr val="EAF1F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0" b="1">
                <a:solidFill>
                  <a:srgbClr val="EAF1F8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8842381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E5F388-F3CB-48BB-B809-59B59C20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训练误差小，不代表学得好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9B0457-52A8-4BDF-931E-EF6FE74E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960E72-1757-46BC-BBDE-7C1A296F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17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8485F3-4CDF-458B-92C8-3C874F9DD8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6575b6da0b48ca"/>
          <a:stretch xmlns:a="http://schemas.openxmlformats.org/drawingml/2006/main"/>
        </p:blipFill>
        <p:spPr>
          <a:xfrm xmlns:a="http://schemas.openxmlformats.org/drawingml/2006/main">
            <a:off x="1814908" y="1409700"/>
            <a:ext cx="8562183" cy="3486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973725-4193-43FA-AF5F-8A8E6F50C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29200"/>
            <a:ext cx="10210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279400" indent="-152400">
              <a:lnSpc>
                <a:spcPct val="125000"/>
              </a:lnSpc>
              <a:spcAft>
                <a:spcPts val="1200"/>
              </a:spcAft>
              <a:buNone/>
              <a:defRPr sz="1725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欠拟合：1 次多项式，两个误差都大（0.047 / 0.086）</a:t>
            </a:r>
          </a:p>
          <a:p xmlns:a="http://schemas.openxmlformats.org/drawingml/2006/main">
            <a:pPr marL="279400" indent="-152400">
              <a:lnSpc>
                <a:spcPct val="125000"/>
              </a:lnSpc>
              <a:spcAft>
                <a:spcPts val="1200"/>
              </a:spcAft>
              <a:buNone/>
              <a:defRPr sz="1725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合适：3 次多项式，两个误差都小（0.004 / 0.009）</a:t>
            </a:r>
          </a:p>
          <a:p xmlns:a="http://schemas.openxmlformats.org/drawingml/2006/main">
            <a:pPr marL="279400" indent="-152400">
              <a:lnSpc>
                <a:spcPct val="125000"/>
              </a:lnSpc>
              <a:spcAft>
                <a:spcPts val="1200"/>
              </a:spcAft>
              <a:buNone/>
              <a:defRPr sz="1725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过拟合：9 次多项式，训练 0.001，验证涨到 67.314</a:t>
            </a:r>
          </a:p>
        </p:txBody>
      </p:sp>
    </p:spTree>
    <p:extLst>
      <p:ext uri="{BB962C8B-B14F-4D97-AF65-F5344CB8AC3E}">
        <p14:creationId xmlns:p14="http://schemas.microsoft.com/office/powerpoint/2010/main" val="151383179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72BF3E-8DA9-4E15-B134-9F4FFD71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找错：这个模型的问题在哪？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D5B47-74BB-4B46-BEB3-214FF475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5F93B4-ECCD-4A49-A967-AE46CA4E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841757-FEC6-4CAD-86B1-B8F7BC7CE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820400" cy="1466850"/>
          </a:xfrm>
          <a:prstGeom xmlns:a="http://schemas.openxmlformats.org/drawingml/2006/main" prst="roundRect">
            <a:avLst>
              <a:gd name="adj" fmla="val 1039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172D2F-8EC8-46D1-B63A-1B9EE7EA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85950"/>
            <a:ext cx="10210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50000"/>
              </a:lnSpc>
              <a:buNone/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任务：判断小车此刻需不需要转向。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1000 个样本里，950 个不需要转，只有 50 个需要。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A67ACF-CA30-4CBD-A8E8-997B0F16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1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现在有个模型，永远输出「不需要转向」。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7E0AFC-B0C5-415C-8D86-DFDA479A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10820400" cy="9525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FEDF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AE5AD6-0F21-4748-92B5-2F9E282F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4815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93370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250" b="1">
                <a:solidFill>
                  <a:srgbClr val="93370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93370D"/>
                </a:solidFill>
                <a:latin typeface="Hiragino Sans GB"/>
                <a:ea typeface="Hiragino Sans GB"/>
                <a:cs typeface="Hiragino Sans GB"/>
              </a:rPr>
              <a:t>问题：它的准确率是多少？它能装到车上吗？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10816E-C6BE-4AFB-9B2B-AEBD891F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先说出你的答案，再看下一页。</a:t>
            </a:r>
          </a:p>
        </p:txBody>
      </p:sp>
    </p:spTree>
    <p:extLst>
      <p:ext uri="{BB962C8B-B14F-4D97-AF65-F5344CB8AC3E}">
        <p14:creationId xmlns:p14="http://schemas.microsoft.com/office/powerpoint/2010/main" val="175824277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DB8343-9D81-43BD-A5D6-54DDE6FEC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准确率高，也可能一个该抓的都没抓住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DABC82-BB40-4C1B-B4E2-E046C10C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786229-806B-4FED-9636-0C07328C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19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5FA23E-9671-417D-A46B-0192349DB857}"/>
              </a:ext>
            </a:extLst>
          </p:cNvPr>
          <p:cNvGraphicFramePr/>
          <p:nvPr/>
        </p:nvGraphicFramePr>
        <p:xfrm>
          <a:off xmlns:a="http://schemas.openxmlformats.org/drawingml/2006/main" x="685800" y="1905000"/>
          <a:ext xmlns:a="http://schemas.openxmlformats.org/drawingml/2006/main" cx="6667500" cy="2667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434167"/>
                <a:gridCol w="2116667"/>
                <a:gridCol w="2116667"/>
              </a:tblGrid>
              <a:tr h="62865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5E8E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/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5E8E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实际需要转向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5E8E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实际不需要</a:t>
                      </a: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427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预测需要转向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427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427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</a:t>
                      </a: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427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预测不需要转向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D92D20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50</a:t>
                      </a:r>
                    </a:p>
                  </a:txBody>
                  <a:tcPr marL="91440" marR="91440" marT="45720" marB="45720" anchor="ctr">
                    <a:solidFill>
                      <a:srgbClr val="FE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4273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950</a:t>
                      </a:r>
                    </a:p>
                  </a:txBody>
                  <a:tcPr marL="91440" marR="91440" marT="45720" marB="45720" anchor="ctr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DA2A5C-62CB-4A7C-B88D-40469312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905000"/>
            <a:ext cx="37338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marL="279400" indent="-152400">
              <a:lnSpc>
                <a:spcPct val="125000"/>
              </a:lnSpc>
              <a:spcAft>
                <a:spcPts val="2200"/>
              </a:spcAft>
              <a:buNone/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准确率 95%</a:t>
            </a:r>
          </a:p>
          <a:p xmlns:a="http://schemas.openxmlformats.org/drawingml/2006/main">
            <a:pPr marL="279400" indent="-152400">
              <a:lnSpc>
                <a:spcPct val="125000"/>
              </a:lnSpc>
              <a:spcAft>
                <a:spcPts val="2200"/>
              </a:spcAft>
              <a:buNone/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召回率 0 / 50 = 0%</a:t>
            </a:r>
          </a:p>
          <a:p xmlns:a="http://schemas.openxmlformats.org/drawingml/2006/main">
            <a:pPr marL="279400" indent="-152400">
              <a:lnSpc>
                <a:spcPct val="125000"/>
              </a:lnSpc>
              <a:spcAft>
                <a:spcPts val="2200"/>
              </a:spcAft>
              <a:buNone/>
              <a:def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475467"/>
                </a:solidFill>
                <a:latin typeface="Hiragino Sans GB"/>
                <a:ea typeface="Hiragino Sans GB"/>
                <a:cs typeface="Hiragino Sans GB"/>
              </a:rPr>
              <a:t>一次该转都没抓住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359960-E666-490F-AC10-505833AB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EF3F2"/>
          </a:solidFill>
          <a:ln xmlns:a="http://schemas.openxmlformats.org/drawingml/2006/main" w="9525">
            <a:solidFill>
              <a:srgbClr val="FDA29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CA819F-C7D4-47B8-82A7-4FB8B98AC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91201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950" b="0">
                <a:solidFill>
                  <a:srgbClr val="91201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912018"/>
                </a:solidFill>
                <a:latin typeface="Hiragino Sans GB"/>
                <a:ea typeface="Hiragino Sans GB"/>
                <a:cs typeface="Hiragino Sans GB"/>
              </a:rPr>
              <a:t>在机器人上漏报比误报贵：宁可多转一次，也不能漏掉一次。</a:t>
            </a:r>
          </a:p>
        </p:txBody>
      </p:sp>
    </p:spTree>
    <p:extLst>
      <p:ext uri="{BB962C8B-B14F-4D97-AF65-F5344CB8AC3E}">
        <p14:creationId xmlns:p14="http://schemas.microsoft.com/office/powerpoint/2010/main" val="104454172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14428D-8F6B-4D10-A4E1-1423C824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回到开场的三个问题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634425-1AC9-4EBB-B3AF-9929D3C1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E8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8B7E2-B818-417C-AC15-7D44E5E4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1219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30000"/>
              </a:lnSpc>
              <a:buNone/>
              <a:def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667085"/>
                </a:solidFill>
                <a:latin typeface="Hiragino Sans GB"/>
                <a:ea typeface="Hiragino Sans GB"/>
                <a:cs typeface="Hiragino Sans GB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2683B4-93C1-46EC-8C88-A65ADC36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8204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5E4699-D4D5-432F-9200-472F7AE1B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725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训练一个模型需要什么？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46870F-6D96-4CCA-BFB1-FCAF2132E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76400"/>
            <a:ext cx="609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数据、模型、损失、优化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056641-5504-4CCB-845E-1443F7BF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08204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6A1FF-1D8C-411F-A7FE-ACA72694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725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模型是怎么学会的？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C8DEE3-476F-43E1-A52D-17323A19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86050"/>
            <a:ext cx="609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沿着损失下降的方向调参数，学习率决定步长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8CDCD9-4459-4654-B55C-4E1AB5BC9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1082040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2B13EA-2D86-4DF6-A20E-1CD7C202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95700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725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285E8E"/>
                </a:solidFill>
                <a:latin typeface="Hiragino Sans GB"/>
                <a:ea typeface="Hiragino Sans GB"/>
                <a:cs typeface="Hiragino Sans GB"/>
              </a:rPr>
              <a:t>怎么知道它真的学会了？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42A24B-6EF1-4AC1-A247-63E3998C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95700"/>
            <a:ext cx="609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在没见过的数据上看，指标好看不等于能用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216A62-F29B-45B0-A163-677A90A40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8204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7D9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720A7A-D625-40A2-8C87-7815489D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62500"/>
            <a:ext cx="1028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142735"/>
                </a:solidFill>
                <a:latin typeface="Hiragino Sans GB"/>
                <a:ea typeface="Hiragino Sans GB"/>
                <a:cs typeface="Hiragino Sans GB"/>
              </a:rPr>
              <a:t>下一步：手写一次梯度下降并画出损失曲线，换三组学习率记录损失怎么变，有条件就拿自己小车的 PWM 与速度跑一遍标定。</a:t>
            </a:r>
          </a:p>
        </p:txBody>
      </p:sp>
    </p:spTree>
    <p:extLst>
      <p:ext uri="{BB962C8B-B14F-4D97-AF65-F5344CB8AC3E}">
        <p14:creationId xmlns:p14="http://schemas.microsoft.com/office/powerpoint/2010/main" val="19530343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2026-10-07T05:14:28.9170000Z</dcterms:created>
  <dcterms:modified xsi:type="dcterms:W3CDTF">2026-10-07T05:14:28.9170000Z</dcterms:modified>
</coreProperties>
</file>