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f1a0597b7e4a87" /><Relationship Type="http://schemas.openxmlformats.org/officeDocument/2006/relationships/extended-properties" Target="/docProps/app.xml" Id="R96588f7b4a844b7b" /><Relationship Type="http://schemas.openxmlformats.org/officeDocument/2006/relationships/officeDocument" Target="/ppt/presentation.xml" Id="R4dbc3e2e209947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0d3731d26943d3"/>
  </p:sldMasterIdLst>
  <p:notesMasterIdLst>
    <p:notesMasterId xmlns:r="http://schemas.openxmlformats.org/officeDocument/2006/relationships" r:id="R590c87b57172444c"/>
  </p:notesMasterIdLst>
  <p:sldIdLst>
    <p:sldId xmlns:r="http://schemas.openxmlformats.org/officeDocument/2006/relationships" id="256" r:id="R38e6a411c9694376"/>
    <p:sldId xmlns:r="http://schemas.openxmlformats.org/officeDocument/2006/relationships" id="257" r:id="Ra1ccc0448eda46d9"/>
    <p:sldId xmlns:r="http://schemas.openxmlformats.org/officeDocument/2006/relationships" id="258" r:id="R1117488960934a5d"/>
    <p:sldId xmlns:r="http://schemas.openxmlformats.org/officeDocument/2006/relationships" id="259" r:id="Ra1f6d34d090b46e8"/>
    <p:sldId xmlns:r="http://schemas.openxmlformats.org/officeDocument/2006/relationships" id="260" r:id="R148e33a964fe4cdf"/>
    <p:sldId xmlns:r="http://schemas.openxmlformats.org/officeDocument/2006/relationships" id="261" r:id="R03595c4b3384400a"/>
    <p:sldId xmlns:r="http://schemas.openxmlformats.org/officeDocument/2006/relationships" id="262" r:id="Rf5484353e28541bf"/>
    <p:sldId xmlns:r="http://schemas.openxmlformats.org/officeDocument/2006/relationships" id="263" r:id="Rb6fbfd60a72346bf"/>
    <p:sldId xmlns:r="http://schemas.openxmlformats.org/officeDocument/2006/relationships" id="264" r:id="Rc4722e1cdced4bf6"/>
    <p:sldId xmlns:r="http://schemas.openxmlformats.org/officeDocument/2006/relationships" id="265" r:id="R05f1bd7a93734613"/>
    <p:sldId xmlns:r="http://schemas.openxmlformats.org/officeDocument/2006/relationships" id="266" r:id="R5542189729364251"/>
    <p:sldId xmlns:r="http://schemas.openxmlformats.org/officeDocument/2006/relationships" id="267" r:id="Rb6fa0c3644124ef9"/>
    <p:sldId xmlns:r="http://schemas.openxmlformats.org/officeDocument/2006/relationships" id="268" r:id="R4bdb0b622ed84123"/>
    <p:sldId xmlns:r="http://schemas.openxmlformats.org/officeDocument/2006/relationships" id="269" r:id="R462f0602961c4604"/>
    <p:sldId xmlns:r="http://schemas.openxmlformats.org/officeDocument/2006/relationships" id="270" r:id="R70d70bc059954fc9"/>
    <p:sldId xmlns:r="http://schemas.openxmlformats.org/officeDocument/2006/relationships" id="271" r:id="R8edd9a1110bb4016"/>
    <p:sldId xmlns:r="http://schemas.openxmlformats.org/officeDocument/2006/relationships" id="272" r:id="Recdeb019822c4cec"/>
    <p:sldId xmlns:r="http://schemas.openxmlformats.org/officeDocument/2006/relationships" id="273" r:id="R15f76fa527c24bed"/>
    <p:sldId xmlns:r="http://schemas.openxmlformats.org/officeDocument/2006/relationships" id="274" r:id="R4666af4979214c21"/>
    <p:sldId xmlns:r="http://schemas.openxmlformats.org/officeDocument/2006/relationships" id="275" r:id="R78e2e014fb174ef0"/>
    <p:sldId xmlns:r="http://schemas.openxmlformats.org/officeDocument/2006/relationships" id="276" r:id="R508e4ae45c4642f1"/>
    <p:sldId xmlns:r="http://schemas.openxmlformats.org/officeDocument/2006/relationships" id="277" r:id="R12e44958b6354b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9775d87b904bf1" /><Relationship Type="http://schemas.openxmlformats.org/officeDocument/2006/relationships/slideMaster" Target="/ppt/slideMasters/slideMaster1.xml" Id="Rbc0d3731d26943d3" /><Relationship Type="http://schemas.openxmlformats.org/officeDocument/2006/relationships/notesMaster" Target="/ppt/notesMasters/notesMaster1.xml" Id="R590c87b57172444c" /><Relationship Type="http://schemas.openxmlformats.org/officeDocument/2006/relationships/presProps" Target="/ppt/presProps.xml" Id="R2a2cc1b885244147" /><Relationship Type="http://schemas.openxmlformats.org/officeDocument/2006/relationships/tableStyles" Target="/ppt/tableStyles.xml" Id="R1f912f831dc948aa" /><Relationship Type="http://schemas.openxmlformats.org/officeDocument/2006/relationships/slide" Target="/ppt/slides/slide1.xml" Id="R38e6a411c9694376" /><Relationship Type="http://schemas.openxmlformats.org/officeDocument/2006/relationships/slide" Target="/ppt/slides/slide2.xml" Id="Ra1ccc0448eda46d9" /><Relationship Type="http://schemas.openxmlformats.org/officeDocument/2006/relationships/slide" Target="/ppt/slides/slide3.xml" Id="R1117488960934a5d" /><Relationship Type="http://schemas.openxmlformats.org/officeDocument/2006/relationships/slide" Target="/ppt/slides/slide4.xml" Id="Ra1f6d34d090b46e8" /><Relationship Type="http://schemas.openxmlformats.org/officeDocument/2006/relationships/slide" Target="/ppt/slides/slide5.xml" Id="R148e33a964fe4cdf" /><Relationship Type="http://schemas.openxmlformats.org/officeDocument/2006/relationships/slide" Target="/ppt/slides/slide6.xml" Id="R03595c4b3384400a" /><Relationship Type="http://schemas.openxmlformats.org/officeDocument/2006/relationships/slide" Target="/ppt/slides/slide7.xml" Id="Rf5484353e28541bf" /><Relationship Type="http://schemas.openxmlformats.org/officeDocument/2006/relationships/slide" Target="/ppt/slides/slide8.xml" Id="Rb6fbfd60a72346bf" /><Relationship Type="http://schemas.openxmlformats.org/officeDocument/2006/relationships/slide" Target="/ppt/slides/slide9.xml" Id="Rc4722e1cdced4bf6" /><Relationship Type="http://schemas.openxmlformats.org/officeDocument/2006/relationships/slide" Target="/ppt/slides/slide10.xml" Id="R05f1bd7a93734613" /><Relationship Type="http://schemas.openxmlformats.org/officeDocument/2006/relationships/slide" Target="/ppt/slides/slide11.xml" Id="R5542189729364251" /><Relationship Type="http://schemas.openxmlformats.org/officeDocument/2006/relationships/slide" Target="/ppt/slides/slide12.xml" Id="Rb6fa0c3644124ef9" /><Relationship Type="http://schemas.openxmlformats.org/officeDocument/2006/relationships/slide" Target="/ppt/slides/slide13.xml" Id="R4bdb0b622ed84123" /><Relationship Type="http://schemas.openxmlformats.org/officeDocument/2006/relationships/slide" Target="/ppt/slides/slide14.xml" Id="R462f0602961c4604" /><Relationship Type="http://schemas.openxmlformats.org/officeDocument/2006/relationships/slide" Target="/ppt/slides/slide15.xml" Id="R70d70bc059954fc9" /><Relationship Type="http://schemas.openxmlformats.org/officeDocument/2006/relationships/slide" Target="/ppt/slides/slide16.xml" Id="R8edd9a1110bb4016" /><Relationship Type="http://schemas.openxmlformats.org/officeDocument/2006/relationships/slide" Target="/ppt/slides/slide17.xml" Id="Recdeb019822c4cec" /><Relationship Type="http://schemas.openxmlformats.org/officeDocument/2006/relationships/slide" Target="/ppt/slides/slide18.xml" Id="R15f76fa527c24bed" /><Relationship Type="http://schemas.openxmlformats.org/officeDocument/2006/relationships/slide" Target="/ppt/slides/slide19.xml" Id="R4666af4979214c21" /><Relationship Type="http://schemas.openxmlformats.org/officeDocument/2006/relationships/slide" Target="/ppt/slides/slide20.xml" Id="R78e2e014fb174ef0" /><Relationship Type="http://schemas.openxmlformats.org/officeDocument/2006/relationships/slide" Target="/ppt/slides/slide21.xml" Id="R508e4ae45c4642f1" /><Relationship Type="http://schemas.openxmlformats.org/officeDocument/2006/relationships/slide" Target="/ppt/slides/slide22.xml" Id="R12e44958b6354b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546a61c74f43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34f9b3b7d54183" /><Relationship Type="http://schemas.openxmlformats.org/officeDocument/2006/relationships/notesMaster" Target="/ppt/notesMasters/notesMaster1.xml" Id="R8f3984c4615c48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cc1a636f434823" /><Relationship Type="http://schemas.openxmlformats.org/officeDocument/2006/relationships/notesMaster" Target="/ppt/notesMasters/notesMaster1.xml" Id="R0a2afc5390774f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2be252497a46c3" /><Relationship Type="http://schemas.openxmlformats.org/officeDocument/2006/relationships/notesMaster" Target="/ppt/notesMasters/notesMaster1.xml" Id="R3711871fc7cc4f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fbd6117c754234" /><Relationship Type="http://schemas.openxmlformats.org/officeDocument/2006/relationships/notesMaster" Target="/ppt/notesMasters/notesMaster1.xml" Id="Rdf71ec1b42ca4b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455506216f4ced" /><Relationship Type="http://schemas.openxmlformats.org/officeDocument/2006/relationships/notesMaster" Target="/ppt/notesMasters/notesMaster1.xml" Id="R4bcd2304f3f645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0f620f7a134315" /><Relationship Type="http://schemas.openxmlformats.org/officeDocument/2006/relationships/notesMaster" Target="/ppt/notesMasters/notesMaster1.xml" Id="R06f7d7b2f2ab49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06385eae6145ab" /><Relationship Type="http://schemas.openxmlformats.org/officeDocument/2006/relationships/notesMaster" Target="/ppt/notesMasters/notesMaster1.xml" Id="Re10c5e14bb1240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1d5774f9f84b5f" /><Relationship Type="http://schemas.openxmlformats.org/officeDocument/2006/relationships/notesMaster" Target="/ppt/notesMasters/notesMaster1.xml" Id="R9f605256dd1048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7bf60cd1ea4941" /><Relationship Type="http://schemas.openxmlformats.org/officeDocument/2006/relationships/notesMaster" Target="/ppt/notesMasters/notesMaster1.xml" Id="R4463cc20acae49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e8c1895f7c4de4" /><Relationship Type="http://schemas.openxmlformats.org/officeDocument/2006/relationships/notesMaster" Target="/ppt/notesMasters/notesMaster1.xml" Id="R2864dd8259a846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6bdc8fa3a1400b" /><Relationship Type="http://schemas.openxmlformats.org/officeDocument/2006/relationships/notesMaster" Target="/ppt/notesMasters/notesMaster1.xml" Id="R0084a0d09eaf46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c09499c25f420b" /><Relationship Type="http://schemas.openxmlformats.org/officeDocument/2006/relationships/notesMaster" Target="/ppt/notesMasters/notesMaster1.xml" Id="R2cfb99253856448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76b695a19274097" /><Relationship Type="http://schemas.openxmlformats.org/officeDocument/2006/relationships/notesMaster" Target="/ppt/notesMasters/notesMaster1.xml" Id="Rdb7dcec074f84c1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45c98cf868a4bb4" /><Relationship Type="http://schemas.openxmlformats.org/officeDocument/2006/relationships/notesMaster" Target="/ppt/notesMasters/notesMaster1.xml" Id="Rc6682c689d714c3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542a0069d34426c" /><Relationship Type="http://schemas.openxmlformats.org/officeDocument/2006/relationships/notesMaster" Target="/ppt/notesMasters/notesMaster1.xml" Id="R5ad87e00345e495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9d459ce86a34595" /><Relationship Type="http://schemas.openxmlformats.org/officeDocument/2006/relationships/notesMaster" Target="/ppt/notesMasters/notesMaster1.xml" Id="Ra1d05b39026c4ae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da3074b22164e3e" /><Relationship Type="http://schemas.openxmlformats.org/officeDocument/2006/relationships/notesMaster" Target="/ppt/notesMasters/notesMaster1.xml" Id="Rbffd02f5d3154ce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f63616b13444c62" /><Relationship Type="http://schemas.openxmlformats.org/officeDocument/2006/relationships/notesMaster" Target="/ppt/notesMasters/notesMaster1.xml" Id="R0af573e70688495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ba14d6c489d4f11" /><Relationship Type="http://schemas.openxmlformats.org/officeDocument/2006/relationships/notesMaster" Target="/ppt/notesMasters/notesMaster1.xml" Id="R837530d990d74d9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06f4891e31f446b" /><Relationship Type="http://schemas.openxmlformats.org/officeDocument/2006/relationships/notesMaster" Target="/ppt/notesMasters/notesMaster1.xml" Id="Rc94ddc4e516e41c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98b99d5cd814af1" /><Relationship Type="http://schemas.openxmlformats.org/officeDocument/2006/relationships/notesMaster" Target="/ppt/notesMasters/notesMaster1.xml" Id="Re08fec34f7aa49e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599fe9f2cdf4c39" /><Relationship Type="http://schemas.openxmlformats.org/officeDocument/2006/relationships/notesMaster" Target="/ppt/notesMasters/notesMaster1.xml" Id="R3277e7e8a6034f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【开场地图 1.5 分钟，照念即可】</a:t>
            </a:r>
          </a:p>
          <a:p xmlns:a="http://schemas.openxmlformats.org/drawingml/2006/main">
            <a:r>
              <a:t>今天要解决的是：一个写不出判断规则的程序，怎么自己学会判断。</a:t>
            </a:r>
          </a:p>
          <a:p xmlns:a="http://schemas.openxmlformats.org/drawingml/2006/main">
            <a:r>
              <a:t>全部 15 分钟，分三块：机器学习在做什么、机器学习有哪些类型、怎么知道它真的学会了。</a:t>
            </a:r>
          </a:p>
          <a:p xmlns:a="http://schemas.openxmlformats.org/drawingml/2006/main">
            <a:r>
              <a:t>第一块讲清「用数据编程」这件事和它的四个零件；第二块讲清常见的问题类型；第三块讲清为什么训练得好不等于能用。</a:t>
            </a:r>
          </a:p>
          <a:p xmlns:a="http://schemas.openxmlformats.org/drawingml/2006/main">
            <a:r>
              <a:t>封面这张图就是这节课的终点：一组电机标定数据，加上一条自己学出来的直线。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先问：要让小车跑起来，得告诉它 PWM 给多少。反过来——给 1000 到 2000 的 PWM，它到底能跑多快？这个公式写得准吗？影响因素太多：电池电压、地面摩擦、轮子磨损。</a:t>
            </a:r>
          </a:p>
          <a:p xmlns:a="http://schemas.openxmlformats.org/drawingml/2006/main">
            <a:r>
              <a:t>再看第二个：左右两个传感器读到这样的数值，现在该往左还是往右？情况组合太多，if-else 根本列不完。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【举手互动 0:40，检查是否分清了规则能写 / 不能写】</a:t>
            </a:r>
          </a:p>
          <a:p xmlns:a="http://schemas.openxmlformats.org/drawingml/2006/main">
            <a:r>
              <a:t>我念两件事，大家举手判断属于哪一边。第一件：算小车跑过的平均速度。第二件：判断路口该不该转向。</a:t>
            </a:r>
          </a:p>
          <a:p xmlns:a="http://schemas.openxmlformats.org/drawingml/2006/main">
            <a:r>
              <a:t>答案：第一件属于左边——速度除以时间，规则一句话就写完了。第二件属于右边——规则写不出来，但例子要多少有多少。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【边界追问】那如果规则不是写不出来，而是写全要几百条 if-else 呢？仍然属于左边——规则能写，只是维护成本高。这种情况下也可以用数据去学，但要说清楚：不是「写不出来」才用机器学习，而是「规则太复杂或太容易变」时它更划算。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我把今天的目标写成三个可以检验的动作，不写「了解机器学习」这种没法验证的话。</a:t>
            </a:r>
          </a:p>
          <a:p xmlns:a="http://schemas.openxmlformats.org/drawingml/2006/main">
            <a:r>
              <a:t>十五分钟结束时，你应该能：一，用自己的话说清机器学习为什么可以不写规则，并说出它的四个关键组件；</a:t>
            </a:r>
          </a:p>
          <a:p xmlns:a="http://schemas.openxmlformats.org/drawingml/2006/main">
            <a:r>
              <a:t>二，给一个任务判断它属于监督、无监督还是强化学习；</a:t>
            </a:r>
          </a:p>
          <a:p xmlns:a="http://schemas.openxmlformats.org/drawingml/2006/main">
            <a:r>
              <a:t>三，举出一个「训练指标好看、模型其实没用」的具体情形，并指出这时该看哪个指标。</a:t>
            </a:r>
          </a:p>
          <a:p xmlns:a="http://schemas.openxmlformats.org/drawingml/2006/main">
            <a:r>
              <a:t>这三个问题后面都会当场问、当场检验，不是听完就算。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【路线图】今天只讲三块。</a:t>
            </a:r>
          </a:p>
          <a:p xmlns:a="http://schemas.openxmlformats.org/drawingml/2006/main">
            <a:r>
              <a:t>第一块，机器学习在做什么，四分半：它不写规则，而是用数据把参数定下来，由数据、模型、目标函数、优化算法四个零件组成。</a:t>
            </a:r>
          </a:p>
          <a:p xmlns:a="http://schemas.openxmlformats.org/drawingml/2006/main">
            <a:r>
              <a:t>第二块，机器学习有哪些类型，三分半：监督、无监督、强化学习分别在什么情况下用。</a:t>
            </a:r>
          </a:p>
          <a:p xmlns:a="http://schemas.openxmlformats.org/drawingml/2006/main">
            <a:r>
              <a:t>第三块，怎么知道真的学会了，四分半：训练误差小不等于泛化好，指标也要按任务选。最后留一分钟总结。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【模块一过渡】这一块只回答两个问题：为什么可以不写规则？不写规则的话，程序靠什么决定行为？</a:t>
            </a:r>
          </a:p>
          <a:p xmlns:a="http://schemas.openxmlformats.org/drawingml/2006/main">
            <a:r>
              <a:t>答案是把行为交给一组可以调整的参数，再用数据把这组参数定下来。</a:t>
            </a:r>
          </a:p>
          <a:p xmlns:a="http://schemas.openxmlformats.org/drawingml/2006/main">
            <a:r>
              <a:t>听完这一块，你应该能说出这件事的四个关键组件，并说清为什么缺一不可。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【严谨定义，讲的时候口头补全】参数：由训练数据决定的数；模型：一组参数确定下来的输入输出映射；</a:t>
            </a:r>
          </a:p>
          <a:p xmlns:a="http://schemas.openxmlformats.org/drawingml/2006/main">
            <a:r>
              <a:t>模型族：调参数能得到的所有映射的集合；学习算法：用数据从模型族里挑参数的算法。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左边是传统编程：规则是人写死的，程序不会因为见了更多情况自己变好。右边是机器学习：我们给的是例子，程序自己定参数。</a:t>
            </a:r>
          </a:p>
          <a:p xmlns:a="http://schemas.openxmlformats.org/drawingml/2006/main">
            <a:r>
              <a:t>下面四步就是一次典型训练：初始化参数 → 取一批样本 → 调整参数让表现变好 → 重复。</a:t>
            </a:r>
          </a:p>
          <a:p xmlns:a="http://schemas.openxmlformats.org/drawingml/2006/main">
            <a:r>
              <a:t>注意第 3 步之后要回到第 2 步，不是一次算完；这一点学生最容易以为「训练就是一次性求解」。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【类比】参数可以想成机器面板上的旋钮。类比只是帮助理解，不等于定义：旋钮暗示一次就能拧到位，真实训练是一步步试出来的。</a:t>
            </a:r>
          </a:p>
          <a:p xmlns:a="http://schemas.openxmlformats.org/drawingml/2006/main">
            <a:r>
              <a:t>【边界】这条路成立的前提是「规则难写」且「例子足够多」。如果规则很清楚、数据又少，老老实实写规则更划算。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【严谨定义】</a:t>
            </a:r>
          </a:p>
          <a:p xmlns:a="http://schemas.openxmlformats.org/drawingml/2006/main">
            <a:r>
              <a:t>数据：一批样本，每个样本由特征（输入）和标签（要预测的答案）组成。</a:t>
            </a:r>
          </a:p>
          <a:p xmlns:a="http://schemas.openxmlformats.org/drawingml/2006/main">
            <a:r>
              <a:t>模型：把输入映射成输出的函数，函数里带着还没有确定的参数。</a:t>
            </a:r>
          </a:p>
          <a:p xmlns:a="http://schemas.openxmlformats.org/drawingml/2006/main">
            <a:r>
              <a:t>目标函数：衡量模型好坏的函数。习惯上取「越小越好」，这时叫损失函数；也可以定义成越大越好，两者只差一个符号。</a:t>
            </a:r>
          </a:p>
          <a:p xmlns:a="http://schemas.openxmlformats.org/drawingml/2006/main">
            <a:r>
              <a:t>优化算法：在参数空间里搜索，让目标函数变小的算法。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【为什么是这四个】这是本书第 1 章强调的框架：不论什么问题，都要有经验（数据）、有做出预测的东西（模型）、</a:t>
            </a:r>
          </a:p>
          <a:p xmlns:a="http://schemas.openxmlformats.org/drawingml/2006/main">
            <a:r>
              <a:t>有判断好坏的标尺（目标函数）、有调整参数的办法（优化算法）。</a:t>
            </a:r>
          </a:p>
          <a:p xmlns:a="http://schemas.openxmlformats.org/drawingml/2006/main">
            <a:r>
              <a:t>【条件边界】目标函数不只有平方误差：预测数值常用平方误差，预测类别更常用错误率；</a:t>
            </a:r>
          </a:p>
          <a:p xmlns:a="http://schemas.openxmlformats.org/drawingml/2006/main">
            <a:r>
              <a:t>有些目标（比如错误率）不好直接优化，实际会换成一个更容易优化的替代目标。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【严谨定义】样本：一次观测，表格里的一行；特征 x：用来做预测的输入；标签 y：想要预测的目标。</a:t>
            </a:r>
          </a:p>
          <a:p xmlns:a="http://schemas.openxmlformats.org/drawingml/2006/main">
            <a:r>
              <a:t>通常还会假设样本之间「独立同分布」——简单说就是每一个样本都来自同一套规律，而且互不影响。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这组电机标定数据只有 18 个样本，我故意做小的，小到可以在纸上算一遍；屏幕上只放了其中 6 行，完整数据在 assets/pwm_speed.csv。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【数据的两个常见坑，务必说】</a:t>
            </a:r>
          </a:p>
          <a:p xmlns:a="http://schemas.openxmlformats.org/drawingml/2006/main">
            <a:r>
              <a:t>一是垃圾进、垃圾出：特征记错了、单位混了，模型学到的就是错的规律。</a:t>
            </a:r>
          </a:p>
          <a:p xmlns:a="http://schemas.openxmlformats.org/drawingml/2006/main">
            <a:r>
              <a:t>二是数据不具代表性：如果训练数据里从来没有出现过某种情况（比如只在实验室地板上采过数据、只见过浅色皮肤的训练样本），</a:t>
            </a:r>
          </a:p>
          <a:p xmlns:a="http://schemas.openxmlformats.org/drawingml/2006/main">
            <a:r>
              <a:t>模型在真遇到这种情况时会束手无策。类别严重不均衡时，还会把历史上的偏见一起自动化。</a:t>
            </a:r>
          </a:p>
          <a:p xmlns:a="http://schemas.openxmlformats.org/drawingml/2006/main">
            <a:r>
              <a:t>这也是机器人上最常见的问题：实验室数据和赛场数据根本不是同一个分布。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【互动 4:50，先猜再讲，检查是否理解目标函数是可比较的数】</a:t>
            </a:r>
          </a:p>
          <a:p xmlns:a="http://schemas.openxmlformats.org/drawingml/2006/main">
            <a:r>
              <a:t>图上是同一组数据的两种拟合：A 平一些，B 更贴合。问题：哪一条的 MSE 更小？先举手，再听我说。</a:t>
            </a:r>
          </a:p>
          <a:p xmlns:a="http://schemas.openxmlformats.org/drawingml/2006/main">
            <a:r>
              <a:t>答案：B。A 的 MSE 是 16333.5，B 的 MSE 是 92.6，差了 176 倍。</a:t>
            </a:r>
          </a:p>
          <a:p xmlns:a="http://schemas.openxmlformats.org/drawingml/2006/main">
            <a:r>
              <a:t>要点不是猜对没猜对，而是：模型好不好，可以压缩成一个数来比。这就是目标函数存在的意义。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【严谨定义】均方误差 MSE = (1/N)·Σ(预测值 − 实测值)²，是回归问题最常见的损失函数之一。</a:t>
            </a:r>
          </a:p>
          <a:p xmlns:a="http://schemas.openxmlformats.org/drawingml/2006/main">
            <a:r>
              <a:t>【条件边界】目标函数不等于 MSE：预测类别时更常用「错误率」，也就是预测错的样本比例；</a:t>
            </a:r>
          </a:p>
          <a:p xmlns:a="http://schemas.openxmlformats.org/drawingml/2006/main">
            <a:r>
              <a:t>有些目标（如错误率）不好直接优化，实践中会换成一个容易优化的替代目标。</a:t>
            </a:r>
          </a:p>
          <a:p xmlns:a="http://schemas.openxmlformats.org/drawingml/2006/main">
            <a:r>
              <a:t>【边界追问】换成「判断该不该转向」这种分类任务，还能用 MSE 吗？不推荐——分类问题更自然是看「错了多少」。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现在问：知道了好坏的标尺，怎么把参数调好？答案就是优化算法，最基本的是梯度下降。</a:t>
            </a:r>
          </a:p>
          <a:p xmlns:a="http://schemas.openxmlformats.org/drawingml/2006/main">
            <a:r>
              <a:t>准确的说法：对损失函数求关于参数的梯度，然后沿负梯度方向更新参数。梯度就是「每个参数小幅变动时，损失往哪边动」。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【类比映射】参数是你的位置，损失是海拔，梯度是脚下的坡向，学习率是每一步跨多大，最低点就是拟合最好的那组参数。</a:t>
            </a:r>
          </a:p>
          <a:p xmlns:a="http://schemas.openxmlformats.org/drawingml/2006/main">
            <a:r>
              <a:t>【类比说明】下山只是帮助理解，不等于定义。</a:t>
            </a:r>
          </a:p>
          <a:p xmlns:a="http://schemas.openxmlformats.org/drawingml/2006/main">
            <a:r>
              <a:t>【条件边界】真实的损失曲面不是一座光滑的山，可能有高原、峡谷和很多个坑；梯度下降只保证在凸的、光滑的面上收敛到全局最低点。</a:t>
            </a:r>
          </a:p>
          <a:p xmlns:a="http://schemas.openxmlformats.org/drawingml/2006/main">
            <a:r>
              <a:t>学习率太大，参数会在最低点两侧越跳越远；太小则半天挪不动。这两句话的数学版本（收敛条件 0 &lt; ηc &lt; 2、归一化的作用）都在讲义里。</a:t>
            </a:r>
          </a:p>
          <a:p xmlns:a="http://schemas.openxmlformats.org/drawingml/2006/main">
            <a:r>
              <a:t>【范围】这只是优化算法里最基本的一种，不是唯一一种；本课不需要会推导，只要知道它在做什么。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【模块一小结 + 过渡】三句话。</a:t>
            </a:r>
          </a:p>
          <a:p xmlns:a="http://schemas.openxmlformats.org/drawingml/2006/main">
            <a:r>
              <a:t>第一，这一块讲的是：机器学习不写规则，而是用数据把模型的参数定下来——这叫用数据编程。</a:t>
            </a:r>
          </a:p>
          <a:p xmlns:a="http://schemas.openxmlformats.org/drawingml/2006/main">
            <a:r>
              <a:t>第二，它重要，因为数据、模型、目标函数、优化算法是后面所有内容的共同骨架，深度学习也一样。</a:t>
            </a:r>
          </a:p>
          <a:p xmlns:a="http://schemas.openxmlformats.org/drawingml/2006/main">
            <a:r>
              <a:t>第三，和下一块的关系是——四个零件知道了，接下来要问：我要解决的到底是哪一类问题？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【模块二过渡】上一块讲了机器学习的零件，这一块讲它的「题型」。</a:t>
            </a:r>
          </a:p>
          <a:p xmlns:a="http://schemas.openxmlformats.org/drawingml/2006/main">
            <a:r>
              <a:t>判断分两步：第一，数据有没有标准答案（标签）？有就是监督学习，没有就是无监督学习。</a:t>
            </a:r>
          </a:p>
          <a:p xmlns:a="http://schemas.openxmlformats.org/drawingml/2006/main">
            <a:r>
              <a:t>第二，要不要一边做一边和环境打交道、靠奖励改进？要的话是强化学习。</a:t>
            </a:r>
          </a:p>
          <a:p xmlns:a="http://schemas.openxmlformats.org/drawingml/2006/main">
            <a:r>
              <a:t>听完这一块，你拿到一个新任务，应该能先给它贴上类型标签，再去想用什么方法。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【严谨定义】监督学习：训练数据里每个样本都带着正确答案（标签），目标是学一个从输入到标签的映射。</a:t>
            </a:r>
          </a:p>
          <a:p xmlns:a="http://schemas.openxmlformats.org/drawingml/2006/main">
            <a:r>
              <a:t>三步：先收集带标签的训练数据（有的本来就有标签，有的要人工标注），再用学习算法训练出模型，最后把没见过的新样本喂给模型拿预测。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回归 vs 分类：输出一个数值是回归（比如预测速度、预测房价）；输出一个类别是分类（比如判断该不该转向、是不是垃圾邮件）。</a:t>
            </a:r>
          </a:p>
          <a:p xmlns:a="http://schemas.openxmlformats.org/drawingml/2006/main">
            <a:r>
              <a:t>为什么要在意这个区别：它决定了目标函数和评价指标的选法——回归看误差大小，分类看错了多少。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【延伸，一句话带过】监督学习还有别的形态：一张图里可以同时有多个标签（标记问题）；</a:t>
            </a:r>
          </a:p>
          <a:p xmlns:a="http://schemas.openxmlformats.org/drawingml/2006/main">
            <a:r>
              <a:t>搜索结果要排序（搜索）；给用户推荐商品（推荐系统）；输入输出都是变长序列，比如语音和翻译（序列学习）。这些都在讲义里。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【严谨定义】</a:t>
            </a:r>
          </a:p>
          <a:p xmlns:a="http://schemas.openxmlformats.org/drawingml/2006/main">
            <a:r>
              <a:t>无监督学习：数据里没有标签，目标是从数据本身找结构。最典型的任务是聚类（把相似的样本归到一起），</a:t>
            </a:r>
          </a:p>
          <a:p xmlns:a="http://schemas.openxmlformats.org/drawingml/2006/main">
            <a:r>
              <a:t>还有降维（用少数几个量概括数据的主要变化）。注意：无监督不等于没有目标函数，只是目标不再是「逼近标签」。</a:t>
            </a:r>
          </a:p>
          <a:p xmlns:a="http://schemas.openxmlformats.org/drawingml/2006/main">
            <a:r>
              <a:t>强化学习：智能体与环境反复交互，采取动作、得到奖励，目标是让长期累积的奖励最大。</a:t>
            </a:r>
          </a:p>
          <a:p xmlns:a="http://schemas.openxmlformats.org/drawingml/2006/main">
            <a:r>
              <a:t>它和监督学习最大的差别是：环境不会告诉你每个观测下的最优动作，只给一个奖励信号，</a:t>
            </a:r>
          </a:p>
          <a:p xmlns:a="http://schemas.openxmlformats.org/drawingml/2006/main">
            <a:r>
              <a:t>所以还要解决「credit assignment」——到底是哪一步动作带来了奖励。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【边界与例子】强化学习最好的舞台是「能大量试错」的场景，比如仿真环境里让小车练走迷宫。</a:t>
            </a:r>
          </a:p>
          <a:p xmlns:a="http://schemas.openxmlformats.org/drawingml/2006/main">
            <a:r>
              <a:t>真车上试错代价很高，所以一般先在仿真里练，再迁移到真车——这也是「训练分布和现场分布不一致」的一个来源。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【互动 8:30，检查是否抓住了「有没有标签、要不要与环境互动」这条分界线】</a:t>
            </a:r>
          </a:p>
          <a:p xmlns:a="http://schemas.openxmlformats.org/drawingml/2006/main">
            <a:r>
              <a:t>念三个任务，请大家举手选择：监督学习、无监督学习、还是强化学习。先给判断，再听答案。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答案：A 是监督学习里的回归——每个 PWM 都有实测速度作为标签，输出是一个数值。</a:t>
            </a:r>
          </a:p>
          <a:p xmlns:a="http://schemas.openxmlformats.org/drawingml/2006/main">
            <a:r>
              <a:t>B 是无监督学习——没有标签，目标是把相似的样本归到一起。</a:t>
            </a:r>
          </a:p>
          <a:p xmlns:a="http://schemas.openxmlformats.org/drawingml/2006/main">
            <a:r>
              <a:t>C 是强化学习——没有标准答案，只有奖励信号，而且动作会影响后面看到的情况。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【边界追问】同一个任务能不能换一种学习方式？能。比如「永远输出不需要转向」这种模型，</a:t>
            </a:r>
          </a:p>
          <a:p xmlns:a="http://schemas.openxmlformats.org/drawingml/2006/main">
            <a:r>
              <a:t>在数据里只有「需要/不需要」两个标签时是分类；如果改成让小车自己上路试错、用碰撞来扣分，它就变成强化学习了。</a:t>
            </a:r>
          </a:p>
          <a:p xmlns:a="http://schemas.openxmlformats.org/drawingml/2006/main">
            <a:r>
              <a:t>所以类型不是任务自带的属性，而是取决于你手上有什么数据、允许不允许试错。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【模块二小结 + 过渡】三句话。</a:t>
            </a:r>
          </a:p>
          <a:p xmlns:a="http://schemas.openxmlformats.org/drawingml/2006/main">
            <a:r>
              <a:t>第一，这一块讲的是：数据有标签就是监督学习（输出数值是回归，输出类别是分类），没有标签是无监督学习，要和环境互动是强化学习。</a:t>
            </a:r>
          </a:p>
          <a:p xmlns:a="http://schemas.openxmlformats.org/drawingml/2006/main">
            <a:r>
              <a:t>第二，它重要，因为任务类型决定了能用什么方法、该看什么指标——拿分类的指标去评价回归模型，结论一定是错的。</a:t>
            </a:r>
          </a:p>
          <a:p xmlns:a="http://schemas.openxmlformats.org/drawingml/2006/main">
            <a:r>
              <a:t>第三，和下一块的关系是——类型选对了，还要能判断这个模型是不是真的学会了，而不是把答案背下来了。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【模块三过渡】前面两块讲清了「机器学习是什么」和「有哪些类型」，这一块讲「怎么判断它学得好不好」。</a:t>
            </a:r>
          </a:p>
          <a:p xmlns:a="http://schemas.openxmlformats.org/drawingml/2006/main">
            <a:r>
              <a:t>先抛一个问题：如果模型在训练数据上几乎不出错，能不能直接上车？答案是不能。</a:t>
            </a:r>
          </a:p>
          <a:p xmlns:a="http://schemas.openxmlformats.org/drawingml/2006/main">
            <a:r>
              <a:t>这一块要给出判断方法：看它在没见过的数据上表现如何，以及指标本身会不会骗人。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【严谨定义】欠拟合：模型复杂度不够，训练误差本身就明显偏高，测试误差也高。</a:t>
            </a:r>
          </a:p>
          <a:p xmlns:a="http://schemas.openxmlformats.org/drawingml/2006/main">
            <a:r>
              <a:t>过拟合：模型把训练数据里的噪声也学进去了，训练误差很低，但测试误差明显变大。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【判定条件】必须同时看训练误差和测试误差两条线，只看一个判断不了：训练误差小只说明「背得熟」，测试误差才反映「会不会做新题」。</a:t>
            </a:r>
          </a:p>
          <a:p xmlns:a="http://schemas.openxmlformats.org/drawingml/2006/main">
            <a:r>
              <a:t>【三个数据集的分工】训练集用来调参数；验证集用来比较模型、调超参数；测试集只在最后评估一次。</a:t>
            </a:r>
          </a:p>
          <a:p xmlns:a="http://schemas.openxmlformats.org/drawingml/2006/main">
            <a:r>
              <a:t>反复拿测试集挑模型，它实际上就变成了验证集，评估结果会偏乐观。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【类比说明】训练集是平时作业、验证集是模拟考、测试集是期末卷。类比只是帮助理解，不等于定义：</a:t>
            </a:r>
          </a:p>
          <a:p xmlns:a="http://schemas.openxmlformats.org/drawingml/2006/main">
            <a:r>
              <a:t>真实场景里训练数据和现场数据可能根本不是同一个分布——这才是机器人上最常踩的坑，比如只在实验室地板上采过数据。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【互动 11:20，检查是否理解类别不平衡时准确率会骗人】</a:t>
            </a:r>
          </a:p>
          <a:p xmlns:a="http://schemas.openxmlformats.org/drawingml/2006/main">
            <a:r>
              <a:t>再看一个例子。任务是判断小车这个时刻需不需要转向。1000 个样本里，950 个其实不需要转，只有 50 个需要。</a:t>
            </a:r>
          </a:p>
          <a:p xmlns:a="http://schemas.openxmlformats.org/drawingml/2006/main">
            <a:r>
              <a:t>现在有个模型，永远输出「不需要转向」。问题：它的准确率是多少？它有用吗？先说出你的答案。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准确率是 95%。但它一个该转向的时刻都没抓住——召回率 0%。在车上，漏掉一次该转的时刻就是撞上去。所以这个模型毫无用处。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【条件变化追问】那如果我把阈值从 0.5 调低，让它更容易报「需要转向」呢？漏报会减少，但误报会变多。</a:t>
            </a:r>
          </a:p>
          <a:p xmlns:a="http://schemas.openxmlformats.org/drawingml/2006/main">
            <a:r>
              <a:t>阈值怎么选，取决于两类错误哪一种代价更大。</a:t>
            </a:r>
          </a:p>
          <a:p xmlns:a="http://schemas.openxmlformats.org/drawingml/2006/main">
            <a:r>
              <a:t>【为什么这题和「数据」有关】这一类问题往往源于数据本身的类别不均衡：需要转向的样本只占 5%，</a:t>
            </a:r>
          </a:p>
          <a:p xmlns:a="http://schemas.openxmlformats.org/drawingml/2006/main">
            <a:r>
              <a:t>模型只要全判「不需要转」就能拿到很高的准确率——这也是数据不具代表性的一种表现。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这页把刚才的例子摆成表格。左边一列是预测，上面一行是真实情况。</a:t>
            </a:r>
          </a:p>
          <a:p xmlns:a="http://schemas.openxmlformats.org/drawingml/2006/main">
            <a:r>
              <a:t>模型只在右下角是对的：950 个不需要转的，它全判对了；50 个需要转的，它一个都没抓到。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【严谨定义】准确率 = (TP + TN) / 总数，这里 (0 + 950) / 1000 = 95%。</a:t>
            </a:r>
          </a:p>
          <a:p xmlns:a="http://schemas.openxmlformats.org/drawingml/2006/main">
            <a:r>
              <a:t>召回率 = TP / (TP + FN) = 0 / 50 = 0，意思是「该抓住的抓住了多少」。</a:t>
            </a:r>
          </a:p>
          <a:p xmlns:a="http://schemas.openxmlformats.org/drawingml/2006/main">
            <a:r>
              <a:t>精确率 = TP / (TP + FP) = 0 / 0，本例没有定义。</a:t>
            </a:r>
          </a:p>
          <a:p xmlns:a="http://schemas.openxmlformats.org/drawingml/2006/main">
            <a:r>
              <a:t>【边界，容易被漏掉的一点】精确率不能写成 0%——这个模型从来不给出「需要转向」的预测，精确率的分母是 0，数学上无意义。</a:t>
            </a:r>
          </a:p>
          <a:p xmlns:a="http://schemas.openxmlformats.org/drawingml/2006/main">
            <a:r>
              <a:t>【适用条件与范围】准确率只在两类样本大致均衡、两种错误代价相当时才好用；类别不平衡时它会失真。</a:t>
            </a:r>
          </a:p>
          <a:p xmlns:a="http://schemas.openxmlformats.org/drawingml/2006/main">
            <a:r>
              <a:t>这个例子里漏报代价很高，所以说「漏报比误报贵」——换一个任务就不一定了，比如误触发急停同样危险。阈值 0.5 只是习惯，实际要按两类错误的代价来选。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【模块三小结】三句话。</a:t>
            </a:r>
          </a:p>
          <a:p xmlns:a="http://schemas.openxmlformats.org/drawingml/2006/main">
            <a:r>
              <a:t>第一，这一块讲的是：训练集上表现好不等于泛化好；评价一个模型要按任务选指标，不能只看准确率。</a:t>
            </a:r>
          </a:p>
          <a:p xmlns:a="http://schemas.openxmlformats.org/drawingml/2006/main">
            <a:r>
              <a:t>第二，它重要，因为实验室里表现好的模型，换到车上可能完全不能用——这正是从「会训练」走到「能上车」的那一步。</a:t>
            </a:r>
          </a:p>
          <a:p xmlns:a="http://schemas.openxmlformats.org/drawingml/2006/main">
            <a:r>
              <a:t>第三，到这里整条链就串完了：用数据编程 → 数据、模型、目标函数、优化算法 → 问题类型 → 泛化与评价。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【总结，回到开场三问】开场的三个问题，现在回答一下。</a:t>
            </a:r>
          </a:p>
          <a:p xmlns:a="http://schemas.openxmlformats.org/drawingml/2006/main">
            <a:r>
              <a:t>第一，为什么可以不写规则？因为有些问题的规则根本写不全，但例子要多少有多少——机器学习用数据把参数定下来，这叫用数据编程。</a:t>
            </a:r>
          </a:p>
          <a:p xmlns:a="http://schemas.openxmlformats.org/drawingml/2006/main">
            <a:r>
              <a:t>第二，常见的问题类型有哪些？有标签是监督学习（输出数值是回归、输出类别是分类），没标签是无监督学习，要和环境互动、靠奖励改进是强化学习。</a:t>
            </a:r>
          </a:p>
          <a:p xmlns:a="http://schemas.openxmlformats.org/drawingml/2006/main">
            <a:r>
              <a:t>第三，怎么知道它真的学会了？在它没见过的数据上看——训练误差小不代表泛化好，准确率高也不代表模型有用。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下一步行动：用自己的话把四个关键组件复述一遍；给身边三个任务各贴一个类型标签；</a:t>
            </a:r>
          </a:p>
          <a:p xmlns:a="http://schemas.openxmlformats.org/drawingml/2006/main">
            <a:r>
              <a:t>有兴趣的同学，可以用讲义里的 pwm_speed.csv 跑一遍最小二乘拟合和梯度下降，看看两条曲线有什么不同。</a:t>
            </a:r>
          </a:p>
          <a:p xmlns:a="http://schemas.openxmlformats.org/drawingml/2006/main">
            <a:r>
              <a:t>讲义里有完整的定义、条件与边界清单、术语表、练习答案，以及梯度下降的完整推导。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5fff73e8e5485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b864650647434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d91cdeca00427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6d7df377a34f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192d176e5745d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a0315ecd274f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33FE9B-6D5B-469F-958A-E04E94C285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62123DA-F2F2-47AF-A3D1-6F3C5AD183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015B514-4B8E-4FC1-AFED-4CABD09798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7C3AFE-351C-485C-8411-402C054C51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B8D1D36-CE88-42BB-96D0-CF794904D2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5FDA5DC-AA8E-4FDC-9C32-164B73146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77FDF3-74F4-43E0-8F33-6DBE533258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7F85F84-296B-4107-8E1E-5BB6C75EC3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007EA3-EF2A-48B9-A47A-799C5EB5C8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ACF3D1-4FA7-45C7-A5DB-6B784E3BA9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558e39a65e445a" /><Relationship Type="http://schemas.openxmlformats.org/officeDocument/2006/relationships/slideLayout" Target="/ppt/slideLayouts/slideLayout1.xml" Id="Rc0aa98ea5a964209" /><Relationship Type="http://schemas.openxmlformats.org/officeDocument/2006/relationships/slideLayout" Target="/ppt/slideLayouts/slideLayout2.xml" Id="R0780fbdece044790" /><Relationship Type="http://schemas.openxmlformats.org/officeDocument/2006/relationships/slideLayout" Target="/ppt/slideLayouts/slideLayout3.xml" Id="R5576b0c0404a44bb" /><Relationship Type="http://schemas.openxmlformats.org/officeDocument/2006/relationships/slideLayout" Target="/ppt/slideLayouts/slideLayout4.xml" Id="Ra3301d1b3c1f43f9" /><Relationship Type="http://schemas.openxmlformats.org/officeDocument/2006/relationships/slideLayout" Target="/ppt/slideLayouts/slideLayout5.xml" Id="Rb505fe0432be4a92" /><Relationship Type="http://schemas.openxmlformats.org/officeDocument/2006/relationships/slideLayout" Target="/ppt/slideLayouts/slideLayout6.xml" Id="R6d8faf1b555b4e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aa98ea5a964209"/>
    <p:sldLayoutId xmlns:r="http://schemas.openxmlformats.org/officeDocument/2006/relationships" id="2147483650" r:id="R0780fbdece044790"/>
    <p:sldLayoutId xmlns:r="http://schemas.openxmlformats.org/officeDocument/2006/relationships" id="2147483651" r:id="R5576b0c0404a44bb"/>
    <p:sldLayoutId xmlns:r="http://schemas.openxmlformats.org/officeDocument/2006/relationships" id="2147483652" r:id="Ra3301d1b3c1f43f9"/>
    <p:sldLayoutId xmlns:r="http://schemas.openxmlformats.org/officeDocument/2006/relationships" id="2147483653" r:id="Rb505fe0432be4a92"/>
    <p:sldLayoutId xmlns:r="http://schemas.openxmlformats.org/officeDocument/2006/relationships" id="2147483654" r:id="R6d8faf1b555b4e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3cd73cfa254cd9" /><Relationship Type="http://schemas.openxmlformats.org/officeDocument/2006/relationships/image" Target="/ppt/media/image.png" Id="R9a2a85d4d1e54a1b" /><Relationship Type="http://schemas.openxmlformats.org/officeDocument/2006/relationships/notesSlide" Target="/ppt/notesSlides/notesSlide1.xml" Id="R58cff54a73f54a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a3e0a17edc467a" /><Relationship Type="http://schemas.openxmlformats.org/officeDocument/2006/relationships/notesSlide" Target="/ppt/notesSlides/notesSlide2.xml" Id="R79ba769cfce047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f1de4d488d4b11" /><Relationship Type="http://schemas.openxmlformats.org/officeDocument/2006/relationships/notesSlide" Target="/ppt/notesSlides/notesSlide3.xml" Id="R2a7d1e6d598a42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84a1b94a414073" /><Relationship Type="http://schemas.openxmlformats.org/officeDocument/2006/relationships/notesSlide" Target="/ppt/notesSlides/notesSlide4.xml" Id="R52616d48fd1948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0e8eadf3cc4433" /><Relationship Type="http://schemas.openxmlformats.org/officeDocument/2006/relationships/notesSlide" Target="/ppt/notesSlides/notesSlide5.xml" Id="R8ca5591186b94a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7fd615e8424d67" /><Relationship Type="http://schemas.openxmlformats.org/officeDocument/2006/relationships/notesSlide" Target="/ppt/notesSlides/notesSlide6.xml" Id="R9e642639478b46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1cb6114d3141b2" /><Relationship Type="http://schemas.openxmlformats.org/officeDocument/2006/relationships/notesSlide" Target="/ppt/notesSlides/notesSlide7.xml" Id="R3be04fc35fe94e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c739a3a0ab44d8" /><Relationship Type="http://schemas.openxmlformats.org/officeDocument/2006/relationships/notesSlide" Target="/ppt/notesSlides/notesSlide8.xml" Id="R34526313308a4a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2c7b5114eb42e1" /><Relationship Type="http://schemas.openxmlformats.org/officeDocument/2006/relationships/image" Target="/ppt/media/image2.png" Id="R1ac663adc9cf4405" /><Relationship Type="http://schemas.openxmlformats.org/officeDocument/2006/relationships/notesSlide" Target="/ppt/notesSlides/notesSlide9.xml" Id="R329c9b26ac2d4b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0b2b9d054c49ef" /><Relationship Type="http://schemas.openxmlformats.org/officeDocument/2006/relationships/image" Target="/ppt/media/image3.png" Id="Re6cc528311b646da" /><Relationship Type="http://schemas.openxmlformats.org/officeDocument/2006/relationships/notesSlide" Target="/ppt/notesSlides/notesSlide10.xml" Id="R0a3c7eba5d0e4f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51a7203a9b42fc" /><Relationship Type="http://schemas.openxmlformats.org/officeDocument/2006/relationships/notesSlide" Target="/ppt/notesSlides/notesSlide11.xml" Id="R4c16ae2ab7724e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e0b5cfa9704038" /><Relationship Type="http://schemas.openxmlformats.org/officeDocument/2006/relationships/notesSlide" Target="/ppt/notesSlides/notesSlide12.xml" Id="Raaba59f9c929463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476576cd3c404b" /><Relationship Type="http://schemas.openxmlformats.org/officeDocument/2006/relationships/notesSlide" Target="/ppt/notesSlides/notesSlide13.xml" Id="Rbf47647d709c478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bc7ac5516a4b48" /><Relationship Type="http://schemas.openxmlformats.org/officeDocument/2006/relationships/notesSlide" Target="/ppt/notesSlides/notesSlide14.xml" Id="R0796a527b7a045a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0f3c8dddc440df" /><Relationship Type="http://schemas.openxmlformats.org/officeDocument/2006/relationships/notesSlide" Target="/ppt/notesSlides/notesSlide15.xml" Id="R2add58f0188b4cb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d5c7b244f843f4" /><Relationship Type="http://schemas.openxmlformats.org/officeDocument/2006/relationships/notesSlide" Target="/ppt/notesSlides/notesSlide16.xml" Id="R8b79f6357e26478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089f04059f4eee" /><Relationship Type="http://schemas.openxmlformats.org/officeDocument/2006/relationships/notesSlide" Target="/ppt/notesSlides/notesSlide17.xml" Id="R9b9b945f13024a0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22ed23161b4ff5" /><Relationship Type="http://schemas.openxmlformats.org/officeDocument/2006/relationships/image" Target="/ppt/media/image4.png" Id="R3f4f707928894528" /><Relationship Type="http://schemas.openxmlformats.org/officeDocument/2006/relationships/notesSlide" Target="/ppt/notesSlides/notesSlide18.xml" Id="R42b2a94efa97423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a528eb1d614e97" /><Relationship Type="http://schemas.openxmlformats.org/officeDocument/2006/relationships/notesSlide" Target="/ppt/notesSlides/notesSlide19.xml" Id="Re448a224ca1b4c4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8d59e00ffe4d48" /><Relationship Type="http://schemas.openxmlformats.org/officeDocument/2006/relationships/notesSlide" Target="/ppt/notesSlides/notesSlide20.xml" Id="Rce4e203dca70485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d78dce42664ba3" /><Relationship Type="http://schemas.openxmlformats.org/officeDocument/2006/relationships/notesSlide" Target="/ppt/notesSlides/notesSlide21.xml" Id="R46c00cf86c29409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1d65eb4e804fdf" /><Relationship Type="http://schemas.openxmlformats.org/officeDocument/2006/relationships/notesSlide" Target="/ppt/notesSlides/notesSlide22.xml" Id="Rd980ed704e1148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651D62-4079-4983-B57A-51F370DA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0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机器人内训 · 机器学习入门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E09CE-A796-4E58-9EA9-C168042C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机器学习基础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1AA89-126F-4CC1-BCB2-FA7B3504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E509F-382B-44A5-8ECC-6E4BC73C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60000"/>
              </a:lnSpc>
              <a:buNone/>
              <a:defRPr sz="180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让程序自己从数据里找规律</a:t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80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不用会微积分，15 分钟看懂机器学习在做什么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DF2B7-6EA7-40D7-9643-A21ED4AB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浙江大学生机器人协会 · 教学部内训选题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27CAC-FCD8-4236-9EC2-6D9B9B59EE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a85d4d1e54a1b"/>
          <a:stretch xmlns:a="http://schemas.openxmlformats.org/drawingml/2006/main"/>
        </p:blipFill>
        <p:spPr>
          <a:xfrm xmlns:a="http://schemas.openxmlformats.org/drawingml/2006/main">
            <a:off x="6287609" y="1905000"/>
            <a:ext cx="5141283" cy="2838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7222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48A1B-AA8E-4B23-8DB9-745E8C14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判断规则写不出来，就让程序从例子里学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AEF7F-5F53-44F7-8277-DD774194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144E4-39D3-4D3F-901D-1C86FBA8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5C8CF-8821-44F8-B5D9-66609F0C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5295900" cy="18669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96F4C-8529-4A7A-AFEF-9E942A27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025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PWM 给 1500，小车跑多快？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8DE5D-445E-4E98-ACF9-150B388C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80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电池电压、地面摩擦、轮子磨损……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80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影响因素太多，公式写不准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B5A97-F4D6-4F1F-AC7B-91E5F033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38300"/>
            <a:ext cx="5295900" cy="18669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AB23A5-9B2B-4F3D-8D7C-25982D9C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669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025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传感器这样读数，该往哪转？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9C759-3D9B-4441-9ADD-B8152399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80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左右读数的组合太多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80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if-else 根本列不完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35642-7F85-4EF9-B7DA-8EF07585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8204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5D1E5-6724-445F-9543-227C7A29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规则写不出来，但例子要多少有多少：这就是机器学习开始的地方。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0D6EBF-2399-438F-9794-5C10E853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08204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FEDF8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C8FFFA-ECE9-4D75-B1B8-7156D4DE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93370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93370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93370D"/>
                </a:solidFill>
                <a:latin typeface="Hiragino Sans GB"/>
                <a:ea typeface="Hiragino Sans GB"/>
                <a:cs typeface="Hiragino Sans GB"/>
              </a:rPr>
              <a:t>举手投票：算小车的平均速度，属于哪一边？判断路口该不该转向呢？</a:t>
            </a:r>
          </a:p>
        </p:txBody>
      </p:sp>
    </p:spTree>
    <p:extLst>
      <p:ext uri="{BB962C8B-B14F-4D97-AF65-F5344CB8AC3E}">
        <p14:creationId xmlns:p14="http://schemas.microsoft.com/office/powerpoint/2010/main" val="7266974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7E2741-D425-4B42-9FA3-99F88076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15 分钟后，你能回答这三个问题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EFA94-5B3B-49D0-AB1B-E284FAD3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C3F2A-2984-4495-B1A6-C17FB725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2C259-44AD-4514-8D7E-4796076D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3AB96-CE37-42E0-AEA5-131AA34E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38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1C101-F4D0-436C-909B-79C1BAD4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383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80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F35B1-B7E9-40C8-8877-97BB6342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828800"/>
            <a:ext cx="962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机器学习为什么可以「不写规则」？它由哪四样东西组成？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37CDD-41C1-49E2-AF0C-FBF4E1EA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001D6-30DF-486A-A78D-3CCD6CDD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A7A68-7236-471D-BB9E-5DD0CFDD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80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8448E-577D-4442-82DE-4A6518C9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57500"/>
            <a:ext cx="962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预测数值、判断类别、没有标准答案——分别属于哪一类？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BD61DA-B98A-46CD-849D-1054F67B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4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0ECCBF-A205-4B82-99A5-C5802285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BB20ED-2E54-4557-AC1D-D7EF50E1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80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E8F9B-4811-45E0-A7D8-5049F860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86200"/>
            <a:ext cx="962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模型在训练数据上表现很好，怎么判断它其实没用？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AF528B-8975-479A-9F2A-F2776E26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这三个问题都能当场检验，不写「了解机器学习」这类没法验证的目标。</a:t>
            </a:r>
          </a:p>
        </p:txBody>
      </p:sp>
    </p:spTree>
    <p:extLst>
      <p:ext uri="{BB962C8B-B14F-4D97-AF65-F5344CB8AC3E}">
        <p14:creationId xmlns:p14="http://schemas.microsoft.com/office/powerpoint/2010/main" val="18817349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3A368C-1B2D-4776-8AA3-D1FE9957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三块内容层层递进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42158-C737-489A-9C77-E7290F4C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6C95B-5E3B-40BA-9FAD-BD48B597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D225D-287C-4795-B022-15DB3E19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3314700" cy="2495550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35EF2-97E4-4F7F-BD65-171020A4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331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模块一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15CEF-71AF-4618-958E-281D3B29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293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9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机器学习在做什么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D59CC-2760-4F6A-8277-04A92D3D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57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约 4.5 分钟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F8E60-F98A-4EDF-BF8A-AAB0D431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2819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65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不写规则，用数据定参数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9DCA6C-E26D-4637-BFB5-1CD2C914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71650"/>
            <a:ext cx="3314700" cy="2495550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FD058-6800-4EFD-88F6-500B0704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19300"/>
            <a:ext cx="331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模块二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6AD22-0DDA-4845-B181-EC8408A6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19350"/>
            <a:ext cx="293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9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机器学习有哪些类型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2FC3A-A047-4D3E-9A4B-E022B9BE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1465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57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约 3.5 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D715F3-3470-4085-9856-A29894CC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33750"/>
            <a:ext cx="2819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65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监督、无监督、强化学习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B4BF8-8643-4A7B-8F4A-FE7252A8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71650"/>
            <a:ext cx="3314700" cy="2495550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3D0BC2-0386-464B-99EE-18AE58FF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19300"/>
            <a:ext cx="331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模块三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B58D4A-2804-4E0F-BB93-5ECE6CA7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19350"/>
            <a:ext cx="293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9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怎么知道真的学会了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985DD8-5ACE-4A95-BBFC-6D4C725E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1465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57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约 4.5 分钟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73824A-DBCD-4225-83D1-02B1A987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33750"/>
            <a:ext cx="2819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65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训练好不等于新数据上好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D9973E-9963-489E-A646-3070D475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8204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07D8EE-9EB2-460A-84A0-179B4FB7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三块是递进的：先看清它在做什么，再看有哪些类型，最后学会判断学得好不好。</a:t>
            </a:r>
          </a:p>
        </p:txBody>
      </p:sp>
    </p:spTree>
    <p:extLst>
      <p:ext uri="{BB962C8B-B14F-4D97-AF65-F5344CB8AC3E}">
        <p14:creationId xmlns:p14="http://schemas.microsoft.com/office/powerpoint/2010/main" val="15115146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D1339-CFE3-4C37-B4E1-5DF69914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72F32-0305-4FFA-8CF8-ACD52937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8575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693D5-2C06-42A1-B4B8-DD95CF13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模块一 · 约 4.5 分钟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1B146-0466-467F-A43B-CA3BDC89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6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机器学习不是写规则，是用数据定参数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C6CAC-07CA-412D-8A74-4D793DF0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95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这一块回答：为什么可以不写规则，以及这件事由哪四个零件组成。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B5321-41B0-4CA1-9755-AF51ED8E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81200"/>
            <a:ext cx="31242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2750" b="1">
                <a:solidFill>
                  <a:srgbClr val="EAF1F8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2750" b="1">
                <a:solidFill>
                  <a:srgbClr val="EAF1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0" b="1">
                <a:solidFill>
                  <a:srgbClr val="EAF1F8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921126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B7D116-6BE8-4A90-B639-9EE8D1B6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机器学习：把「写规则」换成「喂例子」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A8C98-0092-438F-9D39-6F3C560E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2F761-E59C-4E56-AFEB-469BE6EC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27A2C-88A8-4255-A814-12749672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29590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41A2C-44C0-473D-B283-A7FFA6A8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1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传统编程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9BBB4-965F-4903-A8D5-DB2E37AE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0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人写规则，程序执行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EB6EE-9AA7-4EED-99D1-222C8484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57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所有边界情况都要提前想到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57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规则要一条条写、一条条改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F9596-80CF-4674-B493-5EAB5A17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00200"/>
            <a:ext cx="529590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CC4F8-7ABF-4D85-8336-5D28324D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716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机器学习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907A47-8D16-4ABE-A7E1-B1CCA6CA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0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人给例子，程序定参数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507EFE-DAAF-462E-91FC-D8930E1D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955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57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准备一批「输入 + 正确答案」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57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让程序自己把参数调到合适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8B4ECD-A21F-41A5-86A2-E5A92102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519363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8747D8-C955-4E3F-9CB5-7FF1A797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236696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初始化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3F2EF-4B00-4EB0-8E15-15681CC0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2290763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参数随机，几乎没有本领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8E7069-02D5-4C5F-89F6-8216353F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263" y="4000500"/>
            <a:ext cx="171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DB9D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996D24-EC40-4371-A28F-4296E6D4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390900"/>
            <a:ext cx="2519363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30F7FF-1B13-4436-A64E-3A4D8B08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3600450"/>
            <a:ext cx="236696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取样本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2C51D-DE4B-49D5-9D63-3CD5A41C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4114800"/>
            <a:ext cx="2290763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一批输入 + 正确答案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B53261-1CFC-4963-8E3D-7948C02F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000500"/>
            <a:ext cx="171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DB9D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4E35E3-0219-45C0-B1C8-452BDB5C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390900"/>
            <a:ext cx="2519363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5521FB-116C-4A62-879E-A907E1CB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600450"/>
            <a:ext cx="236696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调参数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52521F-D2EA-4216-88CB-89F321EE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14800"/>
            <a:ext cx="2290763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让这一批上的表现变好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46409C-0B2A-41BC-AA74-99A17587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288" y="4000500"/>
            <a:ext cx="171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DB9D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F92A1C-0F4B-4EBF-8A5F-96AD7101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6838" y="3390900"/>
            <a:ext cx="2519363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A04831-E54C-4CCA-BB1C-1C27B7A6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3600450"/>
            <a:ext cx="236696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重复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3B8553-F6B2-48B3-8B81-1E537EF8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4114800"/>
            <a:ext cx="2290763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直到表现令人满意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D13AEB-77DE-4600-AEC6-015758EF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FEDF8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4D9145-0CEE-4C05-80B4-E69C7A22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93370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1">
                <a:solidFill>
                  <a:srgbClr val="93370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93370D"/>
                </a:solidFill>
                <a:latin typeface="Hiragino Sans GB"/>
                <a:ea typeface="Hiragino Sans GB"/>
                <a:cs typeface="Hiragino Sans GB"/>
              </a:rPr>
              <a:t>我们没有写判断规则，而是写了一个「会自己定参数」的程序——这就是用数据编程。</a:t>
            </a:r>
          </a:p>
        </p:txBody>
      </p:sp>
    </p:spTree>
    <p:extLst>
      <p:ext uri="{BB962C8B-B14F-4D97-AF65-F5344CB8AC3E}">
        <p14:creationId xmlns:p14="http://schemas.microsoft.com/office/powerpoint/2010/main" val="508500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F53E33-37CE-4FE2-B6FB-082F3076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无论什么机器学习问题，都绕不开这四个组件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C79B0-5D11-484C-9A7D-BE40EFFE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72B87-96B8-49CA-A0FF-1E74875B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B94B0-D0AC-40ED-B968-6AF5D5CC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519363" cy="1676400"/>
          </a:xfrm>
          <a:prstGeom xmlns:a="http://schemas.openxmlformats.org/drawingml/2006/main" prst="roundRect">
            <a:avLst>
              <a:gd name="adj" fmla="val 7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F0901-C180-4529-98D8-F930EDE4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236696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数据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E47D3-D6D7-49BA-A75F-5711CA7F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2290763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用来学习的例子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B9D21-B3B8-4323-B54D-ED079BCD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263" y="2543175"/>
            <a:ext cx="171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DB9D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3D1A2-E89C-4DB6-B43D-1F2FFACF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1809750"/>
            <a:ext cx="2519363" cy="1676400"/>
          </a:xfrm>
          <a:prstGeom xmlns:a="http://schemas.openxmlformats.org/drawingml/2006/main" prst="roundRect">
            <a:avLst>
              <a:gd name="adj" fmla="val 7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FDED9-148A-499D-AE38-BF94BF35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019300"/>
            <a:ext cx="236696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48A31-81A5-4468-B49C-47525598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533650"/>
            <a:ext cx="2290763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把输入变成输出的函数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0EEAA-EB5C-43B9-A713-61E2D67B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543175"/>
            <a:ext cx="171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DB9D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3CC8FC-EB3D-4D7A-AC23-40BD7ED0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809750"/>
            <a:ext cx="2519363" cy="1676400"/>
          </a:xfrm>
          <a:prstGeom xmlns:a="http://schemas.openxmlformats.org/drawingml/2006/main" prst="roundRect">
            <a:avLst>
              <a:gd name="adj" fmla="val 7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197956-C116-4CA8-BC2E-CFCB5382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19300"/>
            <a:ext cx="236696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目标函数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D0F12B-B385-42AF-A2B1-08916B96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33650"/>
            <a:ext cx="2290763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把好坏压成一个数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799390-8D60-4BB2-B910-5626D07E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288" y="2543175"/>
            <a:ext cx="171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DB9D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3DA561-6DA3-4D75-8C51-13E86D6D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6838" y="1809750"/>
            <a:ext cx="2519363" cy="1676400"/>
          </a:xfrm>
          <a:prstGeom xmlns:a="http://schemas.openxmlformats.org/drawingml/2006/main" prst="roundRect">
            <a:avLst>
              <a:gd name="adj" fmla="val 7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39194F-486B-4FDB-9E4F-9F2F437F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2019300"/>
            <a:ext cx="236696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优化算法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91CA84-BBCC-4FB3-938C-2A3AE347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2533650"/>
            <a:ext cx="2290763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搜索让这个数变小的参数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47D53E-823D-4AD0-A1FE-7C1B71B8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8204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59DD11-1E6D-436A-A936-64A9F8A6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四样缺一不可：没有数据就没有经验，没有模型就没有预测，没有目标函数就不知道好坏，没有优化算法就只能靠手猜。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6DFBD9-93FD-4135-BD19-27419025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6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目标函数习惯上取「越小越好」，这时候也叫损失函数。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6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回归常用平方误差，分类常用错误率或交叉熵——完整对照见讲义。</a:t>
            </a:r>
          </a:p>
        </p:txBody>
      </p:sp>
    </p:spTree>
    <p:extLst>
      <p:ext uri="{BB962C8B-B14F-4D97-AF65-F5344CB8AC3E}">
        <p14:creationId xmlns:p14="http://schemas.microsoft.com/office/powerpoint/2010/main" val="1546106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5B1C8C-3F22-489E-A53D-627D6FDE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一行数据就是一个样本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D7FA1-9FCE-4E16-BF3A-9F77272F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EB869-9E19-421F-8289-FC8AED29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06A3B6-25FA-4C6B-B7C7-9A5346CEEE29}"/>
              </a:ext>
            </a:extLst>
          </p:cNvPr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590550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952750"/>
                <a:gridCol w="2952750"/>
              </a:tblGrid>
              <a:tr h="5905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85E8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PWM 指令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85E8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实测速度 mm/s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1000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30.4</a:t>
                      </a:r>
                    </a:p>
                  </a:txBody>
                  <a:tcPr marL="91440" marR="91440" marT="45720" marB="45720" anchor="ctr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1176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94.5</a:t>
                      </a:r>
                    </a:p>
                  </a:txBody>
                  <a:tcPr marL="91440" marR="91440" marT="45720" marB="45720" anchor="ctr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1353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178.0</a:t>
                      </a:r>
                    </a:p>
                  </a:txBody>
                  <a:tcPr marL="91440" marR="91440" marT="45720" marB="45720" anchor="ctr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1529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219.6</a:t>
                      </a:r>
                    </a:p>
                  </a:txBody>
                  <a:tcPr marL="91440" marR="91440" marT="45720" marB="45720" anchor="ctr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1706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320.5</a:t>
                      </a:r>
                    </a:p>
                  </a:txBody>
                  <a:tcPr marL="91440" marR="91440" marT="45720" marB="45720" anchor="ctr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1882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388.5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3929D-BAAA-416E-BE8D-3D192A43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09750"/>
            <a:ext cx="44958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marL="279400" indent="-152400">
              <a:lnSpc>
                <a:spcPct val="125000"/>
              </a:lnSpc>
              <a:spcAft>
                <a:spcPts val="2600"/>
              </a:spcAft>
              <a:buNone/>
              <a:defRPr sz="195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一行 = 一个样本，一次实验</a:t>
            </a:r>
          </a:p>
          <a:p xmlns:a="http://schemas.openxmlformats.org/drawingml/2006/main">
            <a:pPr marL="279400" indent="-152400">
              <a:lnSpc>
                <a:spcPct val="125000"/>
              </a:lnSpc>
              <a:spcAft>
                <a:spcPts val="2600"/>
              </a:spcAft>
              <a:buNone/>
              <a:defRPr sz="195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输入那一列 = 特征 x</a:t>
            </a:r>
          </a:p>
          <a:p xmlns:a="http://schemas.openxmlformats.org/drawingml/2006/main">
            <a:pPr marL="279400" indent="-152400">
              <a:lnSpc>
                <a:spcPct val="125000"/>
              </a:lnSpc>
              <a:spcAft>
                <a:spcPts val="2600"/>
              </a:spcAft>
              <a:buNone/>
              <a:defRPr sz="195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要预测的那一列 = 标签 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25F17-5E5A-4CF6-872D-68D3065D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76750"/>
            <a:ext cx="4495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共 18 个样本，表里每 3 个取一行。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数据要多，也要对：来源有偏、类别不均衡，模型会把偏差一起学进去。</a:t>
            </a:r>
          </a:p>
        </p:txBody>
      </p:sp>
    </p:spTree>
    <p:extLst>
      <p:ext uri="{BB962C8B-B14F-4D97-AF65-F5344CB8AC3E}">
        <p14:creationId xmlns:p14="http://schemas.microsoft.com/office/powerpoint/2010/main" val="20369266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2B8A2-99CE-48AF-A1AF-798ECFAC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目标函数：用一个数比较两条直线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1A3C3-642D-4663-BE6E-6CBC0362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7FB32-B56C-4328-959C-137F1546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43C95-70ED-4F27-914A-FAB32C87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8100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9134E-0659-4366-A2E7-FCFA6A37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358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8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MSE = 平均(预测 − 实测)²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D8BE0-B1BB-4FCE-9D05-AE06B77C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3810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marL="279400" indent="-152400">
              <a:lnSpc>
                <a:spcPct val="125000"/>
              </a:lnSpc>
              <a:spcAft>
                <a:spcPts val="1600"/>
              </a:spcAft>
              <a:buNone/>
              <a:defRPr sz="180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每段竖线就是一个误差</a:t>
            </a:r>
          </a:p>
          <a:p xmlns:a="http://schemas.openxmlformats.org/drawingml/2006/main">
            <a:pPr marL="279400" indent="-152400">
              <a:lnSpc>
                <a:spcPct val="125000"/>
              </a:lnSpc>
              <a:spcAft>
                <a:spcPts val="1600"/>
              </a:spcAft>
              <a:buNone/>
              <a:defRPr sz="180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平方：不让正负抵消</a:t>
            </a:r>
          </a:p>
          <a:p xmlns:a="http://schemas.openxmlformats.org/drawingml/2006/main">
            <a:pPr marL="279400" indent="-152400">
              <a:lnSpc>
                <a:spcPct val="125000"/>
              </a:lnSpc>
              <a:spcAft>
                <a:spcPts val="1600"/>
              </a:spcAft>
              <a:buNone/>
              <a:defRPr sz="180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取平均：与样本数无关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149ED-6236-478C-9E06-C219701D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8100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FEDF8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87052-8761-4DC0-8051-87448E8B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3276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93370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00" b="0">
                <a:solidFill>
                  <a:srgbClr val="93370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93370D"/>
                </a:solidFill>
                <a:latin typeface="Hiragino Sans GB"/>
                <a:ea typeface="Hiragino Sans GB"/>
                <a:cs typeface="Hiragino Sans GB"/>
              </a:rPr>
              <a:t>举手投票：A、B 哪一条线的 MSE 更小？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1B3FC-397B-4BC1-8F3F-24AB103F20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c663adc9cf4405"/>
          <a:stretch xmlns:a="http://schemas.openxmlformats.org/drawingml/2006/main"/>
        </p:blipFill>
        <p:spPr>
          <a:xfrm xmlns:a="http://schemas.openxmlformats.org/drawingml/2006/main">
            <a:off x="5105438" y="1676400"/>
            <a:ext cx="6400725" cy="35337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19672-9193-4AD2-A563-6A03AF96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391150"/>
            <a:ext cx="6629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目标函数习惯取越小越好，这时候也叫损失函数。</a:t>
            </a:r>
          </a:p>
        </p:txBody>
      </p:sp>
    </p:spTree>
    <p:extLst>
      <p:ext uri="{BB962C8B-B14F-4D97-AF65-F5344CB8AC3E}">
        <p14:creationId xmlns:p14="http://schemas.microsoft.com/office/powerpoint/2010/main" val="20573273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EF82E-0100-4325-BEBB-48A55AE0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优化算法：沿着让目标变小的方向调参数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2BA98-229D-49CA-8D4A-BDCDD7CB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78378-38E0-46CC-AB6F-284FF792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7701A-C4DC-4498-8363-5FA81E6B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46634-5424-4917-9DAB-5C54CF6C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梯度下降：看每个参数小幅变动时损失往哪动，然后朝损失变小的方向走一步。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B472B-846C-4929-A210-7D972E0151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c528311b646da"/>
          <a:stretch xmlns:a="http://schemas.openxmlformats.org/drawingml/2006/main"/>
        </p:blipFill>
        <p:spPr>
          <a:xfrm xmlns:a="http://schemas.openxmlformats.org/drawingml/2006/main">
            <a:off x="2643027" y="2495550"/>
            <a:ext cx="6905947" cy="3143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760F1F-3D18-456E-8A93-3BB7E68C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参数是你的位置，损失是海拔，梯度是坡向，学习率是每步跨多大。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（示意：本页固定 b、只调 w，且只讲直觉；学习率太大越跳越远，太小半天挪不动，推导见讲义）</a:t>
            </a:r>
          </a:p>
        </p:txBody>
      </p:sp>
    </p:spTree>
    <p:extLst>
      <p:ext uri="{BB962C8B-B14F-4D97-AF65-F5344CB8AC3E}">
        <p14:creationId xmlns:p14="http://schemas.microsoft.com/office/powerpoint/2010/main" val="1305039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5FFA31-3AA9-49B0-9756-B2A35CA6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模块一小结：不写规则，用数据定参数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3C562-48C4-4294-9039-9E2AA139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6BDE5-4118-493D-96ED-9E23536B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E83F6-2324-41C1-9BCA-CE5AD312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8204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075EE-96AF-416F-A12A-4024A601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16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这一块讲了什么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2E156-B142-4812-B8C5-9EF9935D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71650"/>
            <a:ext cx="771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机器学习不写规则，而是用数据把模型的参数定下来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56521-1473-4128-AB42-78562ADD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8204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54D7C-4D99-4E47-B520-EECAA35D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为什么重要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C4ACF-9F8E-4D8D-B14C-055A0498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771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数据、模型、目标函数、优化算法是后面所有内容的共同骨架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915BA-6ED7-4C8F-9353-0765B27D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3D6E61-F6E2-431E-B84C-F0555A46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和下一块的关系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00F948-2749-405A-90C7-0CEDFAC8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90950"/>
            <a:ext cx="771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知道了这四个零件，还要知道问题属于哪一类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BDA315-F518-4B02-9CC8-A3113C2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4B92C-DB76-482F-96D1-14990355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下一块：这些零件要解决的问题，可以归成哪几类？</a:t>
            </a:r>
          </a:p>
        </p:txBody>
      </p:sp>
    </p:spTree>
    <p:extLst>
      <p:ext uri="{BB962C8B-B14F-4D97-AF65-F5344CB8AC3E}">
        <p14:creationId xmlns:p14="http://schemas.microsoft.com/office/powerpoint/2010/main" val="10561696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573C5-504E-4A12-9F7E-D0DA11C1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72F259-8F79-4210-ABF7-BAB4CFCF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8575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DB334-C990-44EF-8D91-B27284EA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模块二 · 约 3.5 分钟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E1B0B-1A48-421B-B6B8-6FD420BA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6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有没有标签，决定问题属于哪一类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DAC85-26AD-410E-B199-D229BE75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95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这一块回答：监督、无监督、强化学习分别在什么情况下用。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1BAAA-1AA0-4FBF-9098-ABB7A812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81200"/>
            <a:ext cx="31242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2750" b="1">
                <a:solidFill>
                  <a:srgbClr val="EAF1F8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2750" b="1">
                <a:solidFill>
                  <a:srgbClr val="EAF1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0" b="1">
                <a:solidFill>
                  <a:srgbClr val="EAF1F8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775540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97346-BD4A-469C-95C5-D42AC90B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监督学习：给「输入 + 答案」，学一个映射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E5AAC-0DF3-4CFF-8004-10DD7E24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45FAB-DD29-4157-ABD7-8DB55D4C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DF70F-AC8E-427B-8BC8-DE3A3240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295900" cy="18669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0BF3D-A315-4034-A122-B58451D0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75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回归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8F0D8-3736-4ED7-8BEA-C5DDCB02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预测一个数值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BCAB7-0C62-4C5A-B23C-8701B636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98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7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例子：给 PWM 指令，预测小车速度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57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输出是连续的数，可以差一点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37415-BCE1-450E-B30F-4ECB2493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00200"/>
            <a:ext cx="5295900" cy="18669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6B995B-3603-49DB-BAAD-165C943C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90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75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分类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AE262-78D6-49E3-A58F-C9A238BF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预测一个类别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9110DA-D998-40A5-97A9-E76C1106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098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7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例子：给传感器读数，判断该不该转向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57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输出是有限的几个类别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60317-9873-49E1-B9F0-B00AFFD2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8204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16B4D-CA38-4B6A-B676-3FAF5276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监督学习三步：① 收集带答案的例子 ② 用它们训练出模型 ③ 拿模型去预测没见过的输入。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39511-250C-47BE-A421-68ADF6C4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7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回归和分类的差别不在模型，而在输出：一个输出数值，一个输出类别。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57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监督学习里还有标记、搜索、推荐、序列学习等形态，完成清单见讲义。</a:t>
            </a:r>
          </a:p>
        </p:txBody>
      </p:sp>
    </p:spTree>
    <p:extLst>
      <p:ext uri="{BB962C8B-B14F-4D97-AF65-F5344CB8AC3E}">
        <p14:creationId xmlns:p14="http://schemas.microsoft.com/office/powerpoint/2010/main" val="15749795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10691-D2FB-4B67-91DD-4FCDFF27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没有标准答案时：找结构，或者边做边学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B2340-0CDC-456B-9591-8E93D130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A9575-35EB-4E5D-BFE7-671F94A1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0A99B-7F6F-41B7-9018-D390FCBF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295900" cy="20574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2AD0C-83FE-46D3-9E2C-42EBA5A3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75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无监督学习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C286D-EEB6-44AB-8A9E-2EC97285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0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没有标签，从数据里找结构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B1DE0-930B-4C45-92FF-47C8B7E6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98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7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例子：一堆传感器读数，没有标签，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57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自动把它们分成几组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B0C55-73BE-4275-B9C3-EDE5B03D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00200"/>
            <a:ext cx="5295900" cy="20574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5927F-5E3E-42D7-8137-21F8506B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90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75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强化学习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B616E8-1E6C-481C-BAF3-547E1EC8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0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和环境互动，靠奖励改进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C79C97-A078-4171-BB27-431A7CED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098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7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例子：让小车自己试错走迷宫，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57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撞墙扣分、到达终点加分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8D5AE-2832-4742-967E-87A89F0C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08204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DBD8B1-ED05-4765-A66D-E50B0118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分界线是「数据有没有标准答案」；再往前一步，是「要不要自己动手去影响环境」。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E1C2FD-0BF2-48E7-86F4-B389F8DB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7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无监督不是「没有目标」：它照样要有目标函数，只是目标变成「把结构找出来」，而不是「逼近标准答案」。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57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强化学习拿到的是奖励，不告诉你每一步该怎么做——所以它还要解决「哪一步的功劳」这个问题。</a:t>
            </a:r>
          </a:p>
        </p:txBody>
      </p:sp>
    </p:spTree>
    <p:extLst>
      <p:ext uri="{BB962C8B-B14F-4D97-AF65-F5344CB8AC3E}">
        <p14:creationId xmlns:p14="http://schemas.microsoft.com/office/powerpoint/2010/main" val="12740254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93E426-8F62-4703-AFC6-B26E401F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练一练：这三个任务分别属于哪一类？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2291B-B0C3-4934-8448-291791AD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C36D0-3AA5-470D-8669-B231A1DC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2884F-5215-4362-9FC3-19769C0A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8204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EF26C-9040-458F-8A04-FF5BF768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71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D7FF6-09C6-49AE-AF88-6146DC7D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716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6984C-4B52-4410-BDED-DD9C3958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771650"/>
            <a:ext cx="962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0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给 PWM 指令，预测小车能跑多快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66226-BF8E-4383-9376-21E8253D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8204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91B64-F453-4AE9-9030-0F6938B8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813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00E7F-E1E9-4403-BE4C-84A2F622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81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936C9A-9FBE-40B3-AD7C-8BEB4E5A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81300"/>
            <a:ext cx="962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0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一批传感器读数，没有标签，自动分成几组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546BC6-D101-4D31-B7E6-D474EE70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9AA8B8-7EBA-41A7-80B0-D6ECC900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909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B78943-8F27-49A7-9D10-9609D68C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909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810134-0F47-4D43-BDE2-716D46ED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90950"/>
            <a:ext cx="962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0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让小车自己试错走迷宫，撞墙扣分、到达加分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153897-7B99-4B2B-BAF7-E4006BE2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FEDF8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05268C-7B23-41E9-B867-7665D134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93370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93370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93370D"/>
                </a:solidFill>
                <a:latin typeface="Hiragino Sans GB"/>
                <a:ea typeface="Hiragino Sans GB"/>
                <a:cs typeface="Hiragino Sans GB"/>
              </a:rPr>
              <a:t>举手：它们分别是监督、无监督还是强化学习？先说出你的判断，再听我讲。</a:t>
            </a:r>
          </a:p>
        </p:txBody>
      </p:sp>
    </p:spTree>
    <p:extLst>
      <p:ext uri="{BB962C8B-B14F-4D97-AF65-F5344CB8AC3E}">
        <p14:creationId xmlns:p14="http://schemas.microsoft.com/office/powerpoint/2010/main" val="4730053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892F3E-D729-488C-8BB7-F96DDA5E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模块二小结：先给任务贴类型标签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D979C-23D3-4315-B844-BEC7DF64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61A10A-D72E-483F-A6D3-3A44758B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F0C1A-EC8D-41A7-B51B-34C1EAF2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8204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631E8-5559-4D55-9BB6-B8816CAB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16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这一块讲了什么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0FA31-52F8-4BDB-9CA5-27A4306A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71650"/>
            <a:ext cx="771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有标签是监督学习，没标签是无监督，要互动是强化学习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7194A-E0A9-48CD-866A-1C2A46DD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8204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76EEE-7751-4133-A42C-4978DD62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为什么重要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1AAF1-A237-44AE-9B1A-E14806EE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771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任务类型决定了能选什么方法、该看什么指标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CCA2E-17AE-48C7-8715-6FA37622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04339-D17C-43CD-B6E6-4731564B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和下一块的关系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908BBC-C02B-4521-A3D9-8FE0CF1D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90950"/>
            <a:ext cx="771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选对了类型，还要能判断模型是不是真的学会了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B655E-27B0-48CC-A103-1DEA16AA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675F0C-4C23-42AC-B63A-1EEC99DB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下一块：训练得好，算不算真的学会了？</a:t>
            </a:r>
          </a:p>
        </p:txBody>
      </p:sp>
    </p:spTree>
    <p:extLst>
      <p:ext uri="{BB962C8B-B14F-4D97-AF65-F5344CB8AC3E}">
        <p14:creationId xmlns:p14="http://schemas.microsoft.com/office/powerpoint/2010/main" val="14852041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3C84B-C1B3-48EB-A6A5-99453899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CDDBE-2157-44CD-9E6B-A7F1EAAB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8575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4FA36-E672-4D40-B422-B87A749A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模块三 · 约 4.5 分钟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4BB11-D3FA-4A90-93D6-D60ACF50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6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训练得好，不等于新的数据上也好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BA24A-384A-4C36-AC5A-8A5B3526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95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这一块回答：怎么判断模型是学到了规律，还是把答案背下来了。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9166D-A83A-491B-9D75-B02BFFEF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81200"/>
            <a:ext cx="31242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2750" b="1">
                <a:solidFill>
                  <a:srgbClr val="EAF1F8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2750" b="1">
                <a:solidFill>
                  <a:srgbClr val="EAF1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0" b="1">
                <a:solidFill>
                  <a:srgbClr val="EAF1F8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976535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3AF3B-AFE0-4846-926D-A4AEBFA2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训练集上表现好，不等于测试集上表现好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8CED4-EA06-4486-BC03-D7848628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E27B5-917E-40B9-8636-8E8F743B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69EA4-64CF-4BEC-88F3-D80918E6AB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f707928894528"/>
          <a:stretch xmlns:a="http://schemas.openxmlformats.org/drawingml/2006/main"/>
        </p:blipFill>
        <p:spPr>
          <a:xfrm xmlns:a="http://schemas.openxmlformats.org/drawingml/2006/main">
            <a:off x="1814908" y="1409700"/>
            <a:ext cx="8562183" cy="3486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36E5F-40AE-4BD3-8C03-047E582A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29200"/>
            <a:ext cx="10210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marL="279400" indent="-152400">
              <a:lnSpc>
                <a:spcPct val="125000"/>
              </a:lnSpc>
              <a:spcAft>
                <a:spcPts val="1200"/>
              </a:spcAft>
              <a:buNone/>
              <a:defRPr sz="1725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欠拟合：1 次多项式太简单，训练和测试误差都偏大（0.047 / 0.086）</a:t>
            </a:r>
          </a:p>
          <a:p xmlns:a="http://schemas.openxmlformats.org/drawingml/2006/main">
            <a:pPr marL="279400" indent="-152400">
              <a:lnSpc>
                <a:spcPct val="125000"/>
              </a:lnSpc>
              <a:spcAft>
                <a:spcPts val="1200"/>
              </a:spcAft>
              <a:buNone/>
              <a:defRPr sz="1725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合适：3 次多项式，训练与测试误差都小而且接近（0.004 / 0.009）</a:t>
            </a:r>
          </a:p>
          <a:p xmlns:a="http://schemas.openxmlformats.org/drawingml/2006/main">
            <a:pPr marL="279400" indent="-152400">
              <a:lnSpc>
                <a:spcPct val="125000"/>
              </a:lnSpc>
              <a:spcAft>
                <a:spcPts val="1200"/>
              </a:spcAft>
              <a:buNone/>
              <a:defRPr sz="1725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过拟合：9 次多项式几乎贴着每个训练点，测试误差涨到 67.314</a:t>
            </a:r>
          </a:p>
        </p:txBody>
      </p:sp>
    </p:spTree>
    <p:extLst>
      <p:ext uri="{BB962C8B-B14F-4D97-AF65-F5344CB8AC3E}">
        <p14:creationId xmlns:p14="http://schemas.microsoft.com/office/powerpoint/2010/main" val="109247967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17BFE7-8FD4-41B7-886F-CC77F465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找错：这个模型的问题在哪？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F30CF-51BB-4322-98CA-E2D2AE32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B38F7-6905-4368-9FCA-3F356C3D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652444-EA32-4312-8E77-ADF9BC32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F787E-CB7C-43BE-987D-D366C6B4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85950"/>
            <a:ext cx="10210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任务：判断小车此刻需不需要转向。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1000 个样本里，950 个不需要转，只有 50 个需要。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ACAA9-3CC8-4BDA-B8D3-1B9489C3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现在有个模型，永远输出「不需要转向」。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40E1E-44B2-44D0-AC11-C7788570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8204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FEDF8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5EA9E-4E80-4204-94AB-0B64EEE9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93370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50" b="1">
                <a:solidFill>
                  <a:srgbClr val="93370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93370D"/>
                </a:solidFill>
                <a:latin typeface="Hiragino Sans GB"/>
                <a:ea typeface="Hiragino Sans GB"/>
                <a:cs typeface="Hiragino Sans GB"/>
              </a:rPr>
              <a:t>问题：它的准确率是多少？它能装到车上吗？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CDBB8-CBE8-4DE4-B427-656B61DE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先说出你的答案，再看下一页。</a:t>
            </a:r>
          </a:p>
        </p:txBody>
      </p:sp>
    </p:spTree>
    <p:extLst>
      <p:ext uri="{BB962C8B-B14F-4D97-AF65-F5344CB8AC3E}">
        <p14:creationId xmlns:p14="http://schemas.microsoft.com/office/powerpoint/2010/main" val="7566889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45CCE-928B-4480-8DB2-1000B9F9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准确率高，也可能一个该抓的都没抓住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A6CC1-20A3-4692-9CDD-91C96D16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E8DD6-E6F7-47BF-A5C2-83BA03F4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20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3B9C2-8B6C-47CF-952F-77F2FBD2C502}"/>
              </a:ext>
            </a:extLst>
          </p:cNvPr>
          <p:cNvGraphicFramePr/>
          <p:nvPr/>
        </p:nvGraphicFramePr>
        <p:xfrm>
          <a:off xmlns:a="http://schemas.openxmlformats.org/drawingml/2006/main" x="685800" y="1905000"/>
          <a:ext xmlns:a="http://schemas.openxmlformats.org/drawingml/2006/main" cx="6667500" cy="2667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34167"/>
                <a:gridCol w="2116667"/>
                <a:gridCol w="2116667"/>
              </a:tblGrid>
              <a:tr h="6286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85E8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/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85E8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实际需要转向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85E8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实际不需要</a:t>
                      </a:r>
                    </a:p>
                  </a:txBody>
                  <a:tcPr marL="91440" marR="91440" marT="45720" marB="45720" anchor="ctr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预测需要转向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</a:t>
                      </a:r>
                    </a:p>
                  </a:txBody>
                  <a:tcPr marL="91440" marR="91440" marT="45720" marB="45720" anchor="ctr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预测不需要转向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D92D2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50</a:t>
                      </a:r>
                    </a:p>
                  </a:txBody>
                  <a:tcPr marL="91440" marR="91440" marT="45720" marB="45720" anchor="ctr">
                    <a:solidFill>
                      <a:srgbClr val="FE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950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B7138-D0B3-4876-A7FC-96C09C29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05000"/>
            <a:ext cx="3733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marL="279400" indent="-152400">
              <a:lnSpc>
                <a:spcPct val="125000"/>
              </a:lnSpc>
              <a:spcAft>
                <a:spcPts val="2200"/>
              </a:spcAft>
              <a:buNone/>
              <a:defRPr sz="195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准确率 95%</a:t>
            </a:r>
          </a:p>
          <a:p xmlns:a="http://schemas.openxmlformats.org/drawingml/2006/main">
            <a:pPr marL="279400" indent="-152400">
              <a:lnSpc>
                <a:spcPct val="125000"/>
              </a:lnSpc>
              <a:spcAft>
                <a:spcPts val="2200"/>
              </a:spcAft>
              <a:buNone/>
              <a:defRPr sz="195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召回率 0 / 50 = 0%</a:t>
            </a:r>
          </a:p>
          <a:p xmlns:a="http://schemas.openxmlformats.org/drawingml/2006/main">
            <a:pPr marL="279400" indent="-152400">
              <a:lnSpc>
                <a:spcPct val="125000"/>
              </a:lnSpc>
              <a:spcAft>
                <a:spcPts val="2200"/>
              </a:spcAft>
              <a:buNone/>
              <a:defRPr sz="195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精确率 0 / 0：没有定义</a:t>
            </a:r>
          </a:p>
          <a:p xmlns:a="http://schemas.openxmlformats.org/drawingml/2006/main">
            <a:pPr marL="279400" indent="-152400">
              <a:lnSpc>
                <a:spcPct val="125000"/>
              </a:lnSpc>
              <a:spcAft>
                <a:spcPts val="2200"/>
              </a:spcAft>
              <a:buNone/>
              <a:defRPr sz="195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50 次该转都没抓住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8DE9E-9D51-4243-8082-21008FE4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D3C451-1B86-4162-B050-1FE6C851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912018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9120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912018"/>
                </a:solidFill>
                <a:latin typeface="Hiragino Sans GB"/>
                <a:ea typeface="Hiragino Sans GB"/>
                <a:cs typeface="Hiragino Sans GB"/>
              </a:rPr>
              <a:t>在这个任务里，漏报比误报贵：宁可多转一次，也不能漏掉一次。</a:t>
            </a:r>
          </a:p>
        </p:txBody>
      </p:sp>
    </p:spTree>
    <p:extLst>
      <p:ext uri="{BB962C8B-B14F-4D97-AF65-F5344CB8AC3E}">
        <p14:creationId xmlns:p14="http://schemas.microsoft.com/office/powerpoint/2010/main" val="199689195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DE268-193F-42A5-95B3-52679EB5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模块三小结：指标好看，不等于能上车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2B196-630C-46D1-89FB-1F51E32E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CD777-802D-48CD-BEF1-56845116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614E2-3817-403C-9F4D-4BF62B81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8204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1463E-85D5-4FA1-BAF3-28AA6DAC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16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这一块讲了什么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1CBE1-ABE2-4C18-977C-65A73521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71650"/>
            <a:ext cx="771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训练误差小不等于泛化好；评价指标要按任务选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C8CF5-974B-4800-9A08-7DDDFB65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8204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FE8FC-CDAA-4CC9-AB62-896011E6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为什么重要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A8701-A402-45F0-BEA8-2692DD3B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771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实验室里表现好的模型，换到车上可能完全不能用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3C04A-3F82-4513-98CD-867F1F81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38BD62-BACA-4824-84F4-E542DD75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和整条链的关系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5DE4D-CB46-4EC9-ABCE-A0967945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90950"/>
            <a:ext cx="771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用数据编程 → 四个组件 → 问题类型 → 泛化与评价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60E3EE-6983-4CA7-8056-2384C98C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2612E-40A2-491E-B26D-19EDEFD6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最后一步：回到开场那三个问题，把整条链串起来。</a:t>
            </a:r>
          </a:p>
        </p:txBody>
      </p:sp>
    </p:spTree>
    <p:extLst>
      <p:ext uri="{BB962C8B-B14F-4D97-AF65-F5344CB8AC3E}">
        <p14:creationId xmlns:p14="http://schemas.microsoft.com/office/powerpoint/2010/main" val="148175001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EEC6C0-F0A3-4178-8F17-D44557A2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开场三个问题的答案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A9509-83DE-4260-9844-B061162C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EB2EB-CD9B-4E64-9418-474A2383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FAF48-8156-40DB-A291-F83511D3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B740C-1467-4F70-B371-69EF61D1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725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为什么可以不写规则？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83AD5-2CC5-480F-BFB9-562D9029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76400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规则写不全，但例子要多少有多少：用数据把参数定下来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E0628B-DB1D-46FD-AB09-E5A58FF0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08204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1C26D-91E4-4F80-A445-748D8886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725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常见的问题类型有哪些？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2842B-C9B5-45A4-BE76-8388E506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86050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监督学习（回归、分类）、无监督学习、强化学习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A6530B-9302-4DC8-8815-B0CF000C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8204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3CAA4-83A8-45F9-BDE1-5428528F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725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怎么知道真的学会了？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540C7E-E2D3-44FB-A9D5-73D7D03B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95700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在没见过的数据上看；指标好看不等于模型有用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0C98F0-8A82-44F3-BD1B-BBD85EAC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B0761D-6F15-4021-A52C-7CBCA4F7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下一步：用自己的话复述四个关键组件；给身边三个任务各贴一个类型标签；有兴趣的话，用讲义里的数据和代码跑一遍最小二乘拟合与梯度下降。</a:t>
            </a:r>
          </a:p>
        </p:txBody>
      </p:sp>
    </p:spTree>
    <p:extLst>
      <p:ext uri="{BB962C8B-B14F-4D97-AF65-F5344CB8AC3E}">
        <p14:creationId xmlns:p14="http://schemas.microsoft.com/office/powerpoint/2010/main" val="8105380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2026-10-07T06:19:32.8740000Z</dcterms:created>
  <dcterms:modified xsi:type="dcterms:W3CDTF">2026-10-07T06:19:32.8740000Z</dcterms:modified>
</coreProperties>
</file>